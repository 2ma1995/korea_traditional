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05037300124547" /><Relationship Type="http://schemas.openxmlformats.org/officeDocument/2006/relationships/extended-properties" Target="/docProps/app.xml" Id="Rda07f998f2814421" /><Relationship Type="http://schemas.openxmlformats.org/officeDocument/2006/relationships/officeDocument" Target="/ppt/presentation.xml" Id="Rdf30d8d7083d4308" /></Relationships>
</file>

<file path=ppt/presentation.xml><?xml version="1.0" encoding="utf-8"?>
<p:presentation xmlns:p="http://schemas.openxmlformats.org/presentationml/2006/main">
  <p:sldMasterIdLst>
    <p:sldMasterId xmlns:r="http://schemas.openxmlformats.org/officeDocument/2006/relationships" id="2147483648" r:id="R39d5fa92ed1e4ab0"/>
  </p:sldMasterIdLst>
  <p:notesMasterIdLst>
    <p:notesMasterId xmlns:r="http://schemas.openxmlformats.org/officeDocument/2006/relationships" r:id="Rc2818f366d8e473e"/>
  </p:notesMasterIdLst>
  <p:sldIdLst>
    <p:sldId xmlns:r="http://schemas.openxmlformats.org/officeDocument/2006/relationships" id="256" r:id="R9fa94c9c061d46e4"/>
    <p:sldId xmlns:r="http://schemas.openxmlformats.org/officeDocument/2006/relationships" id="257" r:id="R8f778eb713764817"/>
    <p:sldId xmlns:r="http://schemas.openxmlformats.org/officeDocument/2006/relationships" id="258" r:id="R26844f392f374502"/>
    <p:sldId xmlns:r="http://schemas.openxmlformats.org/officeDocument/2006/relationships" id="259" r:id="R8f1c3001fbbb49f5"/>
    <p:sldId xmlns:r="http://schemas.openxmlformats.org/officeDocument/2006/relationships" id="260" r:id="R3b639d2279cb4724"/>
    <p:sldId xmlns:r="http://schemas.openxmlformats.org/officeDocument/2006/relationships" id="261" r:id="R20667af730b14fda"/>
    <p:sldId xmlns:r="http://schemas.openxmlformats.org/officeDocument/2006/relationships" id="262" r:id="R8cd5719b281947a8"/>
    <p:sldId xmlns:r="http://schemas.openxmlformats.org/officeDocument/2006/relationships" id="263" r:id="Rd4f7b11e294044dc"/>
    <p:sldId xmlns:r="http://schemas.openxmlformats.org/officeDocument/2006/relationships" id="264" r:id="R64f1d74fade34ec1"/>
    <p:sldId xmlns:r="http://schemas.openxmlformats.org/officeDocument/2006/relationships" id="265" r:id="R5a7b54b8921a46c4"/>
    <p:sldId xmlns:r="http://schemas.openxmlformats.org/officeDocument/2006/relationships" id="266" r:id="Ra6176e35f4bf40e1"/>
    <p:sldId xmlns:r="http://schemas.openxmlformats.org/officeDocument/2006/relationships" id="267" r:id="Rd51b39d2381d454a"/>
    <p:sldId xmlns:r="http://schemas.openxmlformats.org/officeDocument/2006/relationships" id="268" r:id="R5b7def3decff437e"/>
    <p:sldId xmlns:r="http://schemas.openxmlformats.org/officeDocument/2006/relationships" id="269" r:id="R5de586f6d7e14f87"/>
    <p:sldId xmlns:r="http://schemas.openxmlformats.org/officeDocument/2006/relationships" id="270" r:id="Rf1f301c215534027"/>
    <p:sldId xmlns:r="http://schemas.openxmlformats.org/officeDocument/2006/relationships" id="271" r:id="R270291dd185c417f"/>
    <p:sldId xmlns:r="http://schemas.openxmlformats.org/officeDocument/2006/relationships" id="272" r:id="R9d1a7de230524a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9fc98034164a3a" /><Relationship Type="http://schemas.openxmlformats.org/officeDocument/2006/relationships/slideMaster" Target="/ppt/slideMasters/slideMaster1.xml" Id="R39d5fa92ed1e4ab0" /><Relationship Type="http://schemas.openxmlformats.org/officeDocument/2006/relationships/notesMaster" Target="/ppt/notesMasters/notesMaster1.xml" Id="Rc2818f366d8e473e" /><Relationship Type="http://schemas.openxmlformats.org/officeDocument/2006/relationships/presProps" Target="/ppt/presProps.xml" Id="Rd47848ecd2ce44c1" /><Relationship Type="http://schemas.openxmlformats.org/officeDocument/2006/relationships/tableStyles" Target="/ppt/tableStyles.xml" Id="R762f643029c44427" /><Relationship Type="http://schemas.openxmlformats.org/officeDocument/2006/relationships/slide" Target="/ppt/slides/slide1.xml" Id="R9fa94c9c061d46e4" /><Relationship Type="http://schemas.openxmlformats.org/officeDocument/2006/relationships/slide" Target="/ppt/slides/slide2.xml" Id="R8f778eb713764817" /><Relationship Type="http://schemas.openxmlformats.org/officeDocument/2006/relationships/slide" Target="/ppt/slides/slide3.xml" Id="R26844f392f374502" /><Relationship Type="http://schemas.openxmlformats.org/officeDocument/2006/relationships/slide" Target="/ppt/slides/slide4.xml" Id="R8f1c3001fbbb49f5" /><Relationship Type="http://schemas.openxmlformats.org/officeDocument/2006/relationships/slide" Target="/ppt/slides/slide5.xml" Id="R3b639d2279cb4724" /><Relationship Type="http://schemas.openxmlformats.org/officeDocument/2006/relationships/slide" Target="/ppt/slides/slide6.xml" Id="R20667af730b14fda" /><Relationship Type="http://schemas.openxmlformats.org/officeDocument/2006/relationships/slide" Target="/ppt/slides/slide7.xml" Id="R8cd5719b281947a8" /><Relationship Type="http://schemas.openxmlformats.org/officeDocument/2006/relationships/slide" Target="/ppt/slides/slide8.xml" Id="Rd4f7b11e294044dc" /><Relationship Type="http://schemas.openxmlformats.org/officeDocument/2006/relationships/slide" Target="/ppt/slides/slide9.xml" Id="R64f1d74fade34ec1" /><Relationship Type="http://schemas.openxmlformats.org/officeDocument/2006/relationships/slide" Target="/ppt/slides/slide10.xml" Id="R5a7b54b8921a46c4" /><Relationship Type="http://schemas.openxmlformats.org/officeDocument/2006/relationships/slide" Target="/ppt/slides/slide11.xml" Id="Ra6176e35f4bf40e1" /><Relationship Type="http://schemas.openxmlformats.org/officeDocument/2006/relationships/slide" Target="/ppt/slides/slide12.xml" Id="Rd51b39d2381d454a" /><Relationship Type="http://schemas.openxmlformats.org/officeDocument/2006/relationships/slide" Target="/ppt/slides/slide13.xml" Id="R5b7def3decff437e" /><Relationship Type="http://schemas.openxmlformats.org/officeDocument/2006/relationships/slide" Target="/ppt/slides/slide14.xml" Id="R5de586f6d7e14f87" /><Relationship Type="http://schemas.openxmlformats.org/officeDocument/2006/relationships/slide" Target="/ppt/slides/slide15.xml" Id="Rf1f301c215534027" /><Relationship Type="http://schemas.openxmlformats.org/officeDocument/2006/relationships/slide" Target="/ppt/slides/slide16.xml" Id="R270291dd185c417f" /><Relationship Type="http://schemas.openxmlformats.org/officeDocument/2006/relationships/slide" Target="/ppt/slides/slide17.xml" Id="R9d1a7de230524a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ec3d6e09314b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4c9ff870324fe9" /><Relationship Type="http://schemas.openxmlformats.org/officeDocument/2006/relationships/notesMaster" Target="/ppt/notesMasters/notesMaster1.xml" Id="R1afb885f7cdd41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be1fa4caee4887" /><Relationship Type="http://schemas.openxmlformats.org/officeDocument/2006/relationships/notesMaster" Target="/ppt/notesMasters/notesMaster1.xml" Id="R1942fefabaa44d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34aff19a08423a" /><Relationship Type="http://schemas.openxmlformats.org/officeDocument/2006/relationships/notesMaster" Target="/ppt/notesMasters/notesMaster1.xml" Id="R9d13bbf8c47240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e7b79fcec14fdb" /><Relationship Type="http://schemas.openxmlformats.org/officeDocument/2006/relationships/notesMaster" Target="/ppt/notesMasters/notesMaster1.xml" Id="R488f12bd1e564f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1edc6e059341cc" /><Relationship Type="http://schemas.openxmlformats.org/officeDocument/2006/relationships/notesMaster" Target="/ppt/notesMasters/notesMaster1.xml" Id="Rfba51001c34f48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c1994331d24ef2" /><Relationship Type="http://schemas.openxmlformats.org/officeDocument/2006/relationships/notesMaster" Target="/ppt/notesMasters/notesMaster1.xml" Id="Rdb6bd5369dca48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8270924c964612" /><Relationship Type="http://schemas.openxmlformats.org/officeDocument/2006/relationships/notesMaster" Target="/ppt/notesMasters/notesMaster1.xml" Id="R845a7b33c2044f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0033c4a44b4003" /><Relationship Type="http://schemas.openxmlformats.org/officeDocument/2006/relationships/notesMaster" Target="/ppt/notesMasters/notesMaster1.xml" Id="Rdc4210e1357a46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cbcd752eb649fe" /><Relationship Type="http://schemas.openxmlformats.org/officeDocument/2006/relationships/notesMaster" Target="/ppt/notesMasters/notesMaster1.xml" Id="R917c962b807644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e61c8daa689407c" /><Relationship Type="http://schemas.openxmlformats.org/officeDocument/2006/relationships/notesMaster" Target="/ppt/notesMasters/notesMaster1.xml" Id="Rf49a153dbd2a45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1be06beba34797" /><Relationship Type="http://schemas.openxmlformats.org/officeDocument/2006/relationships/notesMaster" Target="/ppt/notesMasters/notesMaster1.xml" Id="Re4756218e5dd47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e715b333954eb3" /><Relationship Type="http://schemas.openxmlformats.org/officeDocument/2006/relationships/notesMaster" Target="/ppt/notesMasters/notesMaster1.xml" Id="R1cf65d54a3444b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b075195b5347b2" /><Relationship Type="http://schemas.openxmlformats.org/officeDocument/2006/relationships/notesMaster" Target="/ppt/notesMasters/notesMaster1.xml" Id="R724d243b021a4a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0705c83851412e" /><Relationship Type="http://schemas.openxmlformats.org/officeDocument/2006/relationships/notesMaster" Target="/ppt/notesMasters/notesMaster1.xml" Id="R75a8dad7806946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dcd1378f4e47e4" /><Relationship Type="http://schemas.openxmlformats.org/officeDocument/2006/relationships/notesMaster" Target="/ppt/notesMasters/notesMaster1.xml" Id="R75a6d53aa9ea47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a23d931f384060" /><Relationship Type="http://schemas.openxmlformats.org/officeDocument/2006/relationships/notesMaster" Target="/ppt/notesMasters/notesMaster1.xml" Id="Re14c30e96e9f47e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fe821845da74d52" /><Relationship Type="http://schemas.openxmlformats.org/officeDocument/2006/relationships/notesMaster" Target="/ppt/notesMasters/notesMaster1.xml" Id="Rf1a47b67527f42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V7과 V8.4를 통합한 V9. 시장 연동 할인은 핵심 경험, 포트폴리오는 행동 데이터 기반, 주말 배당금은 휴장일 재방문 장치다. 계절 공모주는 별도 선택 확장이다.</a:t>
            </a:r>
          </a:p>
          <a:p xmlns:a="http://schemas.openxmlformats.org/drawingml/2006/main">
            <a:r>
              <a:t/>
            </a:r>
          </a:p>
          <a:p xmlns:a="http://schemas.openxmlformats.org/drawingml/2006/main">
            <a:r>
              <a:t>출처: MAKJI_Bread_Market_발표덱_V7_15P_KPI수정본.pptx; MAKJI_최종발표덱_V8_4.pptx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RFP 요구사항을 발표 목적에 맞게 세 가지로 압축했다. 시장 데이터 연동 정합성과 개인화 추천 실용성의 평가 중요도는 높음, 사용자 참여 설계는 중간이다. 배당금은 RFP에 직접 명시된 의무 기능이 아니라 팀의 참여 설계 해법이다.</a:t>
            </a:r>
          </a:p>
          <a:p xmlns:a="http://schemas.openxmlformats.org/drawingml/2006/main">
            <a:r>
              <a:t/>
            </a:r>
          </a:p>
          <a:p xmlns:a="http://schemas.openxmlformats.org/drawingml/2006/main">
            <a:r>
              <a:t>출처: 기업연계프로젝트_RFP_0907_공유용.pdf 3-1·3-4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연결 방향: 빵시장 → 빵 포트폴리오 → 주말 배당금. 상단 두 접점의 너비는 동일하다. 시장에서 배당금으로 직행하는 화살표를 두지 않는다. 계절 공모주는 관심빵 데이터가 선행되어야 하는 필수 기능이 아니다.</a:t>
            </a:r>
          </a:p>
          <a:p xmlns:a="http://schemas.openxmlformats.org/drawingml/2006/main">
            <a:r>
              <a:t/>
            </a:r>
          </a:p>
          <a:p xmlns:a="http://schemas.openxmlformats.org/drawingml/2006/main">
            <a:r>
              <a:t>출처: MAKJI_Bread_Market_발표덱_V7_15P_KPI수정본.pptx 3p; MAKJI_최종발표덱_V8_4.pptx 2·5p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상승과 하락은 할인하는 상품군의 명분이다. 장 종료 시각은 15:30, 빵장 종료는 24:00. 기존 V6의 두 감정 카피를 유지했다. V8.4에 적힌 20–24시 매출 비중 28.4%는 집계 원자료가 확인되지 않아 본문 근거로 사용하지 않았다. 보합·특수 거래일 처리 규칙은 부록 결정사항으로 분리했다.</a:t>
            </a:r>
          </a:p>
          <a:p xmlns:a="http://schemas.openxmlformats.org/drawingml/2006/main">
            <a:r>
              <a:t/>
            </a:r>
          </a:p>
          <a:p xmlns:a="http://schemas.openxmlformats.org/drawingml/2006/main">
            <a:r>
              <a:t>출처: MAKJI_최종발표덱_V8_4.pptx 3p; MAKJI_Bread_Market_발표덱_V7_15P_KPI수정본.pptx 4p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할인 구간과 수요·재고·하락장 보정은 최신 V8.4 정책을 반영했다. 최대합은 30+3+2+3=38%. SKU 마진 상한이 더 낮으면 그 상한을 우선한다. 보정 수치는 검증할 운영 제안값이다. 0% 보합과 근소한 등락 시 할인 대상 분류는 기업 확정이 필요하다.</a:t>
            </a:r>
          </a:p>
          <a:p xmlns:a="http://schemas.openxmlformats.org/drawingml/2006/main">
            <a:r>
              <a:t/>
            </a:r>
          </a:p>
          <a:p xmlns:a="http://schemas.openxmlformats.org/drawingml/2006/main">
            <a:r>
              <a:t>출처: MAKJI_최종발표덱_V8_4.pptx 4p; MAKJI_Bread_Market_발표덱_V7_15P_KPI수정본.pptx 5·14p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V8.4의 고객 행동→포트폴리오→세 가지 활용 분기와 V7의 관리 원칙을 통합했다. 구매 전 관심을 기록하는 기능과 실제 구매 사실은 다르다. 관심만으로 구매 의향 확정을 주장하지 않는다. 포트폴리오 화면의 알림·주간 결산은 집계 데이터를 읽으며, 고객별 원시 행동은 목적과 보관 기간에 맞게 관리한다.</a:t>
            </a:r>
          </a:p>
          <a:p xmlns:a="http://schemas.openxmlformats.org/drawingml/2006/main">
            <a:r>
              <a:t/>
            </a:r>
          </a:p>
          <a:p xmlns:a="http://schemas.openxmlformats.org/drawingml/2006/main">
            <a:r>
              <a:t>출처: MAKJI_최종발표덱_V8_4.pptx 5·6p; MAKJI_Bread_Market_발표덱_V7_15P_KPI수정본.pptx 6p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주말 할인 중단만으로 정가 인식이나 금요일 매출이 보장되지는 않는다. 포인트 사용으로 평일 구매가 이동할 수 있어 KPI에서 금요일 구매 지연과 주간 증분 공헌이익을 함께 확인한다. 토요일 지급 흐름은 기존 기획 기준이며 상세 집계·지급 시각은 기업 확정 대상이다.</a:t>
            </a:r>
          </a:p>
          <a:p xmlns:a="http://schemas.openxmlformats.org/drawingml/2006/main">
            <a:r>
              <a:t/>
            </a:r>
          </a:p>
          <a:p xmlns:a="http://schemas.openxmlformats.org/drawingml/2006/main">
            <a:r>
              <a:t>출처: MAKJI_최종발표덱_V8_4.pptx 7·10p; MAKJI_Bread_Market_발표덱_V7_15P_KPI수정본.pptx 7p; 막지V6.pdf 주말 배당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V8.4 8p의 점수와 등급을 채택. 평시 최대 6점, 계절 공모 이벤트 참여 주에는 최대 7점이며 6점 이상을 PRIME으로 통일한다. 알림 설정과 반응은 하나의 +1 활동군이며 중복 가산하지 않는다. 활동 인정 단위·삭제 후 재등록·주문 취소 시 회수 기준은 상세 정책 확정이 필요하다.</a:t>
            </a:r>
          </a:p>
          <a:p xmlns:a="http://schemas.openxmlformats.org/drawingml/2006/main">
            <a:r>
              <a:t/>
            </a:r>
          </a:p>
          <a:p xmlns:a="http://schemas.openxmlformats.org/drawingml/2006/main">
            <a:r>
              <a:t>출처: MAKJI_최종발표덱_V8_4.pptx 8p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V8.4 9p의 월 누적, 10% 한도, 1만원 최소 주문, 월말 소멸을 채택하되 기업 승인 전 제안으로 제시한다. 800P÷1만원=8%는 한 주 지급분만 사용한 경우에만 성립한다. 누적 잔액은 1,000P 이상일 수 있으므로 주문별 상한은 10%이다. 예시 계산은 배송비 제외 및 포인트 차감 전 상품금액 1만원을 기준으로 했으며 실제 기준금액과 다른 쿠폰 중복 여부는 확정 필요. 평일 빵시장 할인과는 사용 요일이 달라 중복되지 않는다. V8.4의 패션 플랫폼 사례 범위는 출처가 없어 삭제했다.</a:t>
            </a:r>
          </a:p>
          <a:p xmlns:a="http://schemas.openxmlformats.org/drawingml/2006/main">
            <a:r>
              <a:t/>
            </a:r>
          </a:p>
          <a:p xmlns:a="http://schemas.openxmlformats.org/drawingml/2006/main">
            <a:r>
              <a:t>출처: MAKJI_최종발표덱_V8_4.pptx 9p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공모주는 고객 구매의향을 탐색하는 이벤트로, 투표·레시피 콘테스트·절기 아카이브를 되살리지 않는다. 고객 선택이 곧 확정 주문은 아니다. 결제·배정·환불이 있는 실제 선주문 방식인지 단순 관심 등록인지 기업 확정 전에는 출시·구매를 보장하지 않는다. 사내 경진대회나 R&amp;D 운영 사실은 공식 근거가 확인되지 않아 조직 보유 사실로 단정하지 않았다.</a:t>
            </a:r>
          </a:p>
          <a:p xmlns:a="http://schemas.openxmlformats.org/drawingml/2006/main">
            <a:r>
              <a:t/>
            </a:r>
          </a:p>
          <a:p xmlns:a="http://schemas.openxmlformats.org/drawingml/2006/main">
            <a:r>
              <a:t>출처: MAKJI_최종발표덱_V8_4.pptx 11p; MAKJI_Bread_Market_발표덱_V7_15P_KPI수정본.pptx 9p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V8.4 12p의 단계적 도입을 정리한 실행 제안이며 구현 완료나 운영 성과를 의미하지 않는다. RFP는 Bread Market 실제 구현과 Bakery ETF·FX Bakery·Bread Index 기획/설계 문서를 요구한다. 본문은 핵심 제안에 집중하고 RFP의 별도 산출물 의무를 누락하지 않도록 표기했다.</a:t>
            </a:r>
          </a:p>
          <a:p xmlns:a="http://schemas.openxmlformats.org/drawingml/2006/main">
            <a:r>
              <a:t/>
            </a:r>
          </a:p>
          <a:p xmlns:a="http://schemas.openxmlformats.org/drawingml/2006/main">
            <a:r>
              <a:t>출처: MAKJI_최종발표덱_V8_4.pptx 12p; 기업연계프로젝트_RFP_0907_공유용.pdf 프로젝트 범위 및 산출물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V7 수정본 KPI 페이지의 판단 열 삭제와 확대된 문구를 유지했다. 주말 재방문율 분모는 평일 이용 고객, 배당 후 구매율 분모는 배당 수령 고객으로 정의하는 안이다. 알림 후 구매율의 전환 기간, 청약률 노출 분모, 재방문 식별 기준은 실행 전 고정해야 한다. 증분 공헌이익은 비교군 대비 고객 1인당 상품 공헌이익에서 할인·포인트 등 추가 변동비를 차감한 차이를 본다. 단순 매출 상승을 인과 효과로 주장하지 않는다.</a:t>
            </a:r>
          </a:p>
          <a:p xmlns:a="http://schemas.openxmlformats.org/drawingml/2006/main">
            <a:r>
              <a:t/>
            </a:r>
          </a:p>
          <a:p xmlns:a="http://schemas.openxmlformats.org/drawingml/2006/main">
            <a:r>
              <a:t>출처: MAKJI_Bread_Market_발표덱_V7_15P_KPI수정본.pptx 10p; MAKJI_최종발표덱_V8_4.pptx 4·6·10·11·12p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수치가 제안인 항목은 기업 승인 전 운영 확정값으로 해석하지 않는다. V7의 전체 배당 예산 20,000P 및 1만/1.5만/2만원별 사용안은 V8.4의 주문 10%·최소 1만원 조건과 충돌하므로 이 본문에서는 최신안을 채택했다. 전체 예산과 월간 한도는 미정으로 남겼다. 내부 기준 초과에 따른 변경은 사전 고지와 이미 지급한 포인트 처리 기준을 포함해야 한다.</a:t>
            </a:r>
          </a:p>
          <a:p xmlns:a="http://schemas.openxmlformats.org/drawingml/2006/main">
            <a:r>
              <a:t/>
            </a:r>
          </a:p>
          <a:p xmlns:a="http://schemas.openxmlformats.org/drawingml/2006/main">
            <a:r>
              <a:t>출처: MAKJI_Bread_Market_발표덱_V7_15P_KPI수정본.pptx 11p; MAKJI_최종발표덱_V8_4.pptx 9·12p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V8.4의 구매 전 잠재수요 가치와 V7의 역할 위계를 통합한 결론. 재방문이나 매출 증가를 확정 결과로 말하지 않고 검증할 가치로 제시한다. 본문은 여기서 종료되며 이후 세 장은 질문에 대응하는 참고자료다.</a:t>
            </a:r>
          </a:p>
          <a:p xmlns:a="http://schemas.openxmlformats.org/drawingml/2006/main">
            <a:r>
              <a:t/>
            </a:r>
          </a:p>
          <a:p xmlns:a="http://schemas.openxmlformats.org/drawingml/2006/main">
            <a:r>
              <a:t>출처: MAKJI_최종발표덱_V8_4.pptx 13p; MAKJI_Bread_Market_발표덱_V7_15P_KPI수정본.pptx 12p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상품 분류와 가격은 V7의 기존 부록 및 막지V6 Appendix A에서 가져왔다. ZERO 카스테라는 간단 식사대용·데일리 범주, 대만식 샌드위치는 제품 형태와 소비 상황으로 분류한 기획안이다. 최신 판매가를 외부 조회한 값이 아니며 실제 할인율은 SKU별 원가와 마진 상한이 선행된다. 기존 가격 단순합은 정책 판단에 불필요해 본문에서 삭제했지만 개별 가격은 유지했다.</a:t>
            </a:r>
          </a:p>
          <a:p xmlns:a="http://schemas.openxmlformats.org/drawingml/2006/main">
            <a:r>
              <a:t/>
            </a:r>
          </a:p>
          <a:p xmlns:a="http://schemas.openxmlformats.org/drawingml/2006/main">
            <a:r>
              <a:t>출처: MAKJI_Bread_Market_발표덱_V7_15P_KPI수정본.pptx 13p; 막지V6.pdf Appendix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V7·V6 할인 상세 기준. 관심 높음의 절대 수준과 전환율 관찰 기간이 미정이므로 수요 기준의 추가 검증이 필요하다. 저전환 원인을 가격으로 단정하지 않는다. 20명 최소 표본, 20%·45%, 3일·7일은 팀 제안값이며 근거 확보 후 기업 승인 필요. 시장 데이터 미수신은 전체 할인 보류, 수요·재고 부족은 해당 보정만 0으로 구분한다.</a:t>
            </a:r>
          </a:p>
          <a:p xmlns:a="http://schemas.openxmlformats.org/drawingml/2006/main">
            <a:r>
              <a:t/>
            </a:r>
          </a:p>
          <a:p xmlns:a="http://schemas.openxmlformats.org/drawingml/2006/main">
            <a:r>
              <a:t>출처: MAKJI_Bread_Market_발표덱_V7_15P_KPI수정본.pptx 14p; 막지V6.pdf Appendix 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원자료가 없는 V8.4의 시간대 매출 28.4%, 주요 플랫폼 포인트 사용한도 사례, V7의 KOSPI 1,218일 빈도값을 본문에서 효과 근거로 사용하지 않았다. 필요 시 집계 기간·취소 및 환불 제외·시간대 분모를 확인하고 반영한다. 배당 월간 상한, 월말 소멸과 사용 가능 주말의 충돌, 포인트 사용 기준금액은 아직 확정되지 않았다. 기업의 공식 콘텐츠와 상품 이미지는 사전 협의·승인이 필요하다.</a:t>
            </a:r>
          </a:p>
          <a:p xmlns:a="http://schemas.openxmlformats.org/drawingml/2006/main">
            <a:r>
              <a:t/>
            </a:r>
          </a:p>
          <a:p xmlns:a="http://schemas.openxmlformats.org/drawingml/2006/main">
            <a:r>
              <a:t>출처: MAKJI_Bread_Market_발표덱_V7_15P_KPI수정본.pptx 15p; MAKJI_최종발표덱_V8_4.pptx 9p; 기업연계프로젝트_RFP_0907_공유용.pdf 데이터셋·콘텐츠 운영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bc421955aa41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a1dfd9781b4d86" /><Relationship Type="http://schemas.openxmlformats.org/officeDocument/2006/relationships/slideLayout" Target="/ppt/slideLayouts/slideLayout1.xml" Id="R12151f2f193246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151f2f193246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6012f4541c4c11" /><Relationship Type="http://schemas.openxmlformats.org/officeDocument/2006/relationships/notesSlide" Target="/ppt/notesSlides/notesSlide1.xml" Id="Reca9a265b6834c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22e14ecb7a4d16" /><Relationship Type="http://schemas.openxmlformats.org/officeDocument/2006/relationships/notesSlide" Target="/ppt/notesSlides/notesSlide2.xml" Id="Rae7ed25a7cbf46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39a9d1ca9a452b" /><Relationship Type="http://schemas.openxmlformats.org/officeDocument/2006/relationships/notesSlide" Target="/ppt/notesSlides/notesSlide3.xml" Id="R6d2932982a6048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b6174d3ec74c25" /><Relationship Type="http://schemas.openxmlformats.org/officeDocument/2006/relationships/notesSlide" Target="/ppt/notesSlides/notesSlide4.xml" Id="R05be8069e3e641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4d8d4a14684bcd" /><Relationship Type="http://schemas.openxmlformats.org/officeDocument/2006/relationships/notesSlide" Target="/ppt/notesSlides/notesSlide5.xml" Id="Rb3df385e6f5e43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6db26aa10a43ca" /><Relationship Type="http://schemas.openxmlformats.org/officeDocument/2006/relationships/notesSlide" Target="/ppt/notesSlides/notesSlide6.xml" Id="R7d8c5796cd3246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6e3eab9f314679" /><Relationship Type="http://schemas.openxmlformats.org/officeDocument/2006/relationships/notesSlide" Target="/ppt/notesSlides/notesSlide7.xml" Id="R0cd908b20b4d4c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8d92c2048a347d9" /><Relationship Type="http://schemas.openxmlformats.org/officeDocument/2006/relationships/notesSlide" Target="/ppt/notesSlides/notesSlide8.xml" Id="Rdf8d81a137854e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80d69aa6814777" /><Relationship Type="http://schemas.openxmlformats.org/officeDocument/2006/relationships/notesSlide" Target="/ppt/notesSlides/notesSlide9.xml" Id="R085f0f4b01df43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572d37fd4af4379" /><Relationship Type="http://schemas.openxmlformats.org/officeDocument/2006/relationships/notesSlide" Target="/ppt/notesSlides/notesSlide10.xml" Id="Rd210581529eb43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809681648a542c5" /><Relationship Type="http://schemas.openxmlformats.org/officeDocument/2006/relationships/notesSlide" Target="/ppt/notesSlides/notesSlide11.xml" Id="R8c66f959e94141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0980cdee61141ba" /><Relationship Type="http://schemas.openxmlformats.org/officeDocument/2006/relationships/notesSlide" Target="/ppt/notesSlides/notesSlide12.xml" Id="Rc4c415c016f24e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81d38e9544a4f2a" /><Relationship Type="http://schemas.openxmlformats.org/officeDocument/2006/relationships/notesSlide" Target="/ppt/notesSlides/notesSlide13.xml" Id="Rcdb2e465fb4944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52cf7e5fc34cdd" /><Relationship Type="http://schemas.openxmlformats.org/officeDocument/2006/relationships/notesSlide" Target="/ppt/notesSlides/notesSlide14.xml" Id="R4094ba2348be4aa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9865afadc4a43c2" /><Relationship Type="http://schemas.openxmlformats.org/officeDocument/2006/relationships/notesSlide" Target="/ppt/notesSlides/notesSlide15.xml" Id="R83df1745328e42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21f9f2e0b3d4da0" /><Relationship Type="http://schemas.openxmlformats.org/officeDocument/2006/relationships/notesSlide" Target="/ppt/notesSlides/notesSlide16.xml" Id="R1dc928f31e74440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7421323f6a34d29" /><Relationship Type="http://schemas.openxmlformats.org/officeDocument/2006/relationships/notesSlide" Target="/ppt/notesSlides/notesSlide17.xml" Id="Rc52d50fa78e94094" /></Relationships>
</file>

<file path=ppt/slides/slide1.xml><?xml version="1.0" encoding="utf-8"?>
<p:sld xmlns:p="http://schemas.openxmlformats.org/presentationml/2006/main">
  <p:cSld>
    <p:bg>
      <p:bgPr>
        <a:solidFill xmlns:a="http://schemas.openxmlformats.org/drawingml/2006/main">
          <a:srgbClr val="123F3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0E938C-5B54-491D-B981-48C168CD5A23}"/>
              </a:ext>
            </a:extLst>
          </p:cNvPr>
          <p:cNvSpPr>
            <a:spLocks xmlns:a="http://schemas.openxmlformats.org/drawingml/2006/main" noGrp="1"/>
          </p:cNvSpPr>
          <p:nvPr/>
        </p:nvSpPr>
        <p:spPr>
          <a:xfrm xmlns:a="http://schemas.openxmlformats.org/drawingml/2006/main">
            <a:off x="609600" y="609600"/>
            <a:ext cx="10972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8000"/>
              </a:lnSpc>
              <a:buNone/>
              <a:defRPr sz="5100" b="1">
                <a:solidFill>
                  <a:srgbClr val="F6F0E6"/>
                </a:solidFill>
                <a:latin typeface="Noto Sans CJK KR"/>
                <a:ea typeface="Noto Sans CJK KR"/>
                <a:cs typeface="Noto Sans CJK KR"/>
              </a:defRPr>
            </a:pPr>
            <a:r>
              <a:rPr sz="5100" b="1">
                <a:solidFill>
                  <a:srgbClr val="F6F0E6"/>
                </a:solidFill>
                <a:latin typeface="Noto Sans CJK KR"/>
                <a:ea typeface="Noto Sans CJK KR"/>
                <a:cs typeface="Noto Sans CJK KR"/>
              </a:rPr>
              <a:t>국장이 끝나면,</a:t>
            </a:r>
          </a:p>
          <a:p xmlns:a="http://schemas.openxmlformats.org/drawingml/2006/main">
            <a:pPr algn="l">
              <a:lnSpc>
                <a:spcPct val="118000"/>
              </a:lnSpc>
              <a:buNone/>
              <a:defRPr sz="5100" b="1">
                <a:solidFill>
                  <a:srgbClr val="F6F0E6"/>
                </a:solidFill>
                <a:latin typeface="Noto Sans CJK KR"/>
                <a:ea typeface="Noto Sans CJK KR"/>
                <a:cs typeface="Noto Sans CJK KR"/>
              </a:defRPr>
            </a:pPr>
            <a:r>
              <a:rPr sz="5100" b="1">
                <a:solidFill>
                  <a:srgbClr val="F6F0E6"/>
                </a:solidFill>
                <a:latin typeface="Noto Sans CJK KR"/>
                <a:ea typeface="Noto Sans CJK KR"/>
                <a:cs typeface="Noto Sans CJK KR"/>
              </a:rPr>
              <a:t>빵장이 시작된다</a:t>
            </a:r>
          </a:p>
        </p:txBody>
      </p:sp>
      <p:sp>
        <p:nvSpPr>
          <p:cNvPr id="2" name="">
            <a:extLst xmlns:a="http://schemas.openxmlformats.org/drawingml/2006/main">
              <a:ext uri="{FF2B5EF4-FFF2-40B4-BE49-F238E27FC236}">
                <a16:creationId xmlns:a16="http://schemas.microsoft.com/office/drawing/2014/main" id="{846A58F5-094C-4ED2-B3DC-6544070B87AF}"/>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F6F0E6"/>
                </a:solidFill>
                <a:latin typeface="Noto Sans CJK KR"/>
                <a:ea typeface="Noto Sans CJK KR"/>
                <a:cs typeface="Noto Sans CJK KR"/>
              </a:defRPr>
            </a:pPr>
            <a:r>
              <a:rPr sz="900" b="0">
                <a:solidFill>
                  <a:srgbClr val="F6F0E6"/>
                </a:solidFill>
                <a:latin typeface="Noto Sans CJK KR"/>
                <a:ea typeface="Noto Sans CJK KR"/>
                <a:cs typeface="Noto Sans CJK KR"/>
              </a:rPr>
              <a:t>MAKJI  /  BREAD MARKET</a:t>
            </a:r>
          </a:p>
        </p:txBody>
      </p:sp>
      <p:sp>
        <p:nvSpPr>
          <p:cNvPr id="3" name="">
            <a:extLst xmlns:a="http://schemas.openxmlformats.org/drawingml/2006/main">
              <a:ext uri="{FF2B5EF4-FFF2-40B4-BE49-F238E27FC236}">
                <a16:creationId xmlns:a16="http://schemas.microsoft.com/office/drawing/2014/main" id="{020794F3-6328-43B4-B3AA-B77C680F9FE8}"/>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F6F0E6"/>
                </a:solidFill>
                <a:latin typeface="Noto Sans CJK KR"/>
                <a:ea typeface="Noto Sans CJK KR"/>
                <a:cs typeface="Noto Sans CJK KR"/>
              </a:defRPr>
            </a:pPr>
            <a:r>
              <a:rPr sz="1050" b="0">
                <a:solidFill>
                  <a:srgbClr val="F6F0E6"/>
                </a:solidFill>
                <a:latin typeface="Noto Sans CJK KR"/>
                <a:ea typeface="Noto Sans CJK KR"/>
                <a:cs typeface="Noto Sans CJK KR"/>
              </a:rPr>
              <a:t>01</a:t>
            </a:r>
          </a:p>
        </p:txBody>
      </p:sp>
      <p:sp>
        <p:nvSpPr>
          <p:cNvPr id="4" name="">
            <a:extLst xmlns:a="http://schemas.openxmlformats.org/drawingml/2006/main">
              <a:ext uri="{FF2B5EF4-FFF2-40B4-BE49-F238E27FC236}">
                <a16:creationId xmlns:a16="http://schemas.microsoft.com/office/drawing/2014/main" id="{4E4B7A3C-3ECA-47B7-9067-3028FB907A04}"/>
              </a:ext>
            </a:extLst>
          </p:cNvPr>
          <p:cNvSpPr>
            <a:spLocks xmlns:a="http://schemas.openxmlformats.org/drawingml/2006/main" noGrp="1"/>
          </p:cNvSpPr>
          <p:nvPr/>
        </p:nvSpPr>
        <p:spPr>
          <a:xfrm xmlns:a="http://schemas.openxmlformats.org/drawingml/2006/main">
            <a:off x="647700" y="3190875"/>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0000"/>
              </a:lnSpc>
              <a:buNone/>
              <a:defRPr sz="2250" b="0">
                <a:solidFill>
                  <a:srgbClr val="F6F0E6"/>
                </a:solidFill>
                <a:latin typeface="Noto Sans CJK KR"/>
                <a:ea typeface="Noto Sans CJK KR"/>
                <a:cs typeface="Noto Sans CJK KR"/>
              </a:defRPr>
            </a:pPr>
            <a:r>
              <a:rPr sz="2250" b="0">
                <a:solidFill>
                  <a:srgbClr val="F6F0E6"/>
                </a:solidFill>
                <a:latin typeface="Noto Sans CJK KR"/>
                <a:ea typeface="Noto Sans CJK KR"/>
                <a:cs typeface="Noto Sans CJK KR"/>
              </a:rPr>
              <a:t>오늘의 시장이 구매 이유가 되고,</a:t>
            </a:r>
          </a:p>
          <a:p xmlns:a="http://schemas.openxmlformats.org/drawingml/2006/main">
            <a:pPr algn="l">
              <a:lnSpc>
                <a:spcPct val="140000"/>
              </a:lnSpc>
              <a:buNone/>
              <a:defRPr sz="2250" b="0">
                <a:solidFill>
                  <a:srgbClr val="F6F0E6"/>
                </a:solidFill>
                <a:latin typeface="Noto Sans CJK KR"/>
                <a:ea typeface="Noto Sans CJK KR"/>
                <a:cs typeface="Noto Sans CJK KR"/>
              </a:defRPr>
            </a:pPr>
            <a:r>
              <a:rPr sz="2250" b="0">
                <a:solidFill>
                  <a:srgbClr val="F6F0E6"/>
                </a:solidFill>
                <a:latin typeface="Noto Sans CJK KR"/>
                <a:ea typeface="Noto Sans CJK KR"/>
                <a:cs typeface="Noto Sans CJK KR"/>
              </a:rPr>
              <a:t>오늘 남긴 관심이 다음 방문으로 이어집니다.</a:t>
            </a:r>
          </a:p>
        </p:txBody>
      </p:sp>
      <p:sp>
        <p:nvSpPr>
          <p:cNvPr id="5" name="">
            <a:extLst xmlns:a="http://schemas.openxmlformats.org/drawingml/2006/main">
              <a:ext uri="{FF2B5EF4-FFF2-40B4-BE49-F238E27FC236}">
                <a16:creationId xmlns:a16="http://schemas.microsoft.com/office/drawing/2014/main" id="{C6DCFBDA-D64C-4BCD-A326-2FB30E487845}"/>
              </a:ext>
            </a:extLst>
          </p:cNvPr>
          <p:cNvSpPr>
            <a:spLocks xmlns:a="http://schemas.openxmlformats.org/drawingml/2006/main" noGrp="1"/>
          </p:cNvSpPr>
          <p:nvPr/>
        </p:nvSpPr>
        <p:spPr>
          <a:xfrm xmlns:a="http://schemas.openxmlformats.org/drawingml/2006/main">
            <a:off x="647700" y="4933950"/>
            <a:ext cx="10934700" cy="0"/>
          </a:xfrm>
          <a:prstGeom xmlns:a="http://schemas.openxmlformats.org/drawingml/2006/main" prst="line">
            <a:avLst/>
          </a:prstGeom>
          <a:noFill xmlns:a="http://schemas.openxmlformats.org/drawingml/2006/main"/>
          <a:ln xmlns:a="http://schemas.openxmlformats.org/drawingml/2006/main" w="38100">
            <a:solidFill>
              <a:srgbClr val="C85B35"/>
            </a:solidFill>
          </a:ln>
        </p:spPr>
      </p:sp>
      <p:sp>
        <p:nvSpPr>
          <p:cNvPr id="6" name="">
            <a:extLst xmlns:a="http://schemas.openxmlformats.org/drawingml/2006/main">
              <a:ext uri="{FF2B5EF4-FFF2-40B4-BE49-F238E27FC236}">
                <a16:creationId xmlns:a16="http://schemas.microsoft.com/office/drawing/2014/main" id="{D53535A3-1A34-4141-BAE6-62A339914382}"/>
              </a:ext>
            </a:extLst>
          </p:cNvPr>
          <p:cNvSpPr>
            <a:spLocks xmlns:a="http://schemas.openxmlformats.org/drawingml/2006/main" noGrp="1"/>
          </p:cNvSpPr>
          <p:nvPr/>
        </p:nvSpPr>
        <p:spPr>
          <a:xfrm xmlns:a="http://schemas.openxmlformats.org/drawingml/2006/main">
            <a:off x="647700" y="52959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F6F0E6"/>
                </a:solidFill>
                <a:latin typeface="Noto Sans CJK KR"/>
                <a:ea typeface="Noto Sans CJK KR"/>
                <a:cs typeface="Noto Sans CJK KR"/>
              </a:defRPr>
            </a:pPr>
            <a:r>
              <a:rPr sz="1950" b="1">
                <a:solidFill>
                  <a:srgbClr val="F6F0E6"/>
                </a:solidFill>
                <a:latin typeface="Noto Sans CJK KR"/>
                <a:ea typeface="Noto Sans CJK KR"/>
                <a:cs typeface="Noto Sans CJK KR"/>
              </a:rPr>
              <a:t>시장 연동 가격</a:t>
            </a:r>
          </a:p>
        </p:txBody>
      </p:sp>
      <p:sp>
        <p:nvSpPr>
          <p:cNvPr id="7" name="">
            <a:extLst xmlns:a="http://schemas.openxmlformats.org/drawingml/2006/main">
              <a:ext uri="{FF2B5EF4-FFF2-40B4-BE49-F238E27FC236}">
                <a16:creationId xmlns:a16="http://schemas.microsoft.com/office/drawing/2014/main" id="{D944442A-1E6E-437A-A5EC-3015DCF44C7D}"/>
              </a:ext>
            </a:extLst>
          </p:cNvPr>
          <p:cNvSpPr>
            <a:spLocks xmlns:a="http://schemas.openxmlformats.org/drawingml/2006/main" noGrp="1"/>
          </p:cNvSpPr>
          <p:nvPr/>
        </p:nvSpPr>
        <p:spPr>
          <a:xfrm xmlns:a="http://schemas.openxmlformats.org/drawingml/2006/main">
            <a:off x="4305300" y="52959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F6F0E6"/>
                </a:solidFill>
                <a:latin typeface="Noto Sans CJK KR"/>
                <a:ea typeface="Noto Sans CJK KR"/>
                <a:cs typeface="Noto Sans CJK KR"/>
              </a:defRPr>
            </a:pPr>
            <a:r>
              <a:rPr sz="1950" b="1">
                <a:solidFill>
                  <a:srgbClr val="F6F0E6"/>
                </a:solidFill>
                <a:latin typeface="Noto Sans CJK KR"/>
                <a:ea typeface="Noto Sans CJK KR"/>
                <a:cs typeface="Noto Sans CJK KR"/>
              </a:rPr>
              <a:t>관심빵 포트폴리오</a:t>
            </a:r>
          </a:p>
        </p:txBody>
      </p:sp>
      <p:sp>
        <p:nvSpPr>
          <p:cNvPr id="8" name="">
            <a:extLst xmlns:a="http://schemas.openxmlformats.org/drawingml/2006/main">
              <a:ext uri="{FF2B5EF4-FFF2-40B4-BE49-F238E27FC236}">
                <a16:creationId xmlns:a16="http://schemas.microsoft.com/office/drawing/2014/main" id="{B9699763-6A46-4BB1-9E2F-C34D95138A88}"/>
              </a:ext>
            </a:extLst>
          </p:cNvPr>
          <p:cNvSpPr>
            <a:spLocks xmlns:a="http://schemas.openxmlformats.org/drawingml/2006/main" noGrp="1"/>
          </p:cNvSpPr>
          <p:nvPr/>
        </p:nvSpPr>
        <p:spPr>
          <a:xfrm xmlns:a="http://schemas.openxmlformats.org/drawingml/2006/main">
            <a:off x="8134350" y="52959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F6F0E6"/>
                </a:solidFill>
                <a:latin typeface="Noto Sans CJK KR"/>
                <a:ea typeface="Noto Sans CJK KR"/>
                <a:cs typeface="Noto Sans CJK KR"/>
              </a:defRPr>
            </a:pPr>
            <a:r>
              <a:rPr sz="1950" b="1">
                <a:solidFill>
                  <a:srgbClr val="F6F0E6"/>
                </a:solidFill>
                <a:latin typeface="Noto Sans CJK KR"/>
                <a:ea typeface="Noto Sans CJK KR"/>
                <a:cs typeface="Noto Sans CJK KR"/>
              </a:rPr>
              <a:t>주말 활동 배당금</a:t>
            </a:r>
          </a:p>
        </p:txBody>
      </p:sp>
    </p:spTree>
    <p:extLst>
      <p:ext uri="{BB962C8B-B14F-4D97-AF65-F5344CB8AC3E}">
        <p14:creationId xmlns:p14="http://schemas.microsoft.com/office/powerpoint/2010/main" val="1448771426"/>
      </p:ext>
    </p:extLst>
  </p:cSld>
</p:sld>
</file>

<file path=ppt/slides/slide2.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30F19A8-F7C7-4F7C-AF1B-3FF5912BBF12}"/>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시장 데이터를 실제 구매와 재방문으로 연결합니다</a:t>
            </a:r>
          </a:p>
        </p:txBody>
      </p:sp>
      <p:sp>
        <p:nvSpPr>
          <p:cNvPr id="2" name="">
            <a:extLst xmlns:a="http://schemas.openxmlformats.org/drawingml/2006/main">
              <a:ext uri="{FF2B5EF4-FFF2-40B4-BE49-F238E27FC236}">
                <a16:creationId xmlns:a16="http://schemas.microsoft.com/office/drawing/2014/main" id="{39C86213-3C72-4C87-AA6C-C539D83A0F93}"/>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RFP의 핵심은 시장 연동의 정합성, 개인화의 실용성, 자발적 참여입니다.</a:t>
            </a:r>
          </a:p>
        </p:txBody>
      </p:sp>
      <p:sp>
        <p:nvSpPr>
          <p:cNvPr id="3" name="">
            <a:extLst xmlns:a="http://schemas.openxmlformats.org/drawingml/2006/main">
              <a:ext uri="{FF2B5EF4-FFF2-40B4-BE49-F238E27FC236}">
                <a16:creationId xmlns:a16="http://schemas.microsoft.com/office/drawing/2014/main" id="{76961F8F-2D2A-44D4-B7A9-C6B121806EB1}"/>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4B3131ED-0AB5-4BA0-B0F3-F2B487BACCE9}"/>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02</a:t>
            </a:r>
          </a:p>
        </p:txBody>
      </p:sp>
      <p:sp>
        <p:nvSpPr>
          <p:cNvPr id="5" name="">
            <a:extLst xmlns:a="http://schemas.openxmlformats.org/drawingml/2006/main">
              <a:ext uri="{FF2B5EF4-FFF2-40B4-BE49-F238E27FC236}">
                <a16:creationId xmlns:a16="http://schemas.microsoft.com/office/drawing/2014/main" id="{D6DEE47B-E878-4149-A4AD-28250B106C17}"/>
              </a:ext>
            </a:extLst>
          </p:cNvPr>
          <p:cNvSpPr>
            <a:spLocks xmlns:a="http://schemas.openxmlformats.org/drawingml/2006/main" noGrp="1"/>
          </p:cNvSpPr>
          <p:nvPr/>
        </p:nvSpPr>
        <p:spPr>
          <a:xfrm xmlns:a="http://schemas.openxmlformats.org/drawingml/2006/main">
            <a:off x="609600" y="2228850"/>
            <a:ext cx="3505200" cy="28956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469B48-26D5-40D0-A920-8ACBBC6E0E60}"/>
              </a:ext>
            </a:extLst>
          </p:cNvPr>
          <p:cNvSpPr>
            <a:spLocks xmlns:a="http://schemas.openxmlformats.org/drawingml/2006/main" noGrp="1"/>
          </p:cNvSpPr>
          <p:nvPr/>
        </p:nvSpPr>
        <p:spPr>
          <a:xfrm xmlns:a="http://schemas.openxmlformats.org/drawingml/2006/main">
            <a:off x="838200" y="240030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C85B35"/>
                </a:solidFill>
                <a:latin typeface="Noto Sans CJK KR"/>
                <a:ea typeface="Noto Sans CJK KR"/>
                <a:cs typeface="Noto Sans CJK KR"/>
              </a:defRPr>
            </a:pPr>
            <a:r>
              <a:rPr sz="1650" b="1">
                <a:solidFill>
                  <a:srgbClr val="C85B35"/>
                </a:solidFill>
                <a:latin typeface="Noto Sans CJK KR"/>
                <a:ea typeface="Noto Sans CJK KR"/>
                <a:cs typeface="Noto Sans CJK KR"/>
              </a:rPr>
              <a:t>01</a:t>
            </a:r>
          </a:p>
        </p:txBody>
      </p:sp>
      <p:sp>
        <p:nvSpPr>
          <p:cNvPr id="7" name="">
            <a:extLst xmlns:a="http://schemas.openxmlformats.org/drawingml/2006/main">
              <a:ext uri="{FF2B5EF4-FFF2-40B4-BE49-F238E27FC236}">
                <a16:creationId xmlns:a16="http://schemas.microsoft.com/office/drawing/2014/main" id="{44216B3B-4A20-4EAD-AB4F-E429B290BA90}"/>
              </a:ext>
            </a:extLst>
          </p:cNvPr>
          <p:cNvSpPr>
            <a:spLocks xmlns:a="http://schemas.openxmlformats.org/drawingml/2006/main" noGrp="1"/>
          </p:cNvSpPr>
          <p:nvPr/>
        </p:nvSpPr>
        <p:spPr>
          <a:xfrm xmlns:a="http://schemas.openxmlformats.org/drawingml/2006/main">
            <a:off x="838200" y="2867025"/>
            <a:ext cx="304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123F34"/>
                </a:solidFill>
                <a:latin typeface="Noto Sans CJK KR"/>
                <a:ea typeface="Noto Sans CJK KR"/>
                <a:cs typeface="Noto Sans CJK KR"/>
              </a:defRPr>
            </a:pPr>
            <a:r>
              <a:rPr sz="1950" b="1">
                <a:solidFill>
                  <a:srgbClr val="123F34"/>
                </a:solidFill>
                <a:latin typeface="Noto Sans CJK KR"/>
                <a:ea typeface="Noto Sans CJK KR"/>
                <a:cs typeface="Noto Sans CJK KR"/>
              </a:rPr>
              <a:t>시장을 상품과 연결</a:t>
            </a:r>
          </a:p>
        </p:txBody>
      </p:sp>
      <p:sp>
        <p:nvSpPr>
          <p:cNvPr id="8" name="">
            <a:extLst xmlns:a="http://schemas.openxmlformats.org/drawingml/2006/main">
              <a:ext uri="{FF2B5EF4-FFF2-40B4-BE49-F238E27FC236}">
                <a16:creationId xmlns:a16="http://schemas.microsoft.com/office/drawing/2014/main" id="{2FEA1B7F-80F3-4147-8E33-4D420AB349D5}"/>
              </a:ext>
            </a:extLst>
          </p:cNvPr>
          <p:cNvSpPr>
            <a:spLocks xmlns:a="http://schemas.openxmlformats.org/drawingml/2006/main" noGrp="1"/>
          </p:cNvSpPr>
          <p:nvPr/>
        </p:nvSpPr>
        <p:spPr>
          <a:xfrm xmlns:a="http://schemas.openxmlformats.org/drawingml/2006/main">
            <a:off x="838200" y="3514725"/>
            <a:ext cx="304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5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오늘의 시장 변화로</a:t>
            </a:r>
          </a:p>
          <a:p xmlns:a="http://schemas.openxmlformats.org/drawingml/2006/main">
            <a:pPr algn="l">
              <a:lnSpc>
                <a:spcPct val="15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할인 대상과 가격을 결정</a:t>
            </a:r>
          </a:p>
        </p:txBody>
      </p:sp>
      <p:sp>
        <p:nvSpPr>
          <p:cNvPr id="9" name="">
            <a:extLst xmlns:a="http://schemas.openxmlformats.org/drawingml/2006/main">
              <a:ext uri="{FF2B5EF4-FFF2-40B4-BE49-F238E27FC236}">
                <a16:creationId xmlns:a16="http://schemas.microsoft.com/office/drawing/2014/main" id="{0B87F019-40D9-4D21-B7C9-6F77E93D523D}"/>
              </a:ext>
            </a:extLst>
          </p:cNvPr>
          <p:cNvSpPr>
            <a:spLocks xmlns:a="http://schemas.openxmlformats.org/drawingml/2006/main" noGrp="1"/>
          </p:cNvSpPr>
          <p:nvPr/>
        </p:nvSpPr>
        <p:spPr>
          <a:xfrm xmlns:a="http://schemas.openxmlformats.org/drawingml/2006/main">
            <a:off x="838200" y="46291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123F34"/>
                </a:solidFill>
                <a:latin typeface="Noto Sans CJK KR"/>
                <a:ea typeface="Noto Sans CJK KR"/>
                <a:cs typeface="Noto Sans CJK KR"/>
              </a:defRPr>
            </a:pPr>
            <a:r>
              <a:rPr sz="1500" b="1">
                <a:solidFill>
                  <a:srgbClr val="123F34"/>
                </a:solidFill>
                <a:latin typeface="Noto Sans CJK KR"/>
                <a:ea typeface="Noto Sans CJK KR"/>
                <a:cs typeface="Noto Sans CJK KR"/>
              </a:rPr>
              <a:t>매일 방문할 이유</a:t>
            </a:r>
          </a:p>
        </p:txBody>
      </p:sp>
      <p:sp>
        <p:nvSpPr>
          <p:cNvPr id="10" name="">
            <a:extLst xmlns:a="http://schemas.openxmlformats.org/drawingml/2006/main">
              <a:ext uri="{FF2B5EF4-FFF2-40B4-BE49-F238E27FC236}">
                <a16:creationId xmlns:a16="http://schemas.microsoft.com/office/drawing/2014/main" id="{C23FE8BF-CE17-425E-9CAD-B3FFA0C14CCD}"/>
              </a:ext>
            </a:extLst>
          </p:cNvPr>
          <p:cNvSpPr>
            <a:spLocks xmlns:a="http://schemas.openxmlformats.org/drawingml/2006/main" noGrp="1"/>
          </p:cNvSpPr>
          <p:nvPr/>
        </p:nvSpPr>
        <p:spPr>
          <a:xfrm xmlns:a="http://schemas.openxmlformats.org/drawingml/2006/main">
            <a:off x="4343400" y="2228850"/>
            <a:ext cx="3505200" cy="28956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3C8B380-F11F-48A4-BE3A-E75606EA394E}"/>
              </a:ext>
            </a:extLst>
          </p:cNvPr>
          <p:cNvSpPr>
            <a:spLocks xmlns:a="http://schemas.openxmlformats.org/drawingml/2006/main" noGrp="1"/>
          </p:cNvSpPr>
          <p:nvPr/>
        </p:nvSpPr>
        <p:spPr>
          <a:xfrm xmlns:a="http://schemas.openxmlformats.org/drawingml/2006/main">
            <a:off x="4572000" y="240030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C85B35"/>
                </a:solidFill>
                <a:latin typeface="Noto Sans CJK KR"/>
                <a:ea typeface="Noto Sans CJK KR"/>
                <a:cs typeface="Noto Sans CJK KR"/>
              </a:defRPr>
            </a:pPr>
            <a:r>
              <a:rPr sz="1650" b="1">
                <a:solidFill>
                  <a:srgbClr val="C85B35"/>
                </a:solidFill>
                <a:latin typeface="Noto Sans CJK KR"/>
                <a:ea typeface="Noto Sans CJK KR"/>
                <a:cs typeface="Noto Sans CJK KR"/>
              </a:rPr>
              <a:t>02</a:t>
            </a:r>
          </a:p>
        </p:txBody>
      </p:sp>
      <p:sp>
        <p:nvSpPr>
          <p:cNvPr id="12" name="">
            <a:extLst xmlns:a="http://schemas.openxmlformats.org/drawingml/2006/main">
              <a:ext uri="{FF2B5EF4-FFF2-40B4-BE49-F238E27FC236}">
                <a16:creationId xmlns:a16="http://schemas.microsoft.com/office/drawing/2014/main" id="{6630AE25-430B-4D74-AB4D-3277C4A4EB8D}"/>
              </a:ext>
            </a:extLst>
          </p:cNvPr>
          <p:cNvSpPr>
            <a:spLocks xmlns:a="http://schemas.openxmlformats.org/drawingml/2006/main" noGrp="1"/>
          </p:cNvSpPr>
          <p:nvPr/>
        </p:nvSpPr>
        <p:spPr>
          <a:xfrm xmlns:a="http://schemas.openxmlformats.org/drawingml/2006/main">
            <a:off x="4572000" y="2867025"/>
            <a:ext cx="304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123F34"/>
                </a:solidFill>
                <a:latin typeface="Noto Sans CJK KR"/>
                <a:ea typeface="Noto Sans CJK KR"/>
                <a:cs typeface="Noto Sans CJK KR"/>
              </a:defRPr>
            </a:pPr>
            <a:r>
              <a:rPr sz="1950" b="1">
                <a:solidFill>
                  <a:srgbClr val="123F34"/>
                </a:solidFill>
                <a:latin typeface="Noto Sans CJK KR"/>
                <a:ea typeface="Noto Sans CJK KR"/>
                <a:cs typeface="Noto Sans CJK KR"/>
              </a:rPr>
              <a:t>관심을 구매로 연결</a:t>
            </a:r>
          </a:p>
        </p:txBody>
      </p:sp>
      <p:sp>
        <p:nvSpPr>
          <p:cNvPr id="13" name="">
            <a:extLst xmlns:a="http://schemas.openxmlformats.org/drawingml/2006/main">
              <a:ext uri="{FF2B5EF4-FFF2-40B4-BE49-F238E27FC236}">
                <a16:creationId xmlns:a16="http://schemas.microsoft.com/office/drawing/2014/main" id="{D694A7EB-F0A3-45F9-9324-72417DC5CFDB}"/>
              </a:ext>
            </a:extLst>
          </p:cNvPr>
          <p:cNvSpPr>
            <a:spLocks xmlns:a="http://schemas.openxmlformats.org/drawingml/2006/main" noGrp="1"/>
          </p:cNvSpPr>
          <p:nvPr/>
        </p:nvSpPr>
        <p:spPr>
          <a:xfrm xmlns:a="http://schemas.openxmlformats.org/drawingml/2006/main">
            <a:off x="4572000" y="3514725"/>
            <a:ext cx="304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5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고객의 선호와 구매이력으로</a:t>
            </a:r>
          </a:p>
          <a:p xmlns:a="http://schemas.openxmlformats.org/drawingml/2006/main">
            <a:pPr algn="l">
              <a:lnSpc>
                <a:spcPct val="15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관심 상품을 다시 제안</a:t>
            </a:r>
          </a:p>
        </p:txBody>
      </p:sp>
      <p:sp>
        <p:nvSpPr>
          <p:cNvPr id="14" name="">
            <a:extLst xmlns:a="http://schemas.openxmlformats.org/drawingml/2006/main">
              <a:ext uri="{FF2B5EF4-FFF2-40B4-BE49-F238E27FC236}">
                <a16:creationId xmlns:a16="http://schemas.microsoft.com/office/drawing/2014/main" id="{EFD9C63F-3114-445C-9959-B45D00FB637B}"/>
              </a:ext>
            </a:extLst>
          </p:cNvPr>
          <p:cNvSpPr>
            <a:spLocks xmlns:a="http://schemas.openxmlformats.org/drawingml/2006/main" noGrp="1"/>
          </p:cNvSpPr>
          <p:nvPr/>
        </p:nvSpPr>
        <p:spPr>
          <a:xfrm xmlns:a="http://schemas.openxmlformats.org/drawingml/2006/main">
            <a:off x="4572000" y="46291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123F34"/>
                </a:solidFill>
                <a:latin typeface="Noto Sans CJK KR"/>
                <a:ea typeface="Noto Sans CJK KR"/>
                <a:cs typeface="Noto Sans CJK KR"/>
              </a:defRPr>
            </a:pPr>
            <a:r>
              <a:rPr sz="1500" b="1">
                <a:solidFill>
                  <a:srgbClr val="123F34"/>
                </a:solidFill>
                <a:latin typeface="Noto Sans CJK KR"/>
                <a:ea typeface="Noto Sans CJK KR"/>
                <a:cs typeface="Noto Sans CJK KR"/>
              </a:rPr>
              <a:t>다시 찾을 이유</a:t>
            </a:r>
          </a:p>
        </p:txBody>
      </p:sp>
      <p:sp>
        <p:nvSpPr>
          <p:cNvPr id="15" name="">
            <a:extLst xmlns:a="http://schemas.openxmlformats.org/drawingml/2006/main">
              <a:ext uri="{FF2B5EF4-FFF2-40B4-BE49-F238E27FC236}">
                <a16:creationId xmlns:a16="http://schemas.microsoft.com/office/drawing/2014/main" id="{3C3E93D3-8BAA-4887-862B-E1E2DE2F905D}"/>
              </a:ext>
            </a:extLst>
          </p:cNvPr>
          <p:cNvSpPr>
            <a:spLocks xmlns:a="http://schemas.openxmlformats.org/drawingml/2006/main" noGrp="1"/>
          </p:cNvSpPr>
          <p:nvPr/>
        </p:nvSpPr>
        <p:spPr>
          <a:xfrm xmlns:a="http://schemas.openxmlformats.org/drawingml/2006/main">
            <a:off x="8077200" y="2228850"/>
            <a:ext cx="3505200" cy="28956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4F0A9EF-064C-4551-BE47-814CA8AA707F}"/>
              </a:ext>
            </a:extLst>
          </p:cNvPr>
          <p:cNvSpPr>
            <a:spLocks xmlns:a="http://schemas.openxmlformats.org/drawingml/2006/main" noGrp="1"/>
          </p:cNvSpPr>
          <p:nvPr/>
        </p:nvSpPr>
        <p:spPr>
          <a:xfrm xmlns:a="http://schemas.openxmlformats.org/drawingml/2006/main">
            <a:off x="8305800" y="240030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C85B35"/>
                </a:solidFill>
                <a:latin typeface="Noto Sans CJK KR"/>
                <a:ea typeface="Noto Sans CJK KR"/>
                <a:cs typeface="Noto Sans CJK KR"/>
              </a:defRPr>
            </a:pPr>
            <a:r>
              <a:rPr sz="1650" b="1">
                <a:solidFill>
                  <a:srgbClr val="C85B35"/>
                </a:solidFill>
                <a:latin typeface="Noto Sans CJK KR"/>
                <a:ea typeface="Noto Sans CJK KR"/>
                <a:cs typeface="Noto Sans CJK KR"/>
              </a:rPr>
              <a:t>03</a:t>
            </a:r>
          </a:p>
        </p:txBody>
      </p:sp>
      <p:sp>
        <p:nvSpPr>
          <p:cNvPr id="17" name="">
            <a:extLst xmlns:a="http://schemas.openxmlformats.org/drawingml/2006/main">
              <a:ext uri="{FF2B5EF4-FFF2-40B4-BE49-F238E27FC236}">
                <a16:creationId xmlns:a16="http://schemas.microsoft.com/office/drawing/2014/main" id="{C417E071-3DB2-4BAE-8E70-4C1CEBDBD288}"/>
              </a:ext>
            </a:extLst>
          </p:cNvPr>
          <p:cNvSpPr>
            <a:spLocks xmlns:a="http://schemas.openxmlformats.org/drawingml/2006/main" noGrp="1"/>
          </p:cNvSpPr>
          <p:nvPr/>
        </p:nvSpPr>
        <p:spPr>
          <a:xfrm xmlns:a="http://schemas.openxmlformats.org/drawingml/2006/main">
            <a:off x="8305800" y="2867025"/>
            <a:ext cx="304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123F34"/>
                </a:solidFill>
                <a:latin typeface="Noto Sans CJK KR"/>
                <a:ea typeface="Noto Sans CJK KR"/>
                <a:cs typeface="Noto Sans CJK KR"/>
              </a:defRPr>
            </a:pPr>
            <a:r>
              <a:rPr sz="1950" b="1">
                <a:solidFill>
                  <a:srgbClr val="123F34"/>
                </a:solidFill>
                <a:latin typeface="Noto Sans CJK KR"/>
                <a:ea typeface="Noto Sans CJK KR"/>
                <a:cs typeface="Noto Sans CJK KR"/>
              </a:rPr>
              <a:t>참여를 재방문으로 연결</a:t>
            </a:r>
          </a:p>
        </p:txBody>
      </p:sp>
      <p:sp>
        <p:nvSpPr>
          <p:cNvPr id="18" name="">
            <a:extLst xmlns:a="http://schemas.openxmlformats.org/drawingml/2006/main">
              <a:ext uri="{FF2B5EF4-FFF2-40B4-BE49-F238E27FC236}">
                <a16:creationId xmlns:a16="http://schemas.microsoft.com/office/drawing/2014/main" id="{E451834E-9F9A-478A-B6AA-BFC2A99F557C}"/>
              </a:ext>
            </a:extLst>
          </p:cNvPr>
          <p:cNvSpPr>
            <a:spLocks xmlns:a="http://schemas.openxmlformats.org/drawingml/2006/main" noGrp="1"/>
          </p:cNvSpPr>
          <p:nvPr/>
        </p:nvSpPr>
        <p:spPr>
          <a:xfrm xmlns:a="http://schemas.openxmlformats.org/drawingml/2006/main">
            <a:off x="8305800" y="3514725"/>
            <a:ext cx="304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5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활동 기록과 보상으로</a:t>
            </a:r>
          </a:p>
          <a:p xmlns:a="http://schemas.openxmlformats.org/drawingml/2006/main">
            <a:pPr algn="l">
              <a:lnSpc>
                <a:spcPct val="15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다음 방문과 구매를 유도</a:t>
            </a:r>
          </a:p>
        </p:txBody>
      </p:sp>
      <p:sp>
        <p:nvSpPr>
          <p:cNvPr id="19" name="">
            <a:extLst xmlns:a="http://schemas.openxmlformats.org/drawingml/2006/main">
              <a:ext uri="{FF2B5EF4-FFF2-40B4-BE49-F238E27FC236}">
                <a16:creationId xmlns:a16="http://schemas.microsoft.com/office/drawing/2014/main" id="{EACBC68B-2C95-4C19-8A8D-C5F3B2C71B54}"/>
              </a:ext>
            </a:extLst>
          </p:cNvPr>
          <p:cNvSpPr>
            <a:spLocks xmlns:a="http://schemas.openxmlformats.org/drawingml/2006/main" noGrp="1"/>
          </p:cNvSpPr>
          <p:nvPr/>
        </p:nvSpPr>
        <p:spPr>
          <a:xfrm xmlns:a="http://schemas.openxmlformats.org/drawingml/2006/main">
            <a:off x="8305800" y="46291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123F34"/>
                </a:solidFill>
                <a:latin typeface="Noto Sans CJK KR"/>
                <a:ea typeface="Noto Sans CJK KR"/>
                <a:cs typeface="Noto Sans CJK KR"/>
              </a:defRPr>
            </a:pPr>
            <a:r>
              <a:rPr sz="1500" b="1">
                <a:solidFill>
                  <a:srgbClr val="123F34"/>
                </a:solidFill>
                <a:latin typeface="Noto Sans CJK KR"/>
                <a:ea typeface="Noto Sans CJK KR"/>
                <a:cs typeface="Noto Sans CJK KR"/>
              </a:rPr>
              <a:t>자발적으로 참여할 이유</a:t>
            </a:r>
          </a:p>
        </p:txBody>
      </p:sp>
      <p:sp>
        <p:nvSpPr>
          <p:cNvPr id="20" name="">
            <a:extLst xmlns:a="http://schemas.openxmlformats.org/drawingml/2006/main">
              <a:ext uri="{FF2B5EF4-FFF2-40B4-BE49-F238E27FC236}">
                <a16:creationId xmlns:a16="http://schemas.microsoft.com/office/drawing/2014/main" id="{D31DDD08-42DB-4AB0-B9EB-8DB85FCEB317}"/>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B3228DE-850E-4966-BDD1-ABB3EB454020}"/>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빵시장 MVP를 실제로 구현하고, 재방문과 구매전환으로 효과를 검증합니다.</a:t>
            </a:r>
          </a:p>
        </p:txBody>
      </p:sp>
    </p:spTree>
    <p:extLst>
      <p:ext uri="{BB962C8B-B14F-4D97-AF65-F5344CB8AC3E}">
        <p14:creationId xmlns:p14="http://schemas.microsoft.com/office/powerpoint/2010/main" val="1013571318"/>
      </p:ext>
    </p:extLst>
  </p:cSld>
</p:sld>
</file>

<file path=ppt/slides/slide3.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B908A22-9613-48F6-80D3-8E7BF0153DA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빵시장의 관심을 기록해 주말 재방문으로 이어갑니다</a:t>
            </a:r>
          </a:p>
        </p:txBody>
      </p:sp>
      <p:sp>
        <p:nvSpPr>
          <p:cNvPr id="2" name="">
            <a:extLst xmlns:a="http://schemas.openxmlformats.org/drawingml/2006/main">
              <a:ext uri="{FF2B5EF4-FFF2-40B4-BE49-F238E27FC236}">
                <a16:creationId xmlns:a16="http://schemas.microsoft.com/office/drawing/2014/main" id="{C3198998-A7A9-47C9-9F3B-7A1063099D9A}"/>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빵시장이 중심이고, 포트폴리오와 배당금이 다음 행동을 연결합니다.</a:t>
            </a:r>
          </a:p>
        </p:txBody>
      </p:sp>
      <p:sp>
        <p:nvSpPr>
          <p:cNvPr id="3" name="">
            <a:extLst xmlns:a="http://schemas.openxmlformats.org/drawingml/2006/main">
              <a:ext uri="{FF2B5EF4-FFF2-40B4-BE49-F238E27FC236}">
                <a16:creationId xmlns:a16="http://schemas.microsoft.com/office/drawing/2014/main" id="{EF42232A-86E2-49D1-BAD8-72EE4C66F4AD}"/>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5199F91E-C81F-4D79-B232-96CC2981642D}"/>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03</a:t>
            </a:r>
          </a:p>
        </p:txBody>
      </p:sp>
      <p:sp>
        <p:nvSpPr>
          <p:cNvPr id="5" name="">
            <a:extLst xmlns:a="http://schemas.openxmlformats.org/drawingml/2006/main">
              <a:ext uri="{FF2B5EF4-FFF2-40B4-BE49-F238E27FC236}">
                <a16:creationId xmlns:a16="http://schemas.microsoft.com/office/drawing/2014/main" id="{80102D47-55E4-487F-80D3-5C283CA04F3D}"/>
              </a:ext>
            </a:extLst>
          </p:cNvPr>
          <p:cNvSpPr>
            <a:spLocks xmlns:a="http://schemas.openxmlformats.org/drawingml/2006/main" noGrp="1"/>
          </p:cNvSpPr>
          <p:nvPr/>
        </p:nvSpPr>
        <p:spPr>
          <a:xfrm xmlns:a="http://schemas.openxmlformats.org/drawingml/2006/main">
            <a:off x="609600" y="2095500"/>
            <a:ext cx="5257800" cy="17716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46AEF1F-3708-4652-B798-E5D7F83B0086}"/>
              </a:ext>
            </a:extLst>
          </p:cNvPr>
          <p:cNvSpPr>
            <a:spLocks xmlns:a="http://schemas.openxmlformats.org/drawingml/2006/main" noGrp="1"/>
          </p:cNvSpPr>
          <p:nvPr/>
        </p:nvSpPr>
        <p:spPr>
          <a:xfrm xmlns:a="http://schemas.openxmlformats.org/drawingml/2006/main">
            <a:off x="6324600" y="2095500"/>
            <a:ext cx="5257800" cy="177165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380FD16-3755-481D-8B6C-75EF56FF33DE}"/>
              </a:ext>
            </a:extLst>
          </p:cNvPr>
          <p:cNvSpPr>
            <a:spLocks xmlns:a="http://schemas.openxmlformats.org/drawingml/2006/main" noGrp="1"/>
          </p:cNvSpPr>
          <p:nvPr/>
        </p:nvSpPr>
        <p:spPr>
          <a:xfrm xmlns:a="http://schemas.openxmlformats.org/drawingml/2006/main">
            <a:off x="876300" y="228600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F6F0E6"/>
                </a:solidFill>
                <a:latin typeface="Noto Sans CJK KR"/>
                <a:ea typeface="Noto Sans CJK KR"/>
                <a:cs typeface="Noto Sans CJK KR"/>
              </a:defRPr>
            </a:pPr>
            <a:r>
              <a:rPr sz="2250" b="1">
                <a:solidFill>
                  <a:srgbClr val="F6F0E6"/>
                </a:solidFill>
                <a:latin typeface="Noto Sans CJK KR"/>
                <a:ea typeface="Noto Sans CJK KR"/>
                <a:cs typeface="Noto Sans CJK KR"/>
              </a:rPr>
              <a:t>1  빵시장</a:t>
            </a:r>
          </a:p>
        </p:txBody>
      </p:sp>
      <p:sp>
        <p:nvSpPr>
          <p:cNvPr id="8" name="">
            <a:extLst xmlns:a="http://schemas.openxmlformats.org/drawingml/2006/main">
              <a:ext uri="{FF2B5EF4-FFF2-40B4-BE49-F238E27FC236}">
                <a16:creationId xmlns:a16="http://schemas.microsoft.com/office/drawing/2014/main" id="{6A612184-BA6F-4399-8DB4-11ADE20F6C42}"/>
              </a:ext>
            </a:extLst>
          </p:cNvPr>
          <p:cNvSpPr>
            <a:spLocks xmlns:a="http://schemas.openxmlformats.org/drawingml/2006/main" noGrp="1"/>
          </p:cNvSpPr>
          <p:nvPr/>
        </p:nvSpPr>
        <p:spPr>
          <a:xfrm xmlns:a="http://schemas.openxmlformats.org/drawingml/2006/main">
            <a:off x="876300" y="2867025"/>
            <a:ext cx="472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F6F0E6"/>
                </a:solidFill>
                <a:latin typeface="Noto Sans CJK KR"/>
                <a:ea typeface="Noto Sans CJK KR"/>
                <a:cs typeface="Noto Sans CJK KR"/>
              </a:defRPr>
            </a:pPr>
            <a:r>
              <a:rPr sz="1725" b="0">
                <a:solidFill>
                  <a:srgbClr val="F6F0E6"/>
                </a:solidFill>
                <a:latin typeface="Noto Sans CJK KR"/>
                <a:ea typeface="Noto Sans CJK KR"/>
                <a:cs typeface="Noto Sans CJK KR"/>
              </a:rPr>
              <a:t>거래일 15:30–24:00</a:t>
            </a:r>
          </a:p>
        </p:txBody>
      </p:sp>
      <p:sp>
        <p:nvSpPr>
          <p:cNvPr id="9" name="">
            <a:extLst xmlns:a="http://schemas.openxmlformats.org/drawingml/2006/main">
              <a:ext uri="{FF2B5EF4-FFF2-40B4-BE49-F238E27FC236}">
                <a16:creationId xmlns:a16="http://schemas.microsoft.com/office/drawing/2014/main" id="{C53707C0-EB12-4F1C-8C59-A89F12EDB7F7}"/>
              </a:ext>
            </a:extLst>
          </p:cNvPr>
          <p:cNvSpPr>
            <a:spLocks xmlns:a="http://schemas.openxmlformats.org/drawingml/2006/main" noGrp="1"/>
          </p:cNvSpPr>
          <p:nvPr/>
        </p:nvSpPr>
        <p:spPr>
          <a:xfrm xmlns:a="http://schemas.openxmlformats.org/drawingml/2006/main">
            <a:off x="876300" y="3324225"/>
            <a:ext cx="472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F6F0E6"/>
                </a:solidFill>
                <a:latin typeface="Noto Sans CJK KR"/>
                <a:ea typeface="Noto Sans CJK KR"/>
                <a:cs typeface="Noto Sans CJK KR"/>
              </a:defRPr>
            </a:pPr>
            <a:r>
              <a:rPr sz="1725" b="0">
                <a:solidFill>
                  <a:srgbClr val="F6F0E6"/>
                </a:solidFill>
                <a:latin typeface="Noto Sans CJK KR"/>
                <a:ea typeface="Noto Sans CJK KR"/>
                <a:cs typeface="Noto Sans CJK KR"/>
              </a:rPr>
              <a:t>시장 변화로 오늘 살 이유를 만듭니다.</a:t>
            </a:r>
          </a:p>
        </p:txBody>
      </p:sp>
      <p:sp>
        <p:nvSpPr>
          <p:cNvPr id="10" name="">
            <a:extLst xmlns:a="http://schemas.openxmlformats.org/drawingml/2006/main">
              <a:ext uri="{FF2B5EF4-FFF2-40B4-BE49-F238E27FC236}">
                <a16:creationId xmlns:a16="http://schemas.microsoft.com/office/drawing/2014/main" id="{94C40EA4-C636-4CFD-940A-814D7362FD0A}"/>
              </a:ext>
            </a:extLst>
          </p:cNvPr>
          <p:cNvSpPr>
            <a:spLocks xmlns:a="http://schemas.openxmlformats.org/drawingml/2006/main" noGrp="1"/>
          </p:cNvSpPr>
          <p:nvPr/>
        </p:nvSpPr>
        <p:spPr>
          <a:xfrm xmlns:a="http://schemas.openxmlformats.org/drawingml/2006/main">
            <a:off x="6591300" y="228600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123F34"/>
                </a:solidFill>
                <a:latin typeface="Noto Sans CJK KR"/>
                <a:ea typeface="Noto Sans CJK KR"/>
                <a:cs typeface="Noto Sans CJK KR"/>
              </a:defRPr>
            </a:pPr>
            <a:r>
              <a:rPr sz="2250" b="1">
                <a:solidFill>
                  <a:srgbClr val="123F34"/>
                </a:solidFill>
                <a:latin typeface="Noto Sans CJK KR"/>
                <a:ea typeface="Noto Sans CJK KR"/>
                <a:cs typeface="Noto Sans CJK KR"/>
              </a:rPr>
              <a:t>3  주말 배당금</a:t>
            </a:r>
          </a:p>
        </p:txBody>
      </p:sp>
      <p:sp>
        <p:nvSpPr>
          <p:cNvPr id="11" name="">
            <a:extLst xmlns:a="http://schemas.openxmlformats.org/drawingml/2006/main">
              <a:ext uri="{FF2B5EF4-FFF2-40B4-BE49-F238E27FC236}">
                <a16:creationId xmlns:a16="http://schemas.microsoft.com/office/drawing/2014/main" id="{8E1C9BAF-40BF-4AC3-88AF-AC161A5CB33A}"/>
              </a:ext>
            </a:extLst>
          </p:cNvPr>
          <p:cNvSpPr>
            <a:spLocks xmlns:a="http://schemas.openxmlformats.org/drawingml/2006/main" noGrp="1"/>
          </p:cNvSpPr>
          <p:nvPr/>
        </p:nvSpPr>
        <p:spPr>
          <a:xfrm xmlns:a="http://schemas.openxmlformats.org/drawingml/2006/main">
            <a:off x="6591300" y="2867025"/>
            <a:ext cx="472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토·일, 평일 활동 결산</a:t>
            </a:r>
          </a:p>
        </p:txBody>
      </p:sp>
      <p:sp>
        <p:nvSpPr>
          <p:cNvPr id="12" name="">
            <a:extLst xmlns:a="http://schemas.openxmlformats.org/drawingml/2006/main">
              <a:ext uri="{FF2B5EF4-FFF2-40B4-BE49-F238E27FC236}">
                <a16:creationId xmlns:a16="http://schemas.microsoft.com/office/drawing/2014/main" id="{18CD9491-26F0-44EC-8FFD-527CBC51E8B3}"/>
              </a:ext>
            </a:extLst>
          </p:cNvPr>
          <p:cNvSpPr>
            <a:spLocks xmlns:a="http://schemas.openxmlformats.org/drawingml/2006/main" noGrp="1"/>
          </p:cNvSpPr>
          <p:nvPr/>
        </p:nvSpPr>
        <p:spPr>
          <a:xfrm xmlns:a="http://schemas.openxmlformats.org/drawingml/2006/main">
            <a:off x="6591300" y="3324225"/>
            <a:ext cx="472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휴장일에 다시 올 이유를 만듭니다.</a:t>
            </a:r>
          </a:p>
        </p:txBody>
      </p:sp>
      <p:sp>
        <p:nvSpPr>
          <p:cNvPr id="13" name="">
            <a:extLst xmlns:a="http://schemas.openxmlformats.org/drawingml/2006/main">
              <a:ext uri="{FF2B5EF4-FFF2-40B4-BE49-F238E27FC236}">
                <a16:creationId xmlns:a16="http://schemas.microsoft.com/office/drawing/2014/main" id="{16E69774-A023-4C5E-B4EF-6FD53F28A8B7}"/>
              </a:ext>
            </a:extLst>
          </p:cNvPr>
          <p:cNvSpPr>
            <a:spLocks xmlns:a="http://schemas.openxmlformats.org/drawingml/2006/main" noGrp="1"/>
          </p:cNvSpPr>
          <p:nvPr/>
        </p:nvSpPr>
        <p:spPr>
          <a:xfrm xmlns:a="http://schemas.openxmlformats.org/drawingml/2006/main">
            <a:off x="2990850" y="4010025"/>
            <a:ext cx="323850" cy="419100"/>
          </a:xfrm>
          <a:prstGeom xmlns:a="http://schemas.openxmlformats.org/drawingml/2006/main" prst="downArrow">
            <a:avLst/>
          </a:prstGeom>
          <a:solidFill xmlns:a="http://schemas.openxmlformats.org/drawingml/2006/main">
            <a:srgbClr val="C85B3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2BDCDC0-6630-4C9D-8FA6-25267259B9BF}"/>
              </a:ext>
            </a:extLst>
          </p:cNvPr>
          <p:cNvSpPr>
            <a:spLocks xmlns:a="http://schemas.openxmlformats.org/drawingml/2006/main" noGrp="1"/>
          </p:cNvSpPr>
          <p:nvPr/>
        </p:nvSpPr>
        <p:spPr>
          <a:xfrm xmlns:a="http://schemas.openxmlformats.org/drawingml/2006/main">
            <a:off x="8801100" y="4010025"/>
            <a:ext cx="323850" cy="419100"/>
          </a:xfrm>
          <a:prstGeom xmlns:a="http://schemas.openxmlformats.org/drawingml/2006/main" prst="upArrow">
            <a:avLst/>
          </a:prstGeom>
          <a:solidFill xmlns:a="http://schemas.openxmlformats.org/drawingml/2006/main">
            <a:srgbClr val="C85B3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185C026-7F09-4EC6-BFEF-B5F5F6A6E3A6}"/>
              </a:ext>
            </a:extLst>
          </p:cNvPr>
          <p:cNvSpPr>
            <a:spLocks xmlns:a="http://schemas.openxmlformats.org/drawingml/2006/main" noGrp="1"/>
          </p:cNvSpPr>
          <p:nvPr/>
        </p:nvSpPr>
        <p:spPr>
          <a:xfrm xmlns:a="http://schemas.openxmlformats.org/drawingml/2006/main">
            <a:off x="609600" y="4572000"/>
            <a:ext cx="10972800" cy="9906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4928CFA-7287-41B1-9AFA-E9C09262CE88}"/>
              </a:ext>
            </a:extLst>
          </p:cNvPr>
          <p:cNvSpPr>
            <a:spLocks xmlns:a="http://schemas.openxmlformats.org/drawingml/2006/main" noGrp="1"/>
          </p:cNvSpPr>
          <p:nvPr/>
        </p:nvSpPr>
        <p:spPr>
          <a:xfrm xmlns:a="http://schemas.openxmlformats.org/drawingml/2006/main">
            <a:off x="876300" y="4714875"/>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2  빵 포트폴리오</a:t>
            </a:r>
          </a:p>
        </p:txBody>
      </p:sp>
      <p:sp>
        <p:nvSpPr>
          <p:cNvPr id="17" name="">
            <a:extLst xmlns:a="http://schemas.openxmlformats.org/drawingml/2006/main">
              <a:ext uri="{FF2B5EF4-FFF2-40B4-BE49-F238E27FC236}">
                <a16:creationId xmlns:a16="http://schemas.microsoft.com/office/drawing/2014/main" id="{3005B9E9-CCF4-44FC-A7AD-F6ED8EB71B5F}"/>
              </a:ext>
            </a:extLst>
          </p:cNvPr>
          <p:cNvSpPr>
            <a:spLocks xmlns:a="http://schemas.openxmlformats.org/drawingml/2006/main" noGrp="1"/>
          </p:cNvSpPr>
          <p:nvPr/>
        </p:nvSpPr>
        <p:spPr>
          <a:xfrm xmlns:a="http://schemas.openxmlformats.org/drawingml/2006/main">
            <a:off x="4362450" y="4695825"/>
            <a:ext cx="693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0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관심·장바구니·알림 반응·구매를 기록하고</a:t>
            </a:r>
          </a:p>
          <a:p xmlns:a="http://schemas.openxmlformats.org/drawingml/2006/main">
            <a:pPr algn="l">
              <a:lnSpc>
                <a:spcPct val="140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다음 알림과 주간 결산의 근거로 활용합니다.</a:t>
            </a:r>
          </a:p>
        </p:txBody>
      </p:sp>
      <p:sp>
        <p:nvSpPr>
          <p:cNvPr id="18" name="">
            <a:extLst xmlns:a="http://schemas.openxmlformats.org/drawingml/2006/main">
              <a:ext uri="{FF2B5EF4-FFF2-40B4-BE49-F238E27FC236}">
                <a16:creationId xmlns:a16="http://schemas.microsoft.com/office/drawing/2014/main" id="{A521DC35-D675-4456-BE9E-E47E935CEF8B}"/>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계절 공모주는 별도로 운영하는 신제품 수요 검증 이벤트입니다.</a:t>
            </a:r>
          </a:p>
        </p:txBody>
      </p:sp>
    </p:spTree>
    <p:extLst>
      <p:ext uri="{BB962C8B-B14F-4D97-AF65-F5344CB8AC3E}">
        <p14:creationId xmlns:p14="http://schemas.microsoft.com/office/powerpoint/2010/main" val="967221158"/>
      </p:ext>
    </p:extLst>
  </p:cSld>
</p:sld>
</file>

<file path=ppt/slides/slide4.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22ED3EB-074C-4776-B4E3-A4019E7F539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15시 30분, 오늘의 시장에 맞는 빵 할인이 시작됩니다</a:t>
            </a:r>
          </a:p>
        </p:txBody>
      </p:sp>
      <p:sp>
        <p:nvSpPr>
          <p:cNvPr id="2" name="">
            <a:extLst xmlns:a="http://schemas.openxmlformats.org/drawingml/2006/main">
              <a:ext uri="{FF2B5EF4-FFF2-40B4-BE49-F238E27FC236}">
                <a16:creationId xmlns:a16="http://schemas.microsoft.com/office/drawing/2014/main" id="{16F74129-60A5-417B-907A-013AAE470B7F}"/>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국장 종가로 할인 대상과 가격을 확정하고, 당일 자정에 정상가로 복원합니다.</a:t>
            </a:r>
          </a:p>
        </p:txBody>
      </p:sp>
      <p:sp>
        <p:nvSpPr>
          <p:cNvPr id="3" name="">
            <a:extLst xmlns:a="http://schemas.openxmlformats.org/drawingml/2006/main">
              <a:ext uri="{FF2B5EF4-FFF2-40B4-BE49-F238E27FC236}">
                <a16:creationId xmlns:a16="http://schemas.microsoft.com/office/drawing/2014/main" id="{517B8062-AE4A-4C01-A4E0-DE96A8FBC932}"/>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915A17C3-F1F9-47F4-AD54-7ED04E14C81C}"/>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04</a:t>
            </a:r>
          </a:p>
        </p:txBody>
      </p:sp>
      <p:sp>
        <p:nvSpPr>
          <p:cNvPr id="5" name="">
            <a:extLst xmlns:a="http://schemas.openxmlformats.org/drawingml/2006/main">
              <a:ext uri="{FF2B5EF4-FFF2-40B4-BE49-F238E27FC236}">
                <a16:creationId xmlns:a16="http://schemas.microsoft.com/office/drawing/2014/main" id="{380054A5-1669-4D84-8C3A-A1DC1D9EB41B}"/>
              </a:ext>
            </a:extLst>
          </p:cNvPr>
          <p:cNvSpPr>
            <a:spLocks xmlns:a="http://schemas.openxmlformats.org/drawingml/2006/main" noGrp="1"/>
          </p:cNvSpPr>
          <p:nvPr/>
        </p:nvSpPr>
        <p:spPr>
          <a:xfrm xmlns:a="http://schemas.openxmlformats.org/drawingml/2006/main">
            <a:off x="609600" y="2038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장 마감 전</a:t>
            </a:r>
          </a:p>
        </p:txBody>
      </p:sp>
      <p:sp>
        <p:nvSpPr>
          <p:cNvPr id="6" name="">
            <a:extLst xmlns:a="http://schemas.openxmlformats.org/drawingml/2006/main">
              <a:ext uri="{FF2B5EF4-FFF2-40B4-BE49-F238E27FC236}">
                <a16:creationId xmlns:a16="http://schemas.microsoft.com/office/drawing/2014/main" id="{5C3FE190-A8DB-4B75-9B4B-F5F7BB18C79C}"/>
              </a:ext>
            </a:extLst>
          </p:cNvPr>
          <p:cNvSpPr>
            <a:spLocks xmlns:a="http://schemas.openxmlformats.org/drawingml/2006/main" noGrp="1"/>
          </p:cNvSpPr>
          <p:nvPr/>
        </p:nvSpPr>
        <p:spPr>
          <a:xfrm xmlns:a="http://schemas.openxmlformats.org/drawingml/2006/main">
            <a:off x="609600" y="25241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시장 방향 확인</a:t>
            </a:r>
          </a:p>
        </p:txBody>
      </p:sp>
      <p:sp>
        <p:nvSpPr>
          <p:cNvPr id="7" name="">
            <a:extLst xmlns:a="http://schemas.openxmlformats.org/drawingml/2006/main">
              <a:ext uri="{FF2B5EF4-FFF2-40B4-BE49-F238E27FC236}">
                <a16:creationId xmlns:a16="http://schemas.microsoft.com/office/drawing/2014/main" id="{433494AC-511C-41EA-9BA3-F14EFD97B05A}"/>
              </a:ext>
            </a:extLst>
          </p:cNvPr>
          <p:cNvSpPr>
            <a:spLocks xmlns:a="http://schemas.openxmlformats.org/drawingml/2006/main" noGrp="1"/>
          </p:cNvSpPr>
          <p:nvPr/>
        </p:nvSpPr>
        <p:spPr>
          <a:xfrm xmlns:a="http://schemas.openxmlformats.org/drawingml/2006/main">
            <a:off x="3028950" y="2324100"/>
            <a:ext cx="257175" cy="17145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6873E63-3705-4259-B7B5-0C460C0DDF8B}"/>
              </a:ext>
            </a:extLst>
          </p:cNvPr>
          <p:cNvSpPr>
            <a:spLocks xmlns:a="http://schemas.openxmlformats.org/drawingml/2006/main" noGrp="1"/>
          </p:cNvSpPr>
          <p:nvPr/>
        </p:nvSpPr>
        <p:spPr>
          <a:xfrm xmlns:a="http://schemas.openxmlformats.org/drawingml/2006/main">
            <a:off x="3409950" y="2038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C85B35"/>
                </a:solidFill>
                <a:latin typeface="Noto Sans CJK KR"/>
                <a:ea typeface="Noto Sans CJK KR"/>
                <a:cs typeface="Noto Sans CJK KR"/>
              </a:defRPr>
            </a:pPr>
            <a:r>
              <a:rPr sz="2100" b="1">
                <a:solidFill>
                  <a:srgbClr val="C85B35"/>
                </a:solidFill>
                <a:latin typeface="Noto Sans CJK KR"/>
                <a:ea typeface="Noto Sans CJK KR"/>
                <a:cs typeface="Noto Sans CJK KR"/>
              </a:rPr>
              <a:t>15:30</a:t>
            </a:r>
          </a:p>
        </p:txBody>
      </p:sp>
      <p:sp>
        <p:nvSpPr>
          <p:cNvPr id="9" name="">
            <a:extLst xmlns:a="http://schemas.openxmlformats.org/drawingml/2006/main">
              <a:ext uri="{FF2B5EF4-FFF2-40B4-BE49-F238E27FC236}">
                <a16:creationId xmlns:a16="http://schemas.microsoft.com/office/drawing/2014/main" id="{00872885-20C1-4E4B-95CF-56BAC8F4C891}"/>
              </a:ext>
            </a:extLst>
          </p:cNvPr>
          <p:cNvSpPr>
            <a:spLocks xmlns:a="http://schemas.openxmlformats.org/drawingml/2006/main" noGrp="1"/>
          </p:cNvSpPr>
          <p:nvPr/>
        </p:nvSpPr>
        <p:spPr>
          <a:xfrm xmlns:a="http://schemas.openxmlformats.org/drawingml/2006/main">
            <a:off x="3409950" y="25241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빵장 개장</a:t>
            </a:r>
          </a:p>
        </p:txBody>
      </p:sp>
      <p:sp>
        <p:nvSpPr>
          <p:cNvPr id="10" name="">
            <a:extLst xmlns:a="http://schemas.openxmlformats.org/drawingml/2006/main">
              <a:ext uri="{FF2B5EF4-FFF2-40B4-BE49-F238E27FC236}">
                <a16:creationId xmlns:a16="http://schemas.microsoft.com/office/drawing/2014/main" id="{EF2C556B-40BA-4775-A2C7-88C3D8EF44FF}"/>
              </a:ext>
            </a:extLst>
          </p:cNvPr>
          <p:cNvSpPr>
            <a:spLocks xmlns:a="http://schemas.openxmlformats.org/drawingml/2006/main" noGrp="1"/>
          </p:cNvSpPr>
          <p:nvPr/>
        </p:nvSpPr>
        <p:spPr>
          <a:xfrm xmlns:a="http://schemas.openxmlformats.org/drawingml/2006/main">
            <a:off x="5829300" y="2324100"/>
            <a:ext cx="257175" cy="17145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FC6B3E6-A1B6-4C3C-8D75-29F0C13D9158}"/>
              </a:ext>
            </a:extLst>
          </p:cNvPr>
          <p:cNvSpPr>
            <a:spLocks xmlns:a="http://schemas.openxmlformats.org/drawingml/2006/main" noGrp="1"/>
          </p:cNvSpPr>
          <p:nvPr/>
        </p:nvSpPr>
        <p:spPr>
          <a:xfrm xmlns:a="http://schemas.openxmlformats.org/drawingml/2006/main">
            <a:off x="6210300" y="2038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15:30–24:00</a:t>
            </a:r>
          </a:p>
        </p:txBody>
      </p:sp>
      <p:sp>
        <p:nvSpPr>
          <p:cNvPr id="12" name="">
            <a:extLst xmlns:a="http://schemas.openxmlformats.org/drawingml/2006/main">
              <a:ext uri="{FF2B5EF4-FFF2-40B4-BE49-F238E27FC236}">
                <a16:creationId xmlns:a16="http://schemas.microsoft.com/office/drawing/2014/main" id="{E6B6EED6-B1FE-4AA8-ADCC-048337B9CCF3}"/>
              </a:ext>
            </a:extLst>
          </p:cNvPr>
          <p:cNvSpPr>
            <a:spLocks xmlns:a="http://schemas.openxmlformats.org/drawingml/2006/main" noGrp="1"/>
          </p:cNvSpPr>
          <p:nvPr/>
        </p:nvSpPr>
        <p:spPr>
          <a:xfrm xmlns:a="http://schemas.openxmlformats.org/drawingml/2006/main">
            <a:off x="6210300" y="25241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할인 구매</a:t>
            </a:r>
          </a:p>
        </p:txBody>
      </p:sp>
      <p:sp>
        <p:nvSpPr>
          <p:cNvPr id="13" name="">
            <a:extLst xmlns:a="http://schemas.openxmlformats.org/drawingml/2006/main">
              <a:ext uri="{FF2B5EF4-FFF2-40B4-BE49-F238E27FC236}">
                <a16:creationId xmlns:a16="http://schemas.microsoft.com/office/drawing/2014/main" id="{A17EF137-8ADB-4D03-A7B2-6B1E9B4ACB55}"/>
              </a:ext>
            </a:extLst>
          </p:cNvPr>
          <p:cNvSpPr>
            <a:spLocks xmlns:a="http://schemas.openxmlformats.org/drawingml/2006/main" noGrp="1"/>
          </p:cNvSpPr>
          <p:nvPr/>
        </p:nvSpPr>
        <p:spPr>
          <a:xfrm xmlns:a="http://schemas.openxmlformats.org/drawingml/2006/main">
            <a:off x="8629650" y="2324100"/>
            <a:ext cx="257175" cy="17145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91FE735-3446-4128-8E22-5DB9C58E7CA3}"/>
              </a:ext>
            </a:extLst>
          </p:cNvPr>
          <p:cNvSpPr>
            <a:spLocks xmlns:a="http://schemas.openxmlformats.org/drawingml/2006/main" noGrp="1"/>
          </p:cNvSpPr>
          <p:nvPr/>
        </p:nvSpPr>
        <p:spPr>
          <a:xfrm xmlns:a="http://schemas.openxmlformats.org/drawingml/2006/main">
            <a:off x="9010650" y="2038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24:00</a:t>
            </a:r>
          </a:p>
        </p:txBody>
      </p:sp>
      <p:sp>
        <p:nvSpPr>
          <p:cNvPr id="15" name="">
            <a:extLst xmlns:a="http://schemas.openxmlformats.org/drawingml/2006/main">
              <a:ext uri="{FF2B5EF4-FFF2-40B4-BE49-F238E27FC236}">
                <a16:creationId xmlns:a16="http://schemas.microsoft.com/office/drawing/2014/main" id="{43C56A24-82CF-4DD1-92C0-BE88FB05719E}"/>
              </a:ext>
            </a:extLst>
          </p:cNvPr>
          <p:cNvSpPr>
            <a:spLocks xmlns:a="http://schemas.openxmlformats.org/drawingml/2006/main" noGrp="1"/>
          </p:cNvSpPr>
          <p:nvPr/>
        </p:nvSpPr>
        <p:spPr>
          <a:xfrm xmlns:a="http://schemas.openxmlformats.org/drawingml/2006/main">
            <a:off x="9010650" y="25241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정상가 복원</a:t>
            </a:r>
          </a:p>
        </p:txBody>
      </p:sp>
      <p:sp>
        <p:nvSpPr>
          <p:cNvPr id="16" name="">
            <a:extLst xmlns:a="http://schemas.openxmlformats.org/drawingml/2006/main">
              <a:ext uri="{FF2B5EF4-FFF2-40B4-BE49-F238E27FC236}">
                <a16:creationId xmlns:a16="http://schemas.microsoft.com/office/drawing/2014/main" id="{DD8EC245-4E86-40C2-82EC-259030288F81}"/>
              </a:ext>
            </a:extLst>
          </p:cNvPr>
          <p:cNvSpPr>
            <a:spLocks xmlns:a="http://schemas.openxmlformats.org/drawingml/2006/main" noGrp="1"/>
          </p:cNvSpPr>
          <p:nvPr/>
        </p:nvSpPr>
        <p:spPr>
          <a:xfrm xmlns:a="http://schemas.openxmlformats.org/drawingml/2006/main">
            <a:off x="609600" y="3248025"/>
            <a:ext cx="5257800" cy="20955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530F48B-5D0B-4074-92B7-0844A7269EB2}"/>
              </a:ext>
            </a:extLst>
          </p:cNvPr>
          <p:cNvSpPr>
            <a:spLocks xmlns:a="http://schemas.openxmlformats.org/drawingml/2006/main" noGrp="1"/>
          </p:cNvSpPr>
          <p:nvPr/>
        </p:nvSpPr>
        <p:spPr>
          <a:xfrm xmlns:a="http://schemas.openxmlformats.org/drawingml/2006/main">
            <a:off x="838200" y="3457575"/>
            <a:ext cx="4800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123F34"/>
                </a:solidFill>
                <a:latin typeface="Noto Sans CJK KR"/>
                <a:ea typeface="Noto Sans CJK KR"/>
                <a:cs typeface="Noto Sans CJK KR"/>
              </a:defRPr>
            </a:pPr>
            <a:r>
              <a:rPr sz="2250" b="1">
                <a:solidFill>
                  <a:srgbClr val="123F34"/>
                </a:solidFill>
                <a:latin typeface="Noto Sans CJK KR"/>
                <a:ea typeface="Noto Sans CJK KR"/>
                <a:cs typeface="Noto Sans CJK KR"/>
              </a:rPr>
              <a:t>상승장에는 식사빵</a:t>
            </a:r>
          </a:p>
        </p:txBody>
      </p:sp>
      <p:sp>
        <p:nvSpPr>
          <p:cNvPr id="18" name="">
            <a:extLst xmlns:a="http://schemas.openxmlformats.org/drawingml/2006/main">
              <a:ext uri="{FF2B5EF4-FFF2-40B4-BE49-F238E27FC236}">
                <a16:creationId xmlns:a16="http://schemas.microsoft.com/office/drawing/2014/main" id="{81E2D438-6450-4369-844E-FACA145286E3}"/>
              </a:ext>
            </a:extLst>
          </p:cNvPr>
          <p:cNvSpPr>
            <a:spLocks xmlns:a="http://schemas.openxmlformats.org/drawingml/2006/main" noGrp="1"/>
          </p:cNvSpPr>
          <p:nvPr/>
        </p:nvSpPr>
        <p:spPr>
          <a:xfrm xmlns:a="http://schemas.openxmlformats.org/drawingml/2006/main">
            <a:off x="838200" y="4010025"/>
            <a:ext cx="480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123F34"/>
                </a:solidFill>
                <a:latin typeface="Noto Sans CJK KR"/>
                <a:ea typeface="Noto Sans CJK KR"/>
                <a:cs typeface="Noto Sans CJK KR"/>
              </a:defRPr>
            </a:pPr>
            <a:r>
              <a:rPr sz="1650" b="1">
                <a:solidFill>
                  <a:srgbClr val="123F34"/>
                </a:solidFill>
                <a:latin typeface="Noto Sans CJK KR"/>
                <a:ea typeface="Noto Sans CJK KR"/>
                <a:cs typeface="Noto Sans CJK KR"/>
              </a:rPr>
              <a:t>“만족스러운 장 마감, 든든한 마무리.”</a:t>
            </a:r>
          </a:p>
        </p:txBody>
      </p:sp>
      <p:sp>
        <p:nvSpPr>
          <p:cNvPr id="19" name="">
            <a:extLst xmlns:a="http://schemas.openxmlformats.org/drawingml/2006/main">
              <a:ext uri="{FF2B5EF4-FFF2-40B4-BE49-F238E27FC236}">
                <a16:creationId xmlns:a16="http://schemas.microsoft.com/office/drawing/2014/main" id="{E3C368EB-2EDD-4835-A90A-1A95D71EA696}"/>
              </a:ext>
            </a:extLst>
          </p:cNvPr>
          <p:cNvSpPr>
            <a:spLocks xmlns:a="http://schemas.openxmlformats.org/drawingml/2006/main" noGrp="1"/>
          </p:cNvSpPr>
          <p:nvPr/>
        </p:nvSpPr>
        <p:spPr>
          <a:xfrm xmlns:a="http://schemas.openxmlformats.org/drawingml/2006/main">
            <a:off x="838200" y="4505325"/>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식빵 같은 식사형·데일리 베이커리</a:t>
            </a:r>
          </a:p>
        </p:txBody>
      </p:sp>
      <p:sp>
        <p:nvSpPr>
          <p:cNvPr id="20" name="">
            <a:extLst xmlns:a="http://schemas.openxmlformats.org/drawingml/2006/main">
              <a:ext uri="{FF2B5EF4-FFF2-40B4-BE49-F238E27FC236}">
                <a16:creationId xmlns:a16="http://schemas.microsoft.com/office/drawing/2014/main" id="{A2D6C092-9D66-4816-AEB9-67AFA038E970}"/>
              </a:ext>
            </a:extLst>
          </p:cNvPr>
          <p:cNvSpPr>
            <a:spLocks xmlns:a="http://schemas.openxmlformats.org/drawingml/2006/main" noGrp="1"/>
          </p:cNvSpPr>
          <p:nvPr/>
        </p:nvSpPr>
        <p:spPr>
          <a:xfrm xmlns:a="http://schemas.openxmlformats.org/drawingml/2006/main">
            <a:off x="838200" y="4943475"/>
            <a:ext cx="4800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350" b="0">
                <a:solidFill>
                  <a:srgbClr val="123F34"/>
                </a:solidFill>
                <a:latin typeface="Noto Sans CJK KR"/>
                <a:ea typeface="Noto Sans CJK KR"/>
                <a:cs typeface="Noto Sans CJK KR"/>
              </a:defRPr>
            </a:pPr>
            <a:r>
              <a:rPr sz="1350" b="0">
                <a:solidFill>
                  <a:srgbClr val="123F34"/>
                </a:solidFill>
                <a:latin typeface="Noto Sans CJK KR"/>
                <a:ea typeface="Noto Sans CJK KR"/>
                <a:cs typeface="Noto Sans CJK KR"/>
              </a:rPr>
              <a:t>테트리스 브레드, 모닝롤 등</a:t>
            </a:r>
          </a:p>
        </p:txBody>
      </p:sp>
      <p:sp>
        <p:nvSpPr>
          <p:cNvPr id="21" name="">
            <a:extLst xmlns:a="http://schemas.openxmlformats.org/drawingml/2006/main">
              <a:ext uri="{FF2B5EF4-FFF2-40B4-BE49-F238E27FC236}">
                <a16:creationId xmlns:a16="http://schemas.microsoft.com/office/drawing/2014/main" id="{505033C6-FE8C-4BB2-A9B3-557B31F1E4C3}"/>
              </a:ext>
            </a:extLst>
          </p:cNvPr>
          <p:cNvSpPr>
            <a:spLocks xmlns:a="http://schemas.openxmlformats.org/drawingml/2006/main" noGrp="1"/>
          </p:cNvSpPr>
          <p:nvPr/>
        </p:nvSpPr>
        <p:spPr>
          <a:xfrm xmlns:a="http://schemas.openxmlformats.org/drawingml/2006/main">
            <a:off x="6324600" y="3248025"/>
            <a:ext cx="5257800" cy="20955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163BFB3-A40F-4F6A-BF32-E28A11662E6A}"/>
              </a:ext>
            </a:extLst>
          </p:cNvPr>
          <p:cNvSpPr>
            <a:spLocks xmlns:a="http://schemas.openxmlformats.org/drawingml/2006/main" noGrp="1"/>
          </p:cNvSpPr>
          <p:nvPr/>
        </p:nvSpPr>
        <p:spPr>
          <a:xfrm xmlns:a="http://schemas.openxmlformats.org/drawingml/2006/main">
            <a:off x="6553200" y="3457575"/>
            <a:ext cx="4800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123F34"/>
                </a:solidFill>
                <a:latin typeface="Noto Sans CJK KR"/>
                <a:ea typeface="Noto Sans CJK KR"/>
                <a:cs typeface="Noto Sans CJK KR"/>
              </a:defRPr>
            </a:pPr>
            <a:r>
              <a:rPr sz="2250" b="1">
                <a:solidFill>
                  <a:srgbClr val="123F34"/>
                </a:solidFill>
                <a:latin typeface="Noto Sans CJK KR"/>
                <a:ea typeface="Noto Sans CJK KR"/>
                <a:cs typeface="Noto Sans CJK KR"/>
              </a:rPr>
              <a:t>하락장에는 디저트빵</a:t>
            </a:r>
          </a:p>
        </p:txBody>
      </p:sp>
      <p:sp>
        <p:nvSpPr>
          <p:cNvPr id="23" name="">
            <a:extLst xmlns:a="http://schemas.openxmlformats.org/drawingml/2006/main">
              <a:ext uri="{FF2B5EF4-FFF2-40B4-BE49-F238E27FC236}">
                <a16:creationId xmlns:a16="http://schemas.microsoft.com/office/drawing/2014/main" id="{53A4D393-16E4-425C-A4FA-F7A6D428DF72}"/>
              </a:ext>
            </a:extLst>
          </p:cNvPr>
          <p:cNvSpPr>
            <a:spLocks xmlns:a="http://schemas.openxmlformats.org/drawingml/2006/main" noGrp="1"/>
          </p:cNvSpPr>
          <p:nvPr/>
        </p:nvSpPr>
        <p:spPr>
          <a:xfrm xmlns:a="http://schemas.openxmlformats.org/drawingml/2006/main">
            <a:off x="6553200" y="4010025"/>
            <a:ext cx="480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123F34"/>
                </a:solidFill>
                <a:latin typeface="Noto Sans CJK KR"/>
                <a:ea typeface="Noto Sans CJK KR"/>
                <a:cs typeface="Noto Sans CJK KR"/>
              </a:defRPr>
            </a:pPr>
            <a:r>
              <a:rPr sz="1650" b="1">
                <a:solidFill>
                  <a:srgbClr val="123F34"/>
                </a:solidFill>
                <a:latin typeface="Noto Sans CJK KR"/>
                <a:ea typeface="Noto Sans CJK KR"/>
                <a:cs typeface="Noto Sans CJK KR"/>
              </a:rPr>
              <a:t>“아쉬운 장 마감, 달달한 위로 한 입.”</a:t>
            </a:r>
          </a:p>
        </p:txBody>
      </p:sp>
      <p:sp>
        <p:nvSpPr>
          <p:cNvPr id="24" name="">
            <a:extLst xmlns:a="http://schemas.openxmlformats.org/drawingml/2006/main">
              <a:ext uri="{FF2B5EF4-FFF2-40B4-BE49-F238E27FC236}">
                <a16:creationId xmlns:a16="http://schemas.microsoft.com/office/drawing/2014/main" id="{D21273E6-2840-41A7-A71D-D4DCC13DD4BC}"/>
              </a:ext>
            </a:extLst>
          </p:cNvPr>
          <p:cNvSpPr>
            <a:spLocks xmlns:a="http://schemas.openxmlformats.org/drawingml/2006/main" noGrp="1"/>
          </p:cNvSpPr>
          <p:nvPr/>
        </p:nvSpPr>
        <p:spPr>
          <a:xfrm xmlns:a="http://schemas.openxmlformats.org/drawingml/2006/main">
            <a:off x="6553200" y="4505325"/>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달콤한 디저트형 베이커리</a:t>
            </a:r>
          </a:p>
        </p:txBody>
      </p:sp>
      <p:sp>
        <p:nvSpPr>
          <p:cNvPr id="25" name="">
            <a:extLst xmlns:a="http://schemas.openxmlformats.org/drawingml/2006/main">
              <a:ext uri="{FF2B5EF4-FFF2-40B4-BE49-F238E27FC236}">
                <a16:creationId xmlns:a16="http://schemas.microsoft.com/office/drawing/2014/main" id="{D687D63A-AA18-444D-88BF-3009FFB1A1C8}"/>
              </a:ext>
            </a:extLst>
          </p:cNvPr>
          <p:cNvSpPr>
            <a:spLocks xmlns:a="http://schemas.openxmlformats.org/drawingml/2006/main" noGrp="1"/>
          </p:cNvSpPr>
          <p:nvPr/>
        </p:nvSpPr>
        <p:spPr>
          <a:xfrm xmlns:a="http://schemas.openxmlformats.org/drawingml/2006/main">
            <a:off x="6553200" y="4943475"/>
            <a:ext cx="4800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350" b="0">
                <a:solidFill>
                  <a:srgbClr val="123F34"/>
                </a:solidFill>
                <a:latin typeface="Noto Sans CJK KR"/>
                <a:ea typeface="Noto Sans CJK KR"/>
                <a:cs typeface="Noto Sans CJK KR"/>
              </a:defRPr>
            </a:pPr>
            <a:r>
              <a:rPr sz="1350" b="0">
                <a:solidFill>
                  <a:srgbClr val="123F34"/>
                </a:solidFill>
                <a:latin typeface="Noto Sans CJK KR"/>
                <a:ea typeface="Noto Sans CJK KR"/>
                <a:cs typeface="Noto Sans CJK KR"/>
              </a:rPr>
              <a:t>초코케이크, 티라미수 등</a:t>
            </a:r>
          </a:p>
        </p:txBody>
      </p:sp>
      <p:sp>
        <p:nvSpPr>
          <p:cNvPr id="26" name="">
            <a:extLst xmlns:a="http://schemas.openxmlformats.org/drawingml/2006/main">
              <a:ext uri="{FF2B5EF4-FFF2-40B4-BE49-F238E27FC236}">
                <a16:creationId xmlns:a16="http://schemas.microsoft.com/office/drawing/2014/main" id="{62417C78-15B9-4BBA-99E7-AD80BA94FEF8}"/>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A14DBC1-DACF-41F3-8832-A2764737BFFD}"/>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국장이 쉬는 날은 정상가 판매 · 주말에는 활동 배당금으로 방문을 연결</a:t>
            </a:r>
          </a:p>
        </p:txBody>
      </p:sp>
    </p:spTree>
    <p:extLst>
      <p:ext uri="{BB962C8B-B14F-4D97-AF65-F5344CB8AC3E}">
        <p14:creationId xmlns:p14="http://schemas.microsoft.com/office/powerpoint/2010/main" val="1354639018"/>
      </p:ext>
    </p:extLst>
  </p:cSld>
</p:sld>
</file>

<file path=ppt/slides/slide5.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4E13D6D-ABF8-49F3-A1F7-75E9AAB34E4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시장 변동폭으로 할인율을 정하고 상품별로 보정합니다</a:t>
            </a:r>
          </a:p>
        </p:txBody>
      </p:sp>
      <p:sp>
        <p:nvSpPr>
          <p:cNvPr id="2" name="">
            <a:extLst xmlns:a="http://schemas.openxmlformats.org/drawingml/2006/main">
              <a:ext uri="{FF2B5EF4-FFF2-40B4-BE49-F238E27FC236}">
                <a16:creationId xmlns:a16="http://schemas.microsoft.com/office/drawing/2014/main" id="{A34A5562-2FAA-4E90-B129-0124B277716B}"/>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기본 할인은 5단계이며, 실제 적용률은 상품별 마진 상한 안에서 결정합니다.</a:t>
            </a:r>
          </a:p>
        </p:txBody>
      </p:sp>
      <p:sp>
        <p:nvSpPr>
          <p:cNvPr id="3" name="">
            <a:extLst xmlns:a="http://schemas.openxmlformats.org/drawingml/2006/main">
              <a:ext uri="{FF2B5EF4-FFF2-40B4-BE49-F238E27FC236}">
                <a16:creationId xmlns:a16="http://schemas.microsoft.com/office/drawing/2014/main" id="{47FDAE98-4EE3-4CE3-9F60-DC2EDDE56ACC}"/>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7F1E4097-E4D7-4F30-B362-7366A5AABC90}"/>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05</a:t>
            </a:r>
          </a:p>
        </p:txBody>
      </p:sp>
      <p:graphicFrame>
        <p:nvGraphicFramePr>
          <p:cNvPr id="24" name=""/>
          <p:cNvGraphicFramePr/>
          <p:nvPr/>
        </p:nvGraphicFramePr>
        <p:xfrm>
          <a:off xmlns:a="http://schemas.openxmlformats.org/drawingml/2006/main" x="609600" y="2057400"/>
          <a:ext xmlns:a="http://schemas.openxmlformats.org/drawingml/2006/main" cx="5181600" cy="3143250"/>
        </p:xfrm>
        <a:graphic xmlns:a="http://schemas.openxmlformats.org/drawingml/2006/main">
          <a:graphicData uri="http://schemas.openxmlformats.org/drawingml/2006/table">
            <a:tbl>
              <a:tblPr firstRow="0" bandRow="0"/>
              <a:tblGrid>
                <a:gridCol w="3562350"/>
                <a:gridCol w="1619250"/>
              </a:tblGrid>
              <a:tr h="523875">
                <a:tc>
                  <a:txBody>
                    <a:bodyPr>
                      <a:noAutofit/>
                    </a:bodyPr>
                    <a:lstStyle/>
                    <a:p>
                      <a:pPr algn="l">
                        <a:lnSpc>
                          <a:spcPct val="120000"/>
                        </a:lnSpc>
                        <a:buNone/>
                      </a:pPr>
                      <a:r>
                        <a:rPr sz="1350" b="1">
                          <a:solidFill>
                            <a:srgbClr val="F6F0E6"/>
                          </a:solidFill>
                          <a:latin typeface="Noto Sans CJK KR"/>
                          <a:ea typeface="Noto Sans CJK KR"/>
                          <a:cs typeface="Noto Sans CJK KR"/>
                        </a:rPr>
                        <a:t>KOSPI 절대 등락률</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기본 할인</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523875">
                <a:tc>
                  <a:txBody>
                    <a:bodyPr>
                      <a:noAutofit/>
                    </a:bodyPr>
                    <a:lstStyle/>
                    <a:p>
                      <a:pPr algn="l">
                        <a:lnSpc>
                          <a:spcPct val="120000"/>
                        </a:lnSpc>
                        <a:buNone/>
                      </a:pPr>
                      <a:r>
                        <a:rPr sz="1800" b="1">
                          <a:solidFill>
                            <a:srgbClr val="123F34"/>
                          </a:solidFill>
                          <a:latin typeface="Noto Sans CJK KR"/>
                          <a:ea typeface="Noto Sans CJK KR"/>
                          <a:cs typeface="Noto Sans CJK KR"/>
                        </a:rPr>
                        <a:t>0% 이상 0.3%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5%</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23875">
                <a:tc>
                  <a:txBody>
                    <a:bodyPr>
                      <a:noAutofit/>
                    </a:bodyPr>
                    <a:lstStyle/>
                    <a:p>
                      <a:pPr algn="l">
                        <a:lnSpc>
                          <a:spcPct val="120000"/>
                        </a:lnSpc>
                        <a:buNone/>
                      </a:pPr>
                      <a:r>
                        <a:rPr sz="1800" b="1">
                          <a:solidFill>
                            <a:srgbClr val="123F34"/>
                          </a:solidFill>
                          <a:latin typeface="Noto Sans CJK KR"/>
                          <a:ea typeface="Noto Sans CJK KR"/>
                          <a:cs typeface="Noto Sans CJK KR"/>
                        </a:rPr>
                        <a:t>0.3% 이상 0.8%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10%</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23875">
                <a:tc>
                  <a:txBody>
                    <a:bodyPr>
                      <a:noAutofit/>
                    </a:bodyPr>
                    <a:lstStyle/>
                    <a:p>
                      <a:pPr algn="l">
                        <a:lnSpc>
                          <a:spcPct val="120000"/>
                        </a:lnSpc>
                        <a:buNone/>
                      </a:pPr>
                      <a:r>
                        <a:rPr sz="1800" b="1">
                          <a:solidFill>
                            <a:srgbClr val="123F34"/>
                          </a:solidFill>
                          <a:latin typeface="Noto Sans CJK KR"/>
                          <a:ea typeface="Noto Sans CJK KR"/>
                          <a:cs typeface="Noto Sans CJK KR"/>
                        </a:rPr>
                        <a:t>0.8% 이상 1.5%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15%</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23875">
                <a:tc>
                  <a:txBody>
                    <a:bodyPr>
                      <a:noAutofit/>
                    </a:bodyPr>
                    <a:lstStyle/>
                    <a:p>
                      <a:pPr algn="l">
                        <a:lnSpc>
                          <a:spcPct val="120000"/>
                        </a:lnSpc>
                        <a:buNone/>
                      </a:pPr>
                      <a:r>
                        <a:rPr sz="1800" b="1">
                          <a:solidFill>
                            <a:srgbClr val="123F34"/>
                          </a:solidFill>
                          <a:latin typeface="Noto Sans CJK KR"/>
                          <a:ea typeface="Noto Sans CJK KR"/>
                          <a:cs typeface="Noto Sans CJK KR"/>
                        </a:rPr>
                        <a:t>1.5% 이상 2.5%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20%</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23875">
                <a:tc>
                  <a:txBody>
                    <a:bodyPr>
                      <a:noAutofit/>
                    </a:bodyPr>
                    <a:lstStyle/>
                    <a:p>
                      <a:pPr algn="l">
                        <a:lnSpc>
                          <a:spcPct val="120000"/>
                        </a:lnSpc>
                        <a:buNone/>
                      </a:pPr>
                      <a:r>
                        <a:rPr sz="1800" b="1">
                          <a:solidFill>
                            <a:srgbClr val="F6F0E6"/>
                          </a:solidFill>
                          <a:latin typeface="Noto Sans CJK KR"/>
                          <a:ea typeface="Noto Sans CJK KR"/>
                          <a:cs typeface="Noto Sans CJK KR"/>
                        </a:rPr>
                        <a:t>2.5% 이상</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123F34"/>
                    </a:solidFill>
                  </a:tcPr>
                </a:tc>
                <a:tc>
                  <a:txBody>
                    <a:bodyPr>
                      <a:noAutofit/>
                    </a:bodyPr>
                    <a:lstStyle/>
                    <a:p>
                      <a:pPr algn="ctr">
                        <a:lnSpc>
                          <a:spcPct val="120000"/>
                        </a:lnSpc>
                        <a:buNone/>
                      </a:pPr>
                      <a:r>
                        <a:rPr sz="1800" b="1">
                          <a:solidFill>
                            <a:srgbClr val="F6F0E6"/>
                          </a:solidFill>
                          <a:latin typeface="Noto Sans CJK KR"/>
                          <a:ea typeface="Noto Sans CJK KR"/>
                          <a:cs typeface="Noto Sans CJK KR"/>
                        </a:rPr>
                        <a:t>30%</a:t>
                      </a:r>
                    </a:p>
                  </a:txBody>
                  <a:tcPr marL="152400" marR="152400" marT="47625" marB="47625" anchor="ctr">
                    <a:lnR w="19050">
                      <a:solidFill>
                        <a:srgbClr val="F6F0E6"/>
                      </a:solidFill>
                      <a:prstDash val="solid"/>
                    </a:lnR>
                    <a:lnB w="19050">
                      <a:solidFill>
                        <a:srgbClr val="F6F0E6"/>
                      </a:solidFill>
                      <a:prstDash val="solid"/>
                    </a:lnB>
                    <a:solidFill>
                      <a:srgbClr val="123F34"/>
                    </a:solidFill>
                  </a:tcPr>
                </a:tc>
              </a:tr>
            </a:tbl>
          </a:graphicData>
        </a:graphic>
      </p:graphicFrame>
      <p:sp>
        <p:nvSpPr>
          <p:cNvPr id="6" name="">
            <a:extLst xmlns:a="http://schemas.openxmlformats.org/drawingml/2006/main">
              <a:ext uri="{FF2B5EF4-FFF2-40B4-BE49-F238E27FC236}">
                <a16:creationId xmlns:a16="http://schemas.microsoft.com/office/drawing/2014/main" id="{1606CC0F-08C3-4187-B5EC-5A2CD6BBACD6}"/>
              </a:ext>
            </a:extLst>
          </p:cNvPr>
          <p:cNvSpPr>
            <a:spLocks xmlns:a="http://schemas.openxmlformats.org/drawingml/2006/main" noGrp="1"/>
          </p:cNvSpPr>
          <p:nvPr/>
        </p:nvSpPr>
        <p:spPr>
          <a:xfrm xmlns:a="http://schemas.openxmlformats.org/drawingml/2006/main">
            <a:off x="6324600" y="2057400"/>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상품별 추가 보정</a:t>
            </a:r>
          </a:p>
        </p:txBody>
      </p:sp>
      <p:sp>
        <p:nvSpPr>
          <p:cNvPr id="7" name="">
            <a:extLst xmlns:a="http://schemas.openxmlformats.org/drawingml/2006/main">
              <a:ext uri="{FF2B5EF4-FFF2-40B4-BE49-F238E27FC236}">
                <a16:creationId xmlns:a16="http://schemas.microsoft.com/office/drawing/2014/main" id="{5135E202-8635-4A66-BBE3-9C3E86B8586F}"/>
              </a:ext>
            </a:extLst>
          </p:cNvPr>
          <p:cNvSpPr>
            <a:spLocks xmlns:a="http://schemas.openxmlformats.org/drawingml/2006/main" noGrp="1"/>
          </p:cNvSpPr>
          <p:nvPr/>
        </p:nvSpPr>
        <p:spPr>
          <a:xfrm xmlns:a="http://schemas.openxmlformats.org/drawingml/2006/main">
            <a:off x="6324600" y="264795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관심 대비 구매전환</a:t>
            </a:r>
          </a:p>
        </p:txBody>
      </p:sp>
      <p:sp>
        <p:nvSpPr>
          <p:cNvPr id="8" name="">
            <a:extLst xmlns:a="http://schemas.openxmlformats.org/drawingml/2006/main">
              <a:ext uri="{FF2B5EF4-FFF2-40B4-BE49-F238E27FC236}">
                <a16:creationId xmlns:a16="http://schemas.microsoft.com/office/drawing/2014/main" id="{F405C7C9-1A62-420F-891F-085F109F0968}"/>
              </a:ext>
            </a:extLst>
          </p:cNvPr>
          <p:cNvSpPr>
            <a:spLocks xmlns:a="http://schemas.openxmlformats.org/drawingml/2006/main" noGrp="1"/>
          </p:cNvSpPr>
          <p:nvPr/>
        </p:nvSpPr>
        <p:spPr>
          <a:xfrm xmlns:a="http://schemas.openxmlformats.org/drawingml/2006/main">
            <a:off x="9715500" y="2647950"/>
            <a:ext cx="186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0 / 2 / 3%p</a:t>
            </a:r>
          </a:p>
        </p:txBody>
      </p:sp>
      <p:sp>
        <p:nvSpPr>
          <p:cNvPr id="9" name="">
            <a:extLst xmlns:a="http://schemas.openxmlformats.org/drawingml/2006/main">
              <a:ext uri="{FF2B5EF4-FFF2-40B4-BE49-F238E27FC236}">
                <a16:creationId xmlns:a16="http://schemas.microsoft.com/office/drawing/2014/main" id="{401953B2-4A9A-48C3-99D6-0AAF962A5993}"/>
              </a:ext>
            </a:extLst>
          </p:cNvPr>
          <p:cNvSpPr>
            <a:spLocks xmlns:a="http://schemas.openxmlformats.org/drawingml/2006/main" noGrp="1"/>
          </p:cNvSpPr>
          <p:nvPr/>
        </p:nvSpPr>
        <p:spPr>
          <a:xfrm xmlns:a="http://schemas.openxmlformats.org/drawingml/2006/main">
            <a:off x="6324600" y="3162300"/>
            <a:ext cx="5257800" cy="0"/>
          </a:xfrm>
          <a:prstGeom xmlns:a="http://schemas.openxmlformats.org/drawingml/2006/main" prst="line">
            <a:avLst/>
          </a:prstGeom>
          <a:noFill xmlns:a="http://schemas.openxmlformats.org/drawingml/2006/main"/>
          <a:ln xmlns:a="http://schemas.openxmlformats.org/drawingml/2006/main" w="19050">
            <a:solidFill>
              <a:srgbClr val="DDEAE2"/>
            </a:solidFill>
          </a:ln>
        </p:spPr>
      </p:sp>
      <p:sp>
        <p:nvSpPr>
          <p:cNvPr id="10" name="">
            <a:extLst xmlns:a="http://schemas.openxmlformats.org/drawingml/2006/main">
              <a:ext uri="{FF2B5EF4-FFF2-40B4-BE49-F238E27FC236}">
                <a16:creationId xmlns:a16="http://schemas.microsoft.com/office/drawing/2014/main" id="{6B29740C-1D59-4DDF-9303-FDF40F30F8B8}"/>
              </a:ext>
            </a:extLst>
          </p:cNvPr>
          <p:cNvSpPr>
            <a:spLocks xmlns:a="http://schemas.openxmlformats.org/drawingml/2006/main" noGrp="1"/>
          </p:cNvSpPr>
          <p:nvPr/>
        </p:nvSpPr>
        <p:spPr>
          <a:xfrm xmlns:a="http://schemas.openxmlformats.org/drawingml/2006/main">
            <a:off x="6324600" y="334327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재고 부담</a:t>
            </a:r>
          </a:p>
        </p:txBody>
      </p:sp>
      <p:sp>
        <p:nvSpPr>
          <p:cNvPr id="11" name="">
            <a:extLst xmlns:a="http://schemas.openxmlformats.org/drawingml/2006/main">
              <a:ext uri="{FF2B5EF4-FFF2-40B4-BE49-F238E27FC236}">
                <a16:creationId xmlns:a16="http://schemas.microsoft.com/office/drawing/2014/main" id="{64F8AE41-D688-40EF-B953-93D057D48972}"/>
              </a:ext>
            </a:extLst>
          </p:cNvPr>
          <p:cNvSpPr>
            <a:spLocks xmlns:a="http://schemas.openxmlformats.org/drawingml/2006/main" noGrp="1"/>
          </p:cNvSpPr>
          <p:nvPr/>
        </p:nvSpPr>
        <p:spPr>
          <a:xfrm xmlns:a="http://schemas.openxmlformats.org/drawingml/2006/main">
            <a:off x="9715500" y="3343275"/>
            <a:ext cx="186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0 / 1 / 2%p</a:t>
            </a:r>
          </a:p>
        </p:txBody>
      </p:sp>
      <p:sp>
        <p:nvSpPr>
          <p:cNvPr id="12" name="">
            <a:extLst xmlns:a="http://schemas.openxmlformats.org/drawingml/2006/main">
              <a:ext uri="{FF2B5EF4-FFF2-40B4-BE49-F238E27FC236}">
                <a16:creationId xmlns:a16="http://schemas.microsoft.com/office/drawing/2014/main" id="{A4D2ED1C-29DC-4AAB-A6E7-CF366365E464}"/>
              </a:ext>
            </a:extLst>
          </p:cNvPr>
          <p:cNvSpPr>
            <a:spLocks xmlns:a="http://schemas.openxmlformats.org/drawingml/2006/main" noGrp="1"/>
          </p:cNvSpPr>
          <p:nvPr/>
        </p:nvSpPr>
        <p:spPr>
          <a:xfrm xmlns:a="http://schemas.openxmlformats.org/drawingml/2006/main">
            <a:off x="6324600" y="3857625"/>
            <a:ext cx="5257800" cy="0"/>
          </a:xfrm>
          <a:prstGeom xmlns:a="http://schemas.openxmlformats.org/drawingml/2006/main" prst="line">
            <a:avLst/>
          </a:prstGeom>
          <a:noFill xmlns:a="http://schemas.openxmlformats.org/drawingml/2006/main"/>
          <a:ln xmlns:a="http://schemas.openxmlformats.org/drawingml/2006/main" w="19050">
            <a:solidFill>
              <a:srgbClr val="DDEAE2"/>
            </a:solidFill>
          </a:ln>
        </p:spPr>
      </p:sp>
      <p:sp>
        <p:nvSpPr>
          <p:cNvPr id="13" name="">
            <a:extLst xmlns:a="http://schemas.openxmlformats.org/drawingml/2006/main">
              <a:ext uri="{FF2B5EF4-FFF2-40B4-BE49-F238E27FC236}">
                <a16:creationId xmlns:a16="http://schemas.microsoft.com/office/drawing/2014/main" id="{130464B6-811C-44C7-B15A-F2FDE3EC0D40}"/>
              </a:ext>
            </a:extLst>
          </p:cNvPr>
          <p:cNvSpPr>
            <a:spLocks xmlns:a="http://schemas.openxmlformats.org/drawingml/2006/main" noGrp="1"/>
          </p:cNvSpPr>
          <p:nvPr/>
        </p:nvSpPr>
        <p:spPr>
          <a:xfrm xmlns:a="http://schemas.openxmlformats.org/drawingml/2006/main">
            <a:off x="6324600" y="403860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하락장 대상 상품</a:t>
            </a:r>
          </a:p>
        </p:txBody>
      </p:sp>
      <p:sp>
        <p:nvSpPr>
          <p:cNvPr id="14" name="">
            <a:extLst xmlns:a="http://schemas.openxmlformats.org/drawingml/2006/main">
              <a:ext uri="{FF2B5EF4-FFF2-40B4-BE49-F238E27FC236}">
                <a16:creationId xmlns:a16="http://schemas.microsoft.com/office/drawing/2014/main" id="{248BB85E-40F2-405B-9183-D03ABA7C94BD}"/>
              </a:ext>
            </a:extLst>
          </p:cNvPr>
          <p:cNvSpPr>
            <a:spLocks xmlns:a="http://schemas.openxmlformats.org/drawingml/2006/main" noGrp="1"/>
          </p:cNvSpPr>
          <p:nvPr/>
        </p:nvSpPr>
        <p:spPr>
          <a:xfrm xmlns:a="http://schemas.openxmlformats.org/drawingml/2006/main">
            <a:off x="9715500" y="4038600"/>
            <a:ext cx="186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+3%p</a:t>
            </a:r>
          </a:p>
        </p:txBody>
      </p:sp>
      <p:sp>
        <p:nvSpPr>
          <p:cNvPr id="15" name="">
            <a:extLst xmlns:a="http://schemas.openxmlformats.org/drawingml/2006/main">
              <a:ext uri="{FF2B5EF4-FFF2-40B4-BE49-F238E27FC236}">
                <a16:creationId xmlns:a16="http://schemas.microsoft.com/office/drawing/2014/main" id="{94A9AF33-6A3A-49FB-A81A-01E365BDDBD9}"/>
              </a:ext>
            </a:extLst>
          </p:cNvPr>
          <p:cNvSpPr>
            <a:spLocks xmlns:a="http://schemas.openxmlformats.org/drawingml/2006/main" noGrp="1"/>
          </p:cNvSpPr>
          <p:nvPr/>
        </p:nvSpPr>
        <p:spPr>
          <a:xfrm xmlns:a="http://schemas.openxmlformats.org/drawingml/2006/main">
            <a:off x="6324600" y="4552950"/>
            <a:ext cx="5257800" cy="0"/>
          </a:xfrm>
          <a:prstGeom xmlns:a="http://schemas.openxmlformats.org/drawingml/2006/main" prst="line">
            <a:avLst/>
          </a:prstGeom>
          <a:noFill xmlns:a="http://schemas.openxmlformats.org/drawingml/2006/main"/>
          <a:ln xmlns:a="http://schemas.openxmlformats.org/drawingml/2006/main" w="19050">
            <a:solidFill>
              <a:srgbClr val="DDEAE2"/>
            </a:solidFill>
          </a:ln>
        </p:spPr>
      </p:sp>
      <p:sp>
        <p:nvSpPr>
          <p:cNvPr id="16" name="">
            <a:extLst xmlns:a="http://schemas.openxmlformats.org/drawingml/2006/main">
              <a:ext uri="{FF2B5EF4-FFF2-40B4-BE49-F238E27FC236}">
                <a16:creationId xmlns:a16="http://schemas.microsoft.com/office/drawing/2014/main" id="{74E6488C-AFE5-4838-9FC1-650A2B3951EE}"/>
              </a:ext>
            </a:extLst>
          </p:cNvPr>
          <p:cNvSpPr>
            <a:spLocks xmlns:a="http://schemas.openxmlformats.org/drawingml/2006/main" noGrp="1"/>
          </p:cNvSpPr>
          <p:nvPr/>
        </p:nvSpPr>
        <p:spPr>
          <a:xfrm xmlns:a="http://schemas.openxmlformats.org/drawingml/2006/main">
            <a:off x="6324600" y="4867275"/>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기본 할인 + 상품별 보정</a:t>
            </a:r>
          </a:p>
        </p:txBody>
      </p:sp>
      <p:sp>
        <p:nvSpPr>
          <p:cNvPr id="17" name="">
            <a:extLst xmlns:a="http://schemas.openxmlformats.org/drawingml/2006/main">
              <a:ext uri="{FF2B5EF4-FFF2-40B4-BE49-F238E27FC236}">
                <a16:creationId xmlns:a16="http://schemas.microsoft.com/office/drawing/2014/main" id="{B63CD394-F063-4388-9F7C-985A0CC99550}"/>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CFCA9DF-32EC-4A02-84A7-32E8CBC01EEF}"/>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전체 할인율 최대 38% · 상품별 마진 상한 우선 · 같은 상품은 같은 가격</a:t>
            </a:r>
          </a:p>
        </p:txBody>
      </p:sp>
      <p:sp>
        <p:nvSpPr>
          <p:cNvPr id="19" name="">
            <a:extLst xmlns:a="http://schemas.openxmlformats.org/drawingml/2006/main">
              <a:ext uri="{FF2B5EF4-FFF2-40B4-BE49-F238E27FC236}">
                <a16:creationId xmlns:a16="http://schemas.microsoft.com/office/drawing/2014/main" id="{45B4810E-E799-4965-9155-539AD95988FE}"/>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수요·재고 보정은 표본 확보 후 적용하며, 초기에는 0으로 운영합니다.</a:t>
            </a:r>
          </a:p>
        </p:txBody>
      </p:sp>
    </p:spTree>
    <p:extLst>
      <p:ext uri="{BB962C8B-B14F-4D97-AF65-F5344CB8AC3E}">
        <p14:creationId xmlns:p14="http://schemas.microsoft.com/office/powerpoint/2010/main" val="1713635869"/>
      </p:ext>
    </p:extLst>
  </p:cSld>
</p:sld>
</file>

<file path=ppt/slides/slide6.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C1664EB-EDAF-4BE7-B732-96DEB390626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구매하지 않은 관심도 다음 알림과 배당의 근거가 됩니다</a:t>
            </a:r>
          </a:p>
        </p:txBody>
      </p:sp>
      <p:sp>
        <p:nvSpPr>
          <p:cNvPr id="2" name="">
            <a:extLst xmlns:a="http://schemas.openxmlformats.org/drawingml/2006/main">
              <a:ext uri="{FF2B5EF4-FFF2-40B4-BE49-F238E27FC236}">
                <a16:creationId xmlns:a16="http://schemas.microsoft.com/office/drawing/2014/main" id="{D9CDFA25-FCA8-49ED-B8B4-34644F9C7BB9}"/>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포트폴리오는 주문내역에 구매 전 행동을 더해 고객의 관심을 이어갑니다.</a:t>
            </a:r>
          </a:p>
        </p:txBody>
      </p:sp>
      <p:sp>
        <p:nvSpPr>
          <p:cNvPr id="3" name="">
            <a:extLst xmlns:a="http://schemas.openxmlformats.org/drawingml/2006/main">
              <a:ext uri="{FF2B5EF4-FFF2-40B4-BE49-F238E27FC236}">
                <a16:creationId xmlns:a16="http://schemas.microsoft.com/office/drawing/2014/main" id="{8778F491-ABEA-4ECD-BE8A-EA57E879CB83}"/>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B9F6564D-1C69-492E-B1C4-F4629112D2FD}"/>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06</a:t>
            </a:r>
          </a:p>
        </p:txBody>
      </p:sp>
      <p:sp>
        <p:nvSpPr>
          <p:cNvPr id="5" name="">
            <a:extLst xmlns:a="http://schemas.openxmlformats.org/drawingml/2006/main">
              <a:ext uri="{FF2B5EF4-FFF2-40B4-BE49-F238E27FC236}">
                <a16:creationId xmlns:a16="http://schemas.microsoft.com/office/drawing/2014/main" id="{0BDCDE87-E4DC-4E16-B075-728A3D81689A}"/>
              </a:ext>
            </a:extLst>
          </p:cNvPr>
          <p:cNvSpPr>
            <a:spLocks xmlns:a="http://schemas.openxmlformats.org/drawingml/2006/main" noGrp="1"/>
          </p:cNvSpPr>
          <p:nvPr/>
        </p:nvSpPr>
        <p:spPr>
          <a:xfrm xmlns:a="http://schemas.openxmlformats.org/drawingml/2006/main">
            <a:off x="609600" y="3048000"/>
            <a:ext cx="2571750" cy="146685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0B8903F-59CD-45BE-956C-90C5EF2127BB}"/>
              </a:ext>
            </a:extLst>
          </p:cNvPr>
          <p:cNvSpPr>
            <a:spLocks xmlns:a="http://schemas.openxmlformats.org/drawingml/2006/main" noGrp="1"/>
          </p:cNvSpPr>
          <p:nvPr/>
        </p:nvSpPr>
        <p:spPr>
          <a:xfrm xmlns:a="http://schemas.openxmlformats.org/drawingml/2006/main">
            <a:off x="762000" y="31623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고객 행동</a:t>
            </a:r>
          </a:p>
        </p:txBody>
      </p:sp>
      <p:sp>
        <p:nvSpPr>
          <p:cNvPr id="7" name="">
            <a:extLst xmlns:a="http://schemas.openxmlformats.org/drawingml/2006/main">
              <a:ext uri="{FF2B5EF4-FFF2-40B4-BE49-F238E27FC236}">
                <a16:creationId xmlns:a16="http://schemas.microsoft.com/office/drawing/2014/main" id="{D6CDD24C-4371-4707-914F-EEA46B078B7C}"/>
              </a:ext>
            </a:extLst>
          </p:cNvPr>
          <p:cNvSpPr>
            <a:spLocks xmlns:a="http://schemas.openxmlformats.org/drawingml/2006/main" noGrp="1"/>
          </p:cNvSpPr>
          <p:nvPr/>
        </p:nvSpPr>
        <p:spPr>
          <a:xfrm xmlns:a="http://schemas.openxmlformats.org/drawingml/2006/main">
            <a:off x="762000" y="3562350"/>
            <a:ext cx="2266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4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관심·장바구니</a:t>
            </a:r>
          </a:p>
          <a:p xmlns:a="http://schemas.openxmlformats.org/drawingml/2006/main">
            <a:pPr algn="ctr">
              <a:lnSpc>
                <a:spcPct val="14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알림 반응·구매</a:t>
            </a:r>
          </a:p>
        </p:txBody>
      </p:sp>
      <p:sp>
        <p:nvSpPr>
          <p:cNvPr id="8" name="">
            <a:extLst xmlns:a="http://schemas.openxmlformats.org/drawingml/2006/main">
              <a:ext uri="{FF2B5EF4-FFF2-40B4-BE49-F238E27FC236}">
                <a16:creationId xmlns:a16="http://schemas.microsoft.com/office/drawing/2014/main" id="{85212CEF-45AC-43D0-A3AF-9577DF194BBE}"/>
              </a:ext>
            </a:extLst>
          </p:cNvPr>
          <p:cNvSpPr>
            <a:spLocks xmlns:a="http://schemas.openxmlformats.org/drawingml/2006/main" noGrp="1"/>
          </p:cNvSpPr>
          <p:nvPr/>
        </p:nvSpPr>
        <p:spPr>
          <a:xfrm xmlns:a="http://schemas.openxmlformats.org/drawingml/2006/main">
            <a:off x="3962400" y="3048000"/>
            <a:ext cx="2857500" cy="14668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550ABAA-6B9A-47AB-9885-42C3A4F95BD1}"/>
              </a:ext>
            </a:extLst>
          </p:cNvPr>
          <p:cNvSpPr>
            <a:spLocks xmlns:a="http://schemas.openxmlformats.org/drawingml/2006/main" noGrp="1"/>
          </p:cNvSpPr>
          <p:nvPr/>
        </p:nvSpPr>
        <p:spPr>
          <a:xfrm xmlns:a="http://schemas.openxmlformats.org/drawingml/2006/main">
            <a:off x="4114800" y="3162300"/>
            <a:ext cx="2552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75" b="1">
                <a:solidFill>
                  <a:srgbClr val="F6F0E6"/>
                </a:solidFill>
                <a:latin typeface="Noto Sans CJK KR"/>
                <a:ea typeface="Noto Sans CJK KR"/>
                <a:cs typeface="Noto Sans CJK KR"/>
              </a:defRPr>
            </a:pPr>
            <a:r>
              <a:rPr sz="1875" b="1">
                <a:solidFill>
                  <a:srgbClr val="F6F0E6"/>
                </a:solidFill>
                <a:latin typeface="Noto Sans CJK KR"/>
                <a:ea typeface="Noto Sans CJK KR"/>
                <a:cs typeface="Noto Sans CJK KR"/>
              </a:rPr>
              <a:t>포트폴리오 관리</a:t>
            </a:r>
          </a:p>
        </p:txBody>
      </p:sp>
      <p:sp>
        <p:nvSpPr>
          <p:cNvPr id="10" name="">
            <a:extLst xmlns:a="http://schemas.openxmlformats.org/drawingml/2006/main">
              <a:ext uri="{FF2B5EF4-FFF2-40B4-BE49-F238E27FC236}">
                <a16:creationId xmlns:a16="http://schemas.microsoft.com/office/drawing/2014/main" id="{86A2EF44-4488-4D35-BD11-910621C1D55F}"/>
              </a:ext>
            </a:extLst>
          </p:cNvPr>
          <p:cNvSpPr>
            <a:spLocks xmlns:a="http://schemas.openxmlformats.org/drawingml/2006/main" noGrp="1"/>
          </p:cNvSpPr>
          <p:nvPr/>
        </p:nvSpPr>
        <p:spPr>
          <a:xfrm xmlns:a="http://schemas.openxmlformats.org/drawingml/2006/main">
            <a:off x="4114800" y="3562350"/>
            <a:ext cx="2552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40000"/>
              </a:lnSpc>
              <a:buNone/>
              <a:defRPr sz="1575" b="0">
                <a:solidFill>
                  <a:srgbClr val="F6F0E6"/>
                </a:solidFill>
                <a:latin typeface="Noto Sans CJK KR"/>
                <a:ea typeface="Noto Sans CJK KR"/>
                <a:cs typeface="Noto Sans CJK KR"/>
              </a:defRPr>
            </a:pPr>
            <a:r>
              <a:rPr sz="1575" b="0">
                <a:solidFill>
                  <a:srgbClr val="F6F0E6"/>
                </a:solidFill>
                <a:latin typeface="Noto Sans CJK KR"/>
                <a:ea typeface="Noto Sans CJK KR"/>
                <a:cs typeface="Noto Sans CJK KR"/>
              </a:rPr>
              <a:t>고객·상품·행동·시각</a:t>
            </a:r>
          </a:p>
          <a:p xmlns:a="http://schemas.openxmlformats.org/drawingml/2006/main">
            <a:pPr algn="ctr">
              <a:lnSpc>
                <a:spcPct val="140000"/>
              </a:lnSpc>
              <a:buNone/>
              <a:defRPr sz="1575" b="0">
                <a:solidFill>
                  <a:srgbClr val="F6F0E6"/>
                </a:solidFill>
                <a:latin typeface="Noto Sans CJK KR"/>
                <a:ea typeface="Noto Sans CJK KR"/>
                <a:cs typeface="Noto Sans CJK KR"/>
              </a:defRPr>
            </a:pPr>
            <a:r>
              <a:rPr sz="1575" b="0">
                <a:solidFill>
                  <a:srgbClr val="F6F0E6"/>
                </a:solidFill>
                <a:latin typeface="Noto Sans CJK KR"/>
                <a:ea typeface="Noto Sans CJK KR"/>
                <a:cs typeface="Noto Sans CJK KR"/>
              </a:rPr>
              <a:t>중복 제거와 구매 연결</a:t>
            </a:r>
          </a:p>
        </p:txBody>
      </p:sp>
      <p:sp>
        <p:nvSpPr>
          <p:cNvPr id="11" name="">
            <a:extLst xmlns:a="http://schemas.openxmlformats.org/drawingml/2006/main">
              <a:ext uri="{FF2B5EF4-FFF2-40B4-BE49-F238E27FC236}">
                <a16:creationId xmlns:a16="http://schemas.microsoft.com/office/drawing/2014/main" id="{646050A8-38A3-43CC-82FF-844F699E25C7}"/>
              </a:ext>
            </a:extLst>
          </p:cNvPr>
          <p:cNvSpPr>
            <a:spLocks xmlns:a="http://schemas.openxmlformats.org/drawingml/2006/main" noGrp="1"/>
          </p:cNvSpPr>
          <p:nvPr/>
        </p:nvSpPr>
        <p:spPr>
          <a:xfrm xmlns:a="http://schemas.openxmlformats.org/drawingml/2006/main">
            <a:off x="8020050" y="2076450"/>
            <a:ext cx="3562350" cy="100965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D0CF477-6548-4350-BC6C-7362F1497675}"/>
              </a:ext>
            </a:extLst>
          </p:cNvPr>
          <p:cNvSpPr>
            <a:spLocks xmlns:a="http://schemas.openxmlformats.org/drawingml/2006/main" noGrp="1"/>
          </p:cNvSpPr>
          <p:nvPr/>
        </p:nvSpPr>
        <p:spPr>
          <a:xfrm xmlns:a="http://schemas.openxmlformats.org/drawingml/2006/main">
            <a:off x="8172450" y="2190750"/>
            <a:ext cx="3257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개인 화면과 알림</a:t>
            </a:r>
          </a:p>
        </p:txBody>
      </p:sp>
      <p:sp>
        <p:nvSpPr>
          <p:cNvPr id="13" name="">
            <a:extLst xmlns:a="http://schemas.openxmlformats.org/drawingml/2006/main">
              <a:ext uri="{FF2B5EF4-FFF2-40B4-BE49-F238E27FC236}">
                <a16:creationId xmlns:a16="http://schemas.microsoft.com/office/drawing/2014/main" id="{18A2DAF4-F50B-4296-A0BC-D5D57B1970E2}"/>
              </a:ext>
            </a:extLst>
          </p:cNvPr>
          <p:cNvSpPr>
            <a:spLocks xmlns:a="http://schemas.openxmlformats.org/drawingml/2006/main" noGrp="1"/>
          </p:cNvSpPr>
          <p:nvPr/>
        </p:nvSpPr>
        <p:spPr>
          <a:xfrm xmlns:a="http://schemas.openxmlformats.org/drawingml/2006/main">
            <a:off x="8172450" y="2590800"/>
            <a:ext cx="3257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4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관심빵 할인 확인과 재방문</a:t>
            </a:r>
          </a:p>
        </p:txBody>
      </p:sp>
      <p:sp>
        <p:nvSpPr>
          <p:cNvPr id="14" name="">
            <a:extLst xmlns:a="http://schemas.openxmlformats.org/drawingml/2006/main">
              <a:ext uri="{FF2B5EF4-FFF2-40B4-BE49-F238E27FC236}">
                <a16:creationId xmlns:a16="http://schemas.microsoft.com/office/drawing/2014/main" id="{54377B80-23F7-4483-9F1F-E6EA863A2325}"/>
              </a:ext>
            </a:extLst>
          </p:cNvPr>
          <p:cNvSpPr>
            <a:spLocks xmlns:a="http://schemas.openxmlformats.org/drawingml/2006/main" noGrp="1"/>
          </p:cNvSpPr>
          <p:nvPr/>
        </p:nvSpPr>
        <p:spPr>
          <a:xfrm xmlns:a="http://schemas.openxmlformats.org/drawingml/2006/main">
            <a:off x="8020050" y="3371850"/>
            <a:ext cx="3562350" cy="100965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CE49FDD-7542-4C9F-A9CF-811CFE816FB3}"/>
              </a:ext>
            </a:extLst>
          </p:cNvPr>
          <p:cNvSpPr>
            <a:spLocks xmlns:a="http://schemas.openxmlformats.org/drawingml/2006/main" noGrp="1"/>
          </p:cNvSpPr>
          <p:nvPr/>
        </p:nvSpPr>
        <p:spPr>
          <a:xfrm xmlns:a="http://schemas.openxmlformats.org/drawingml/2006/main">
            <a:off x="8172450" y="3486150"/>
            <a:ext cx="3257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주간 결산과 배당</a:t>
            </a:r>
          </a:p>
        </p:txBody>
      </p:sp>
      <p:sp>
        <p:nvSpPr>
          <p:cNvPr id="16" name="">
            <a:extLst xmlns:a="http://schemas.openxmlformats.org/drawingml/2006/main">
              <a:ext uri="{FF2B5EF4-FFF2-40B4-BE49-F238E27FC236}">
                <a16:creationId xmlns:a16="http://schemas.microsoft.com/office/drawing/2014/main" id="{3598CDE3-E475-460D-B0F0-BAAE2D51739A}"/>
              </a:ext>
            </a:extLst>
          </p:cNvPr>
          <p:cNvSpPr>
            <a:spLocks xmlns:a="http://schemas.openxmlformats.org/drawingml/2006/main" noGrp="1"/>
          </p:cNvSpPr>
          <p:nvPr/>
        </p:nvSpPr>
        <p:spPr>
          <a:xfrm xmlns:a="http://schemas.openxmlformats.org/drawingml/2006/main">
            <a:off x="8172450" y="3886200"/>
            <a:ext cx="3257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4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활동점수와 배당등급 산정</a:t>
            </a:r>
          </a:p>
        </p:txBody>
      </p:sp>
      <p:sp>
        <p:nvSpPr>
          <p:cNvPr id="17" name="">
            <a:extLst xmlns:a="http://schemas.openxmlformats.org/drawingml/2006/main">
              <a:ext uri="{FF2B5EF4-FFF2-40B4-BE49-F238E27FC236}">
                <a16:creationId xmlns:a16="http://schemas.microsoft.com/office/drawing/2014/main" id="{8A8B6782-2450-4FFB-857C-E327BB1060DB}"/>
              </a:ext>
            </a:extLst>
          </p:cNvPr>
          <p:cNvSpPr>
            <a:spLocks xmlns:a="http://schemas.openxmlformats.org/drawingml/2006/main" noGrp="1"/>
          </p:cNvSpPr>
          <p:nvPr/>
        </p:nvSpPr>
        <p:spPr>
          <a:xfrm xmlns:a="http://schemas.openxmlformats.org/drawingml/2006/main">
            <a:off x="8020050" y="4667250"/>
            <a:ext cx="3562350" cy="100965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B92EA44-ECD2-4867-B5B5-0AE5819EF377}"/>
              </a:ext>
            </a:extLst>
          </p:cNvPr>
          <p:cNvSpPr>
            <a:spLocks xmlns:a="http://schemas.openxmlformats.org/drawingml/2006/main" noGrp="1"/>
          </p:cNvSpPr>
          <p:nvPr/>
        </p:nvSpPr>
        <p:spPr>
          <a:xfrm xmlns:a="http://schemas.openxmlformats.org/drawingml/2006/main">
            <a:off x="8172450" y="4781550"/>
            <a:ext cx="3257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기업의 상품 운영</a:t>
            </a:r>
          </a:p>
        </p:txBody>
      </p:sp>
      <p:sp>
        <p:nvSpPr>
          <p:cNvPr id="19" name="">
            <a:extLst xmlns:a="http://schemas.openxmlformats.org/drawingml/2006/main">
              <a:ext uri="{FF2B5EF4-FFF2-40B4-BE49-F238E27FC236}">
                <a16:creationId xmlns:a16="http://schemas.microsoft.com/office/drawing/2014/main" id="{B6FF0BA9-D00A-4CC4-B471-E628F4EFCD19}"/>
              </a:ext>
            </a:extLst>
          </p:cNvPr>
          <p:cNvSpPr>
            <a:spLocks xmlns:a="http://schemas.openxmlformats.org/drawingml/2006/main" noGrp="1"/>
          </p:cNvSpPr>
          <p:nvPr/>
        </p:nvSpPr>
        <p:spPr>
          <a:xfrm xmlns:a="http://schemas.openxmlformats.org/drawingml/2006/main">
            <a:off x="8172450" y="5181600"/>
            <a:ext cx="3257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4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관심 대비 구매전환·잠재수요</a:t>
            </a:r>
          </a:p>
        </p:txBody>
      </p:sp>
      <p:sp>
        <p:nvSpPr>
          <p:cNvPr id="20" name="">
            <a:extLst xmlns:a="http://schemas.openxmlformats.org/drawingml/2006/main">
              <a:ext uri="{FF2B5EF4-FFF2-40B4-BE49-F238E27FC236}">
                <a16:creationId xmlns:a16="http://schemas.microsoft.com/office/drawing/2014/main" id="{3F6BBDA9-AA1B-437C-AEA3-4CED2459DE7D}"/>
              </a:ext>
            </a:extLst>
          </p:cNvPr>
          <p:cNvSpPr>
            <a:spLocks xmlns:a="http://schemas.openxmlformats.org/drawingml/2006/main" noGrp="1"/>
          </p:cNvSpPr>
          <p:nvPr/>
        </p:nvSpPr>
        <p:spPr>
          <a:xfrm xmlns:a="http://schemas.openxmlformats.org/drawingml/2006/main">
            <a:off x="3333750" y="3667125"/>
            <a:ext cx="457200" cy="2286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A8D194C-F586-4BAD-8828-1D800324F7BD}"/>
              </a:ext>
            </a:extLst>
          </p:cNvPr>
          <p:cNvSpPr>
            <a:spLocks xmlns:a="http://schemas.openxmlformats.org/drawingml/2006/main" noGrp="1"/>
          </p:cNvSpPr>
          <p:nvPr/>
        </p:nvSpPr>
        <p:spPr>
          <a:xfrm xmlns:a="http://schemas.openxmlformats.org/drawingml/2006/main">
            <a:off x="6819900" y="3781425"/>
            <a:ext cx="60960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22" name="">
            <a:extLst xmlns:a="http://schemas.openxmlformats.org/drawingml/2006/main">
              <a:ext uri="{FF2B5EF4-FFF2-40B4-BE49-F238E27FC236}">
                <a16:creationId xmlns:a16="http://schemas.microsoft.com/office/drawing/2014/main" id="{B1AE085E-FC9B-4D47-B2E9-17A41114D670}"/>
              </a:ext>
            </a:extLst>
          </p:cNvPr>
          <p:cNvSpPr>
            <a:spLocks xmlns:a="http://schemas.openxmlformats.org/drawingml/2006/main" noGrp="1"/>
          </p:cNvSpPr>
          <p:nvPr/>
        </p:nvSpPr>
        <p:spPr>
          <a:xfrm xmlns:a="http://schemas.openxmlformats.org/drawingml/2006/main">
            <a:off x="7429500" y="2581275"/>
            <a:ext cx="0" cy="259080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23" name="">
            <a:extLst xmlns:a="http://schemas.openxmlformats.org/drawingml/2006/main">
              <a:ext uri="{FF2B5EF4-FFF2-40B4-BE49-F238E27FC236}">
                <a16:creationId xmlns:a16="http://schemas.microsoft.com/office/drawing/2014/main" id="{2A48E0D5-7E37-4726-BFB9-273F5F4E4E4D}"/>
              </a:ext>
            </a:extLst>
          </p:cNvPr>
          <p:cNvSpPr>
            <a:spLocks xmlns:a="http://schemas.openxmlformats.org/drawingml/2006/main" noGrp="1"/>
          </p:cNvSpPr>
          <p:nvPr/>
        </p:nvSpPr>
        <p:spPr>
          <a:xfrm xmlns:a="http://schemas.openxmlformats.org/drawingml/2006/main">
            <a:off x="7429500" y="2581275"/>
            <a:ext cx="28575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24" name="">
            <a:extLst xmlns:a="http://schemas.openxmlformats.org/drawingml/2006/main">
              <a:ext uri="{FF2B5EF4-FFF2-40B4-BE49-F238E27FC236}">
                <a16:creationId xmlns:a16="http://schemas.microsoft.com/office/drawing/2014/main" id="{5674ED6F-B139-47B2-A61F-D7CF1337A754}"/>
              </a:ext>
            </a:extLst>
          </p:cNvPr>
          <p:cNvSpPr>
            <a:spLocks xmlns:a="http://schemas.openxmlformats.org/drawingml/2006/main" noGrp="1"/>
          </p:cNvSpPr>
          <p:nvPr/>
        </p:nvSpPr>
        <p:spPr>
          <a:xfrm xmlns:a="http://schemas.openxmlformats.org/drawingml/2006/main">
            <a:off x="7715250" y="2486025"/>
            <a:ext cx="228600" cy="1905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4A3F808-15D7-4963-B68F-E122276A7338}"/>
              </a:ext>
            </a:extLst>
          </p:cNvPr>
          <p:cNvSpPr>
            <a:spLocks xmlns:a="http://schemas.openxmlformats.org/drawingml/2006/main" noGrp="1"/>
          </p:cNvSpPr>
          <p:nvPr/>
        </p:nvSpPr>
        <p:spPr>
          <a:xfrm xmlns:a="http://schemas.openxmlformats.org/drawingml/2006/main">
            <a:off x="7429500" y="3876675"/>
            <a:ext cx="28575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26" name="">
            <a:extLst xmlns:a="http://schemas.openxmlformats.org/drawingml/2006/main">
              <a:ext uri="{FF2B5EF4-FFF2-40B4-BE49-F238E27FC236}">
                <a16:creationId xmlns:a16="http://schemas.microsoft.com/office/drawing/2014/main" id="{EB514B2F-A713-4095-B65C-A412FC62BF9A}"/>
              </a:ext>
            </a:extLst>
          </p:cNvPr>
          <p:cNvSpPr>
            <a:spLocks xmlns:a="http://schemas.openxmlformats.org/drawingml/2006/main" noGrp="1"/>
          </p:cNvSpPr>
          <p:nvPr/>
        </p:nvSpPr>
        <p:spPr>
          <a:xfrm xmlns:a="http://schemas.openxmlformats.org/drawingml/2006/main">
            <a:off x="7715250" y="3781425"/>
            <a:ext cx="228600" cy="1905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5FD156D-A3F7-422A-8234-7B98C4BE2B4B}"/>
              </a:ext>
            </a:extLst>
          </p:cNvPr>
          <p:cNvSpPr>
            <a:spLocks xmlns:a="http://schemas.openxmlformats.org/drawingml/2006/main" noGrp="1"/>
          </p:cNvSpPr>
          <p:nvPr/>
        </p:nvSpPr>
        <p:spPr>
          <a:xfrm xmlns:a="http://schemas.openxmlformats.org/drawingml/2006/main">
            <a:off x="7429500" y="5172075"/>
            <a:ext cx="28575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28" name="">
            <a:extLst xmlns:a="http://schemas.openxmlformats.org/drawingml/2006/main">
              <a:ext uri="{FF2B5EF4-FFF2-40B4-BE49-F238E27FC236}">
                <a16:creationId xmlns:a16="http://schemas.microsoft.com/office/drawing/2014/main" id="{A99498C6-D2C5-47D9-919A-E591A9D4E129}"/>
              </a:ext>
            </a:extLst>
          </p:cNvPr>
          <p:cNvSpPr>
            <a:spLocks xmlns:a="http://schemas.openxmlformats.org/drawingml/2006/main" noGrp="1"/>
          </p:cNvSpPr>
          <p:nvPr/>
        </p:nvSpPr>
        <p:spPr>
          <a:xfrm xmlns:a="http://schemas.openxmlformats.org/drawingml/2006/main">
            <a:off x="7715250" y="5076825"/>
            <a:ext cx="228600" cy="1905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19BC6C5-9914-4BEA-8D44-B4E05576636E}"/>
              </a:ext>
            </a:extLst>
          </p:cNvPr>
          <p:cNvSpPr>
            <a:spLocks xmlns:a="http://schemas.openxmlformats.org/drawingml/2006/main" noGrp="1"/>
          </p:cNvSpPr>
          <p:nvPr/>
        </p:nvSpPr>
        <p:spPr>
          <a:xfrm xmlns:a="http://schemas.openxmlformats.org/drawingml/2006/main">
            <a:off x="609600" y="59626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0">
                <a:solidFill>
                  <a:srgbClr val="123F34"/>
                </a:solidFill>
                <a:latin typeface="Noto Sans CJK KR"/>
                <a:ea typeface="Noto Sans CJK KR"/>
                <a:cs typeface="Noto Sans CJK KR"/>
              </a:defRPr>
            </a:pPr>
            <a:r>
              <a:rPr sz="1500" b="0">
                <a:solidFill>
                  <a:srgbClr val="123F34"/>
                </a:solidFill>
                <a:latin typeface="Noto Sans CJK KR"/>
                <a:ea typeface="Noto Sans CJK KR"/>
                <a:cs typeface="Noto Sans CJK KR"/>
              </a:rPr>
              <a:t>관심과 구매는 분리해 저장하고, 알림 동의와 보관·삭제 기준을 함께 관리합니다.</a:t>
            </a:r>
          </a:p>
        </p:txBody>
      </p:sp>
    </p:spTree>
    <p:extLst>
      <p:ext uri="{BB962C8B-B14F-4D97-AF65-F5344CB8AC3E}">
        <p14:creationId xmlns:p14="http://schemas.microsoft.com/office/powerpoint/2010/main" val="712109369"/>
      </p:ext>
    </p:extLst>
  </p:cSld>
</p:sld>
</file>

<file path=ppt/slides/slide7.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FB1DFCF-A6E4-4C34-9367-BB773B98052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평일 활동을 주말에 돌려주어 휴장일 방문을 만듭니다</a:t>
            </a:r>
          </a:p>
        </p:txBody>
      </p:sp>
      <p:sp>
        <p:nvSpPr>
          <p:cNvPr id="2" name="">
            <a:extLst xmlns:a="http://schemas.openxmlformats.org/drawingml/2006/main">
              <a:ext uri="{FF2B5EF4-FFF2-40B4-BE49-F238E27FC236}">
                <a16:creationId xmlns:a16="http://schemas.microsoft.com/office/drawing/2014/main" id="{22980ACE-FCEA-49D3-BF9F-C992D168156A}"/>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주말에는 상품 정가를 유지하고, 평일에 쌓인 활동을 리포트와 포인트로 보상합니다.</a:t>
            </a:r>
          </a:p>
        </p:txBody>
      </p:sp>
      <p:sp>
        <p:nvSpPr>
          <p:cNvPr id="3" name="">
            <a:extLst xmlns:a="http://schemas.openxmlformats.org/drawingml/2006/main">
              <a:ext uri="{FF2B5EF4-FFF2-40B4-BE49-F238E27FC236}">
                <a16:creationId xmlns:a16="http://schemas.microsoft.com/office/drawing/2014/main" id="{A7C4A10D-A9B8-4467-B215-8DB7D1906131}"/>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571D35A5-C499-41CF-87E6-B0C8012BF910}"/>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07</a:t>
            </a:r>
          </a:p>
        </p:txBody>
      </p:sp>
      <p:sp>
        <p:nvSpPr>
          <p:cNvPr id="5" name="">
            <a:extLst xmlns:a="http://schemas.openxmlformats.org/drawingml/2006/main">
              <a:ext uri="{FF2B5EF4-FFF2-40B4-BE49-F238E27FC236}">
                <a16:creationId xmlns:a16="http://schemas.microsoft.com/office/drawing/2014/main" id="{6CCF91D1-ED0D-4485-BCC1-2602D182A191}"/>
              </a:ext>
            </a:extLst>
          </p:cNvPr>
          <p:cNvSpPr>
            <a:spLocks xmlns:a="http://schemas.openxmlformats.org/drawingml/2006/main" noGrp="1"/>
          </p:cNvSpPr>
          <p:nvPr/>
        </p:nvSpPr>
        <p:spPr>
          <a:xfrm xmlns:a="http://schemas.openxmlformats.org/drawingml/2006/main">
            <a:off x="609600" y="2457450"/>
            <a:ext cx="3352800" cy="23241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1E6B3BB-19DA-4D2A-94AE-37EF484E855F}"/>
              </a:ext>
            </a:extLst>
          </p:cNvPr>
          <p:cNvSpPr>
            <a:spLocks xmlns:a="http://schemas.openxmlformats.org/drawingml/2006/main" noGrp="1"/>
          </p:cNvSpPr>
          <p:nvPr/>
        </p:nvSpPr>
        <p:spPr>
          <a:xfrm xmlns:a="http://schemas.openxmlformats.org/drawingml/2006/main">
            <a:off x="838200" y="2647950"/>
            <a:ext cx="289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평일</a:t>
            </a:r>
          </a:p>
        </p:txBody>
      </p:sp>
      <p:sp>
        <p:nvSpPr>
          <p:cNvPr id="7" name="">
            <a:extLst xmlns:a="http://schemas.openxmlformats.org/drawingml/2006/main">
              <a:ext uri="{FF2B5EF4-FFF2-40B4-BE49-F238E27FC236}">
                <a16:creationId xmlns:a16="http://schemas.microsoft.com/office/drawing/2014/main" id="{9088A234-FDE9-4D79-AE6B-9036CD7E16FF}"/>
              </a:ext>
            </a:extLst>
          </p:cNvPr>
          <p:cNvSpPr>
            <a:spLocks xmlns:a="http://schemas.openxmlformats.org/drawingml/2006/main" noGrp="1"/>
          </p:cNvSpPr>
          <p:nvPr/>
        </p:nvSpPr>
        <p:spPr>
          <a:xfrm xmlns:a="http://schemas.openxmlformats.org/drawingml/2006/main">
            <a:off x="838200" y="32670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관심과 구매를 기록</a:t>
            </a:r>
          </a:p>
        </p:txBody>
      </p:sp>
      <p:sp>
        <p:nvSpPr>
          <p:cNvPr id="8" name="">
            <a:extLst xmlns:a="http://schemas.openxmlformats.org/drawingml/2006/main">
              <a:ext uri="{FF2B5EF4-FFF2-40B4-BE49-F238E27FC236}">
                <a16:creationId xmlns:a16="http://schemas.microsoft.com/office/drawing/2014/main" id="{96860170-6AD6-4838-BA96-E598C9AE358F}"/>
              </a:ext>
            </a:extLst>
          </p:cNvPr>
          <p:cNvSpPr>
            <a:spLocks xmlns:a="http://schemas.openxmlformats.org/drawingml/2006/main" noGrp="1"/>
          </p:cNvSpPr>
          <p:nvPr/>
        </p:nvSpPr>
        <p:spPr>
          <a:xfrm xmlns:a="http://schemas.openxmlformats.org/drawingml/2006/main">
            <a:off x="838200" y="40290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관심빵·장바구니·알림·구매</a:t>
            </a:r>
          </a:p>
        </p:txBody>
      </p:sp>
      <p:sp>
        <p:nvSpPr>
          <p:cNvPr id="9" name="">
            <a:extLst xmlns:a="http://schemas.openxmlformats.org/drawingml/2006/main">
              <a:ext uri="{FF2B5EF4-FFF2-40B4-BE49-F238E27FC236}">
                <a16:creationId xmlns:a16="http://schemas.microsoft.com/office/drawing/2014/main" id="{00F8B571-5D3F-40AB-B714-C0C6CE37B167}"/>
              </a:ext>
            </a:extLst>
          </p:cNvPr>
          <p:cNvSpPr>
            <a:spLocks xmlns:a="http://schemas.openxmlformats.org/drawingml/2006/main" noGrp="1"/>
          </p:cNvSpPr>
          <p:nvPr/>
        </p:nvSpPr>
        <p:spPr>
          <a:xfrm xmlns:a="http://schemas.openxmlformats.org/drawingml/2006/main">
            <a:off x="4048125" y="3505200"/>
            <a:ext cx="276225" cy="2286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3E30BA5-B91B-4833-81B0-DDE595F5ED0C}"/>
              </a:ext>
            </a:extLst>
          </p:cNvPr>
          <p:cNvSpPr>
            <a:spLocks xmlns:a="http://schemas.openxmlformats.org/drawingml/2006/main" noGrp="1"/>
          </p:cNvSpPr>
          <p:nvPr/>
        </p:nvSpPr>
        <p:spPr>
          <a:xfrm xmlns:a="http://schemas.openxmlformats.org/drawingml/2006/main">
            <a:off x="4419600" y="2457450"/>
            <a:ext cx="3352800" cy="232410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4EA7C8F-F622-4AD4-AEF0-29B5D6221B2C}"/>
              </a:ext>
            </a:extLst>
          </p:cNvPr>
          <p:cNvSpPr>
            <a:spLocks xmlns:a="http://schemas.openxmlformats.org/drawingml/2006/main" noGrp="1"/>
          </p:cNvSpPr>
          <p:nvPr/>
        </p:nvSpPr>
        <p:spPr>
          <a:xfrm xmlns:a="http://schemas.openxmlformats.org/drawingml/2006/main">
            <a:off x="4648200" y="2647950"/>
            <a:ext cx="289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F6F0E6"/>
                </a:solidFill>
                <a:latin typeface="Noto Sans CJK KR"/>
                <a:ea typeface="Noto Sans CJK KR"/>
                <a:cs typeface="Noto Sans CJK KR"/>
              </a:defRPr>
            </a:pPr>
            <a:r>
              <a:rPr sz="1650" b="0">
                <a:solidFill>
                  <a:srgbClr val="F6F0E6"/>
                </a:solidFill>
                <a:latin typeface="Noto Sans CJK KR"/>
                <a:ea typeface="Noto Sans CJK KR"/>
                <a:cs typeface="Noto Sans CJK KR"/>
              </a:rPr>
              <a:t>토요일</a:t>
            </a:r>
          </a:p>
        </p:txBody>
      </p:sp>
      <p:sp>
        <p:nvSpPr>
          <p:cNvPr id="12" name="">
            <a:extLst xmlns:a="http://schemas.openxmlformats.org/drawingml/2006/main">
              <a:ext uri="{FF2B5EF4-FFF2-40B4-BE49-F238E27FC236}">
                <a16:creationId xmlns:a16="http://schemas.microsoft.com/office/drawing/2014/main" id="{43A39320-8DD9-4B67-B443-296CA32C1A20}"/>
              </a:ext>
            </a:extLst>
          </p:cNvPr>
          <p:cNvSpPr>
            <a:spLocks xmlns:a="http://schemas.openxmlformats.org/drawingml/2006/main" noGrp="1"/>
          </p:cNvSpPr>
          <p:nvPr/>
        </p:nvSpPr>
        <p:spPr>
          <a:xfrm xmlns:a="http://schemas.openxmlformats.org/drawingml/2006/main">
            <a:off x="4648200" y="32670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F6F0E6"/>
                </a:solidFill>
                <a:latin typeface="Noto Sans CJK KR"/>
                <a:ea typeface="Noto Sans CJK KR"/>
                <a:cs typeface="Noto Sans CJK KR"/>
              </a:defRPr>
            </a:pPr>
            <a:r>
              <a:rPr sz="2100" b="1">
                <a:solidFill>
                  <a:srgbClr val="F6F0E6"/>
                </a:solidFill>
                <a:latin typeface="Noto Sans CJK KR"/>
                <a:ea typeface="Noto Sans CJK KR"/>
                <a:cs typeface="Noto Sans CJK KR"/>
              </a:rPr>
              <a:t>나의 한 주를 확인</a:t>
            </a:r>
          </a:p>
        </p:txBody>
      </p:sp>
      <p:sp>
        <p:nvSpPr>
          <p:cNvPr id="13" name="">
            <a:extLst xmlns:a="http://schemas.openxmlformats.org/drawingml/2006/main">
              <a:ext uri="{FF2B5EF4-FFF2-40B4-BE49-F238E27FC236}">
                <a16:creationId xmlns:a16="http://schemas.microsoft.com/office/drawing/2014/main" id="{FB9F8D36-311A-48D2-B424-0BE48E827599}"/>
              </a:ext>
            </a:extLst>
          </p:cNvPr>
          <p:cNvSpPr>
            <a:spLocks xmlns:a="http://schemas.openxmlformats.org/drawingml/2006/main" noGrp="1"/>
          </p:cNvSpPr>
          <p:nvPr/>
        </p:nvSpPr>
        <p:spPr>
          <a:xfrm xmlns:a="http://schemas.openxmlformats.org/drawingml/2006/main">
            <a:off x="4648200" y="40290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75" b="0">
                <a:solidFill>
                  <a:srgbClr val="F6F0E6"/>
                </a:solidFill>
                <a:latin typeface="Noto Sans CJK KR"/>
                <a:ea typeface="Noto Sans CJK KR"/>
                <a:cs typeface="Noto Sans CJK KR"/>
              </a:defRPr>
            </a:pPr>
            <a:r>
              <a:rPr sz="1575" b="0">
                <a:solidFill>
                  <a:srgbClr val="F6F0E6"/>
                </a:solidFill>
                <a:latin typeface="Noto Sans CJK KR"/>
                <a:ea typeface="Noto Sans CJK KR"/>
                <a:cs typeface="Noto Sans CJK KR"/>
              </a:rPr>
              <a:t>활동 결산과 배당등급 확인</a:t>
            </a:r>
          </a:p>
        </p:txBody>
      </p:sp>
      <p:sp>
        <p:nvSpPr>
          <p:cNvPr id="14" name="">
            <a:extLst xmlns:a="http://schemas.openxmlformats.org/drawingml/2006/main">
              <a:ext uri="{FF2B5EF4-FFF2-40B4-BE49-F238E27FC236}">
                <a16:creationId xmlns:a16="http://schemas.microsoft.com/office/drawing/2014/main" id="{054398B4-6DC6-4454-8A2E-5155268D9517}"/>
              </a:ext>
            </a:extLst>
          </p:cNvPr>
          <p:cNvSpPr>
            <a:spLocks xmlns:a="http://schemas.openxmlformats.org/drawingml/2006/main" noGrp="1"/>
          </p:cNvSpPr>
          <p:nvPr/>
        </p:nvSpPr>
        <p:spPr>
          <a:xfrm xmlns:a="http://schemas.openxmlformats.org/drawingml/2006/main">
            <a:off x="7858125" y="3505200"/>
            <a:ext cx="276225" cy="2286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2B34CCA-D69F-4E7C-ADFA-555400713D8F}"/>
              </a:ext>
            </a:extLst>
          </p:cNvPr>
          <p:cNvSpPr>
            <a:spLocks xmlns:a="http://schemas.openxmlformats.org/drawingml/2006/main" noGrp="1"/>
          </p:cNvSpPr>
          <p:nvPr/>
        </p:nvSpPr>
        <p:spPr>
          <a:xfrm xmlns:a="http://schemas.openxmlformats.org/drawingml/2006/main">
            <a:off x="8229600" y="2457450"/>
            <a:ext cx="3352800" cy="23241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AEF96A0-077D-4C24-9548-E7E395979175}"/>
              </a:ext>
            </a:extLst>
          </p:cNvPr>
          <p:cNvSpPr>
            <a:spLocks xmlns:a="http://schemas.openxmlformats.org/drawingml/2006/main" noGrp="1"/>
          </p:cNvSpPr>
          <p:nvPr/>
        </p:nvSpPr>
        <p:spPr>
          <a:xfrm xmlns:a="http://schemas.openxmlformats.org/drawingml/2006/main">
            <a:off x="8458200" y="2647950"/>
            <a:ext cx="289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주말</a:t>
            </a:r>
          </a:p>
        </p:txBody>
      </p:sp>
      <p:sp>
        <p:nvSpPr>
          <p:cNvPr id="17" name="">
            <a:extLst xmlns:a="http://schemas.openxmlformats.org/drawingml/2006/main">
              <a:ext uri="{FF2B5EF4-FFF2-40B4-BE49-F238E27FC236}">
                <a16:creationId xmlns:a16="http://schemas.microsoft.com/office/drawing/2014/main" id="{0568DB3A-CAE4-4CF6-BA34-44D0DA393BF6}"/>
              </a:ext>
            </a:extLst>
          </p:cNvPr>
          <p:cNvSpPr>
            <a:spLocks xmlns:a="http://schemas.openxmlformats.org/drawingml/2006/main" noGrp="1"/>
          </p:cNvSpPr>
          <p:nvPr/>
        </p:nvSpPr>
        <p:spPr>
          <a:xfrm xmlns:a="http://schemas.openxmlformats.org/drawingml/2006/main">
            <a:off x="8458200" y="32670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포인트로 다시 구매</a:t>
            </a:r>
          </a:p>
        </p:txBody>
      </p:sp>
      <p:sp>
        <p:nvSpPr>
          <p:cNvPr id="18" name="">
            <a:extLst xmlns:a="http://schemas.openxmlformats.org/drawingml/2006/main">
              <a:ext uri="{FF2B5EF4-FFF2-40B4-BE49-F238E27FC236}">
                <a16:creationId xmlns:a16="http://schemas.microsoft.com/office/drawing/2014/main" id="{16BD232B-7607-472B-9C3C-5FD47BB72A1F}"/>
              </a:ext>
            </a:extLst>
          </p:cNvPr>
          <p:cNvSpPr>
            <a:spLocks xmlns:a="http://schemas.openxmlformats.org/drawingml/2006/main" noGrp="1"/>
          </p:cNvSpPr>
          <p:nvPr/>
        </p:nvSpPr>
        <p:spPr>
          <a:xfrm xmlns:a="http://schemas.openxmlformats.org/drawingml/2006/main">
            <a:off x="8458200" y="40290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보유 배당금을 주문에 사용</a:t>
            </a:r>
          </a:p>
        </p:txBody>
      </p:sp>
      <p:sp>
        <p:nvSpPr>
          <p:cNvPr id="19" name="">
            <a:extLst xmlns:a="http://schemas.openxmlformats.org/drawingml/2006/main">
              <a:ext uri="{FF2B5EF4-FFF2-40B4-BE49-F238E27FC236}">
                <a16:creationId xmlns:a16="http://schemas.microsoft.com/office/drawing/2014/main" id="{11D8581C-815B-4CCE-B179-4901C0142B86}"/>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32B19A7-40A2-42D7-BEF5-65FA50FFFC98}"/>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검증할 가설: 주간 결산과 보상이 평일 이용자의 주말 재방문·구매를 늘린다.</a:t>
            </a:r>
          </a:p>
        </p:txBody>
      </p:sp>
      <p:sp>
        <p:nvSpPr>
          <p:cNvPr id="21" name="">
            <a:extLst xmlns:a="http://schemas.openxmlformats.org/drawingml/2006/main">
              <a:ext uri="{FF2B5EF4-FFF2-40B4-BE49-F238E27FC236}">
                <a16:creationId xmlns:a16="http://schemas.microsoft.com/office/drawing/2014/main" id="{95AECB50-8BFA-47EC-8FBE-AA425E1EAD70}"/>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배당금은 자사몰 적립금의 서비스 명칭이며, 현금 배당이나 투자 수익이 아닙니다.</a:t>
            </a:r>
          </a:p>
        </p:txBody>
      </p:sp>
    </p:spTree>
    <p:extLst>
      <p:ext uri="{BB962C8B-B14F-4D97-AF65-F5344CB8AC3E}">
        <p14:creationId xmlns:p14="http://schemas.microsoft.com/office/powerpoint/2010/main" val="1340786694"/>
      </p:ext>
    </p:extLst>
  </p:cSld>
</p:sld>
</file>

<file path=ppt/slides/slide8.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4F998C-A03B-43FC-87E0-4013223CFF1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평일 활동을 주간 점수로 합산해 최대 800P를 지급합니다</a:t>
            </a:r>
          </a:p>
        </p:txBody>
      </p:sp>
      <p:sp>
        <p:nvSpPr>
          <p:cNvPr id="2" name="">
            <a:extLst xmlns:a="http://schemas.openxmlformats.org/drawingml/2006/main">
              <a:ext uri="{FF2B5EF4-FFF2-40B4-BE49-F238E27FC236}">
                <a16:creationId xmlns:a16="http://schemas.microsoft.com/office/drawing/2014/main" id="{5BC23CA7-E183-49F6-B24D-AC6478BCF506}"/>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동일 행동은 주 1회만 인정하며, 구매 전 참여도 보상합니다.</a:t>
            </a:r>
          </a:p>
        </p:txBody>
      </p:sp>
      <p:sp>
        <p:nvSpPr>
          <p:cNvPr id="3" name="">
            <a:extLst xmlns:a="http://schemas.openxmlformats.org/drawingml/2006/main">
              <a:ext uri="{FF2B5EF4-FFF2-40B4-BE49-F238E27FC236}">
                <a16:creationId xmlns:a16="http://schemas.microsoft.com/office/drawing/2014/main" id="{ED6539E1-FFF1-4307-A094-FFD711F0D325}"/>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3B9BB2E9-9FD4-416C-966D-B5E441E3496A}"/>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08</a:t>
            </a:r>
          </a:p>
        </p:txBody>
      </p:sp>
      <p:graphicFrame>
        <p:nvGraphicFramePr>
          <p:cNvPr id="14" name=""/>
          <p:cNvGraphicFramePr/>
          <p:nvPr/>
        </p:nvGraphicFramePr>
        <p:xfrm>
          <a:off xmlns:a="http://schemas.openxmlformats.org/drawingml/2006/main" x="609600" y="2057400"/>
          <a:ext xmlns:a="http://schemas.openxmlformats.org/drawingml/2006/main" cx="5181600" cy="3143250"/>
        </p:xfrm>
        <a:graphic xmlns:a="http://schemas.openxmlformats.org/drawingml/2006/main">
          <a:graphicData uri="http://schemas.openxmlformats.org/drawingml/2006/table">
            <a:tbl>
              <a:tblPr firstRow="0" bandRow="0"/>
              <a:tblGrid>
                <a:gridCol w="3810000"/>
                <a:gridCol w="1371600"/>
              </a:tblGrid>
              <a:tr h="523875">
                <a:tc>
                  <a:txBody>
                    <a:bodyPr>
                      <a:noAutofit/>
                    </a:bodyPr>
                    <a:lstStyle/>
                    <a:p>
                      <a:pPr algn="l">
                        <a:lnSpc>
                          <a:spcPct val="120000"/>
                        </a:lnSpc>
                        <a:buNone/>
                      </a:pPr>
                      <a:r>
                        <a:rPr sz="1350" b="1">
                          <a:solidFill>
                            <a:srgbClr val="F6F0E6"/>
                          </a:solidFill>
                          <a:latin typeface="Noto Sans CJK KR"/>
                          <a:ea typeface="Noto Sans CJK KR"/>
                          <a:cs typeface="Noto Sans CJK KR"/>
                        </a:rPr>
                        <a:t>활동</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주간 점수</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523875">
                <a:tc>
                  <a:txBody>
                    <a:bodyPr>
                      <a:noAutofit/>
                    </a:bodyPr>
                    <a:lstStyle/>
                    <a:p>
                      <a:pPr algn="l">
                        <a:lnSpc>
                          <a:spcPct val="120000"/>
                        </a:lnSpc>
                        <a:buNone/>
                      </a:pPr>
                      <a:r>
                        <a:rPr sz="1725" b="1">
                          <a:solidFill>
                            <a:srgbClr val="123F34"/>
                          </a:solidFill>
                          <a:latin typeface="Noto Sans CJK KR"/>
                          <a:ea typeface="Noto Sans CJK KR"/>
                          <a:cs typeface="Noto Sans CJK KR"/>
                        </a:rPr>
                        <a:t>관심빵 등록</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+1</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23875">
                <a:tc>
                  <a:txBody>
                    <a:bodyPr>
                      <a:noAutofit/>
                    </a:bodyPr>
                    <a:lstStyle/>
                    <a:p>
                      <a:pPr algn="l">
                        <a:lnSpc>
                          <a:spcPct val="120000"/>
                        </a:lnSpc>
                        <a:buNone/>
                      </a:pPr>
                      <a:r>
                        <a:rPr sz="1725" b="1">
                          <a:solidFill>
                            <a:srgbClr val="123F34"/>
                          </a:solidFill>
                          <a:latin typeface="Noto Sans CJK KR"/>
                          <a:ea typeface="Noto Sans CJK KR"/>
                          <a:cs typeface="Noto Sans CJK KR"/>
                        </a:rPr>
                        <a:t>장바구니 등록</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+1</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23875">
                <a:tc>
                  <a:txBody>
                    <a:bodyPr>
                      <a:noAutofit/>
                    </a:bodyPr>
                    <a:lstStyle/>
                    <a:p>
                      <a:pPr algn="l">
                        <a:lnSpc>
                          <a:spcPct val="120000"/>
                        </a:lnSpc>
                        <a:buNone/>
                      </a:pPr>
                      <a:r>
                        <a:rPr sz="1725" b="1">
                          <a:solidFill>
                            <a:srgbClr val="123F34"/>
                          </a:solidFill>
                          <a:latin typeface="Noto Sans CJK KR"/>
                          <a:ea typeface="Noto Sans CJK KR"/>
                          <a:cs typeface="Noto Sans CJK KR"/>
                        </a:rPr>
                        <a:t>가격 알림 설정·반응</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+1</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23875">
                <a:tc>
                  <a:txBody>
                    <a:bodyPr>
                      <a:noAutofit/>
                    </a:bodyPr>
                    <a:lstStyle/>
                    <a:p>
                      <a:pPr algn="l">
                        <a:lnSpc>
                          <a:spcPct val="120000"/>
                        </a:lnSpc>
                        <a:buNone/>
                      </a:pPr>
                      <a:r>
                        <a:rPr sz="1725" b="1">
                          <a:solidFill>
                            <a:srgbClr val="123F34"/>
                          </a:solidFill>
                          <a:latin typeface="Noto Sans CJK KR"/>
                          <a:ea typeface="Noto Sans CJK KR"/>
                          <a:cs typeface="Noto Sans CJK KR"/>
                        </a:rPr>
                        <a:t>빵시장 구매</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+3</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23875">
                <a:tc>
                  <a:txBody>
                    <a:bodyPr>
                      <a:noAutofit/>
                    </a:bodyPr>
                    <a:lstStyle/>
                    <a:p>
                      <a:pPr algn="l">
                        <a:lnSpc>
                          <a:spcPct val="120000"/>
                        </a:lnSpc>
                        <a:buNone/>
                      </a:pPr>
                      <a:r>
                        <a:rPr sz="1725" b="1">
                          <a:solidFill>
                            <a:srgbClr val="123F34"/>
                          </a:solidFill>
                          <a:latin typeface="Noto Sans CJK KR"/>
                          <a:ea typeface="Noto Sans CJK KR"/>
                          <a:cs typeface="Noto Sans CJK KR"/>
                        </a:rPr>
                        <a:t>계절 공모주 참여 시</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+1</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bl>
          </a:graphicData>
        </a:graphic>
      </p:graphicFrame>
      <p:graphicFrame>
        <p:nvGraphicFramePr>
          <p:cNvPr id="15" name=""/>
          <p:cNvGraphicFramePr/>
          <p:nvPr/>
        </p:nvGraphicFramePr>
        <p:xfrm>
          <a:off xmlns:a="http://schemas.openxmlformats.org/drawingml/2006/main" x="6324600" y="2057400"/>
          <a:ext xmlns:a="http://schemas.openxmlformats.org/drawingml/2006/main" cx="5257800" cy="3143250"/>
        </p:xfrm>
        <a:graphic xmlns:a="http://schemas.openxmlformats.org/drawingml/2006/main">
          <a:graphicData uri="http://schemas.openxmlformats.org/drawingml/2006/table">
            <a:tbl>
              <a:tblPr firstRow="0" bandRow="0"/>
              <a:tblGrid>
                <a:gridCol w="1771650"/>
                <a:gridCol w="1695450"/>
                <a:gridCol w="1790700"/>
              </a:tblGrid>
              <a:tr h="628650">
                <a:tc>
                  <a:txBody>
                    <a:bodyPr>
                      <a:noAutofit/>
                    </a:bodyPr>
                    <a:lstStyle/>
                    <a:p>
                      <a:pPr algn="l">
                        <a:lnSpc>
                          <a:spcPct val="120000"/>
                        </a:lnSpc>
                        <a:buNone/>
                      </a:pPr>
                      <a:r>
                        <a:rPr sz="1350" b="1">
                          <a:solidFill>
                            <a:srgbClr val="F6F0E6"/>
                          </a:solidFill>
                          <a:latin typeface="Noto Sans CJK KR"/>
                          <a:ea typeface="Noto Sans CJK KR"/>
                          <a:cs typeface="Noto Sans CJK KR"/>
                        </a:rPr>
                        <a:t>합산 점수</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등급</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배당금</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628650">
                <a:tc>
                  <a:txBody>
                    <a:bodyPr>
                      <a:noAutofit/>
                    </a:bodyPr>
                    <a:lstStyle/>
                    <a:p>
                      <a:pPr algn="l">
                        <a:lnSpc>
                          <a:spcPct val="120000"/>
                        </a:lnSpc>
                        <a:buNone/>
                      </a:pPr>
                      <a:r>
                        <a:rPr sz="1800" b="1">
                          <a:solidFill>
                            <a:srgbClr val="123F34"/>
                          </a:solidFill>
                          <a:latin typeface="Noto Sans CJK KR"/>
                          <a:ea typeface="Noto Sans CJK KR"/>
                          <a:cs typeface="Noto Sans CJK KR"/>
                        </a:rPr>
                        <a:t>0–1점</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없음</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0P</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628650">
                <a:tc>
                  <a:txBody>
                    <a:bodyPr>
                      <a:noAutofit/>
                    </a:bodyPr>
                    <a:lstStyle/>
                    <a:p>
                      <a:pPr algn="l">
                        <a:lnSpc>
                          <a:spcPct val="120000"/>
                        </a:lnSpc>
                        <a:buNone/>
                      </a:pPr>
                      <a:r>
                        <a:rPr sz="1800" b="1">
                          <a:solidFill>
                            <a:srgbClr val="123F34"/>
                          </a:solidFill>
                          <a:latin typeface="Noto Sans CJK KR"/>
                          <a:ea typeface="Noto Sans CJK KR"/>
                          <a:cs typeface="Noto Sans CJK KR"/>
                        </a:rPr>
                        <a:t>2–3점</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BASIC</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300P</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628650">
                <a:tc>
                  <a:txBody>
                    <a:bodyPr>
                      <a:noAutofit/>
                    </a:bodyPr>
                    <a:lstStyle/>
                    <a:p>
                      <a:pPr algn="l">
                        <a:lnSpc>
                          <a:spcPct val="120000"/>
                        </a:lnSpc>
                        <a:buNone/>
                      </a:pPr>
                      <a:r>
                        <a:rPr sz="1800" b="1">
                          <a:solidFill>
                            <a:srgbClr val="123F34"/>
                          </a:solidFill>
                          <a:latin typeface="Noto Sans CJK KR"/>
                          <a:ea typeface="Noto Sans CJK KR"/>
                          <a:cs typeface="Noto Sans CJK KR"/>
                        </a:rPr>
                        <a:t>4–5점</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PLUS</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500P</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628650">
                <a:tc>
                  <a:txBody>
                    <a:bodyPr>
                      <a:noAutofit/>
                    </a:bodyPr>
                    <a:lstStyle/>
                    <a:p>
                      <a:pPr algn="l">
                        <a:lnSpc>
                          <a:spcPct val="120000"/>
                        </a:lnSpc>
                        <a:buNone/>
                      </a:pPr>
                      <a:r>
                        <a:rPr sz="1800" b="1">
                          <a:solidFill>
                            <a:srgbClr val="F6F0E6"/>
                          </a:solidFill>
                          <a:latin typeface="Noto Sans CJK KR"/>
                          <a:ea typeface="Noto Sans CJK KR"/>
                          <a:cs typeface="Noto Sans CJK KR"/>
                        </a:rPr>
                        <a:t>6점 이상</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123F34"/>
                    </a:solidFill>
                  </a:tcPr>
                </a:tc>
                <a:tc>
                  <a:txBody>
                    <a:bodyPr>
                      <a:noAutofit/>
                    </a:bodyPr>
                    <a:lstStyle/>
                    <a:p>
                      <a:pPr algn="ctr">
                        <a:lnSpc>
                          <a:spcPct val="120000"/>
                        </a:lnSpc>
                        <a:buNone/>
                      </a:pPr>
                      <a:r>
                        <a:rPr sz="1800" b="1">
                          <a:solidFill>
                            <a:srgbClr val="F6F0E6"/>
                          </a:solidFill>
                          <a:latin typeface="Noto Sans CJK KR"/>
                          <a:ea typeface="Noto Sans CJK KR"/>
                          <a:cs typeface="Noto Sans CJK KR"/>
                        </a:rPr>
                        <a:t>PRIME</a:t>
                      </a:r>
                    </a:p>
                  </a:txBody>
                  <a:tcPr marL="152400" marR="152400" marT="47625" marB="47625" anchor="ctr">
                    <a:lnR w="19050">
                      <a:solidFill>
                        <a:srgbClr val="F6F0E6"/>
                      </a:solidFill>
                      <a:prstDash val="solid"/>
                    </a:lnR>
                    <a:lnB w="19050">
                      <a:solidFill>
                        <a:srgbClr val="F6F0E6"/>
                      </a:solidFill>
                      <a:prstDash val="solid"/>
                    </a:lnB>
                    <a:solidFill>
                      <a:srgbClr val="123F34"/>
                    </a:solidFill>
                  </a:tcPr>
                </a:tc>
                <a:tc>
                  <a:txBody>
                    <a:bodyPr>
                      <a:noAutofit/>
                    </a:bodyPr>
                    <a:lstStyle/>
                    <a:p>
                      <a:pPr algn="ctr">
                        <a:lnSpc>
                          <a:spcPct val="120000"/>
                        </a:lnSpc>
                        <a:buNone/>
                      </a:pPr>
                      <a:r>
                        <a:rPr sz="1800" b="1">
                          <a:solidFill>
                            <a:srgbClr val="F6F0E6"/>
                          </a:solidFill>
                          <a:latin typeface="Noto Sans CJK KR"/>
                          <a:ea typeface="Noto Sans CJK KR"/>
                          <a:cs typeface="Noto Sans CJK KR"/>
                        </a:rPr>
                        <a:t>800P</a:t>
                      </a:r>
                    </a:p>
                  </a:txBody>
                  <a:tcPr marL="152400" marR="152400" marT="47625" marB="47625" anchor="ctr">
                    <a:lnR w="19050">
                      <a:solidFill>
                        <a:srgbClr val="F6F0E6"/>
                      </a:solidFill>
                      <a:prstDash val="solid"/>
                    </a:lnR>
                    <a:lnB w="19050">
                      <a:solidFill>
                        <a:srgbClr val="F6F0E6"/>
                      </a:solidFill>
                      <a:prstDash val="solid"/>
                    </a:lnB>
                    <a:solidFill>
                      <a:srgbClr val="123F34"/>
                    </a:solidFill>
                  </a:tcPr>
                </a:tc>
              </a:tr>
            </a:tbl>
          </a:graphicData>
        </a:graphic>
      </p:graphicFrame>
      <p:sp>
        <p:nvSpPr>
          <p:cNvPr id="7" name="">
            <a:extLst xmlns:a="http://schemas.openxmlformats.org/drawingml/2006/main">
              <a:ext uri="{FF2B5EF4-FFF2-40B4-BE49-F238E27FC236}">
                <a16:creationId xmlns:a16="http://schemas.microsoft.com/office/drawing/2014/main" id="{AA2940FF-0BEF-4CFF-8C43-70CA456AB62F}"/>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002BC13-5629-44AD-BD7C-4B82F1A63AB8}"/>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관심빵 등록 + 장바구니 등록 = 2점 · 구매 전에도 첫 배당 300P</a:t>
            </a:r>
          </a:p>
        </p:txBody>
      </p:sp>
      <p:sp>
        <p:nvSpPr>
          <p:cNvPr id="9" name="">
            <a:extLst xmlns:a="http://schemas.openxmlformats.org/drawingml/2006/main">
              <a:ext uri="{FF2B5EF4-FFF2-40B4-BE49-F238E27FC236}">
                <a16:creationId xmlns:a16="http://schemas.microsoft.com/office/drawing/2014/main" id="{EE147795-8D7A-48DD-B6E5-59F3A3077FA4}"/>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공모주 점수는 이벤트가 열리는 주에만 적용합니다. 금액과 배점은 기업 승인 전 제안값입니다.</a:t>
            </a:r>
          </a:p>
        </p:txBody>
      </p:sp>
    </p:spTree>
    <p:extLst>
      <p:ext uri="{BB962C8B-B14F-4D97-AF65-F5344CB8AC3E}">
        <p14:creationId xmlns:p14="http://schemas.microsoft.com/office/powerpoint/2010/main" val="1646609678"/>
      </p:ext>
    </p:extLst>
  </p:cSld>
</p:sld>
</file>

<file path=ppt/slides/slide9.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E2952A8-82B6-420A-904D-B8938D6A827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배당금은 같은 달에 모아 주말 주문의 최대 10%까지 씁니다</a:t>
            </a:r>
          </a:p>
        </p:txBody>
      </p:sp>
      <p:sp>
        <p:nvSpPr>
          <p:cNvPr id="2" name="">
            <a:extLst xmlns:a="http://schemas.openxmlformats.org/drawingml/2006/main">
              <a:ext uri="{FF2B5EF4-FFF2-40B4-BE49-F238E27FC236}">
                <a16:creationId xmlns:a16="http://schemas.microsoft.com/office/drawing/2014/main" id="{C7D75BE0-D13E-4D79-B4CA-548F48CC37E3}"/>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지급 한도는 주간 800P, 사용 한도는 주문금액의 10%로 각각 관리합니다.</a:t>
            </a:r>
          </a:p>
        </p:txBody>
      </p:sp>
      <p:sp>
        <p:nvSpPr>
          <p:cNvPr id="3" name="">
            <a:extLst xmlns:a="http://schemas.openxmlformats.org/drawingml/2006/main">
              <a:ext uri="{FF2B5EF4-FFF2-40B4-BE49-F238E27FC236}">
                <a16:creationId xmlns:a16="http://schemas.microsoft.com/office/drawing/2014/main" id="{9774E81B-291D-466F-8CC5-C8AF9CC6B88B}"/>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F563E569-BBDA-4E79-9A6B-8D2466CC80C1}"/>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09</a:t>
            </a:r>
          </a:p>
        </p:txBody>
      </p:sp>
      <p:sp>
        <p:nvSpPr>
          <p:cNvPr id="5" name="">
            <a:extLst xmlns:a="http://schemas.openxmlformats.org/drawingml/2006/main">
              <a:ext uri="{FF2B5EF4-FFF2-40B4-BE49-F238E27FC236}">
                <a16:creationId xmlns:a16="http://schemas.microsoft.com/office/drawing/2014/main" id="{DE9EC860-F71B-4C69-81F0-477A82C7A99E}"/>
              </a:ext>
            </a:extLst>
          </p:cNvPr>
          <p:cNvSpPr>
            <a:spLocks xmlns:a="http://schemas.openxmlformats.org/drawingml/2006/main" noGrp="1"/>
          </p:cNvSpPr>
          <p:nvPr/>
        </p:nvSpPr>
        <p:spPr>
          <a:xfrm xmlns:a="http://schemas.openxmlformats.org/drawingml/2006/main">
            <a:off x="609600" y="204787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123F34"/>
                </a:solidFill>
                <a:latin typeface="Noto Sans CJK KR"/>
                <a:ea typeface="Noto Sans CJK KR"/>
                <a:cs typeface="Noto Sans CJK KR"/>
              </a:defRPr>
            </a:pPr>
            <a:r>
              <a:rPr sz="1650" b="1">
                <a:solidFill>
                  <a:srgbClr val="123F34"/>
                </a:solidFill>
                <a:latin typeface="Noto Sans CJK KR"/>
                <a:ea typeface="Noto Sans CJK KR"/>
                <a:cs typeface="Noto Sans CJK KR"/>
              </a:rPr>
              <a:t>월 누적 예시</a:t>
            </a:r>
          </a:p>
        </p:txBody>
      </p:sp>
      <p:sp>
        <p:nvSpPr>
          <p:cNvPr id="6" name="">
            <a:extLst xmlns:a="http://schemas.openxmlformats.org/drawingml/2006/main">
              <a:ext uri="{FF2B5EF4-FFF2-40B4-BE49-F238E27FC236}">
                <a16:creationId xmlns:a16="http://schemas.microsoft.com/office/drawing/2014/main" id="{B7F7344E-ECCC-4219-B290-B8EEBB05C73B}"/>
              </a:ext>
            </a:extLst>
          </p:cNvPr>
          <p:cNvSpPr>
            <a:spLocks xmlns:a="http://schemas.openxmlformats.org/drawingml/2006/main" noGrp="1"/>
          </p:cNvSpPr>
          <p:nvPr/>
        </p:nvSpPr>
        <p:spPr>
          <a:xfrm xmlns:a="http://schemas.openxmlformats.org/drawingml/2006/main">
            <a:off x="609600" y="2524125"/>
            <a:ext cx="733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850" b="1">
                <a:solidFill>
                  <a:srgbClr val="123F34"/>
                </a:solidFill>
                <a:latin typeface="Noto Sans CJK KR"/>
                <a:ea typeface="Noto Sans CJK KR"/>
                <a:cs typeface="Noto Sans CJK KR"/>
              </a:defRPr>
            </a:pPr>
            <a:r>
              <a:rPr sz="2850" b="1">
                <a:solidFill>
                  <a:srgbClr val="123F34"/>
                </a:solidFill>
                <a:latin typeface="Noto Sans CJK KR"/>
                <a:ea typeface="Noto Sans CJK KR"/>
                <a:cs typeface="Noto Sans CJK KR"/>
              </a:rPr>
              <a:t>300P + 500P + 300P + 800P</a:t>
            </a:r>
          </a:p>
        </p:txBody>
      </p:sp>
      <p:sp>
        <p:nvSpPr>
          <p:cNvPr id="7" name="">
            <a:extLst xmlns:a="http://schemas.openxmlformats.org/drawingml/2006/main">
              <a:ext uri="{FF2B5EF4-FFF2-40B4-BE49-F238E27FC236}">
                <a16:creationId xmlns:a16="http://schemas.microsoft.com/office/drawing/2014/main" id="{C5E60461-1B49-4021-B636-396546116FCF}"/>
              </a:ext>
            </a:extLst>
          </p:cNvPr>
          <p:cNvSpPr>
            <a:spLocks xmlns:a="http://schemas.openxmlformats.org/drawingml/2006/main" noGrp="1"/>
          </p:cNvSpPr>
          <p:nvPr/>
        </p:nvSpPr>
        <p:spPr>
          <a:xfrm xmlns:a="http://schemas.openxmlformats.org/drawingml/2006/main">
            <a:off x="8248650" y="2476500"/>
            <a:ext cx="333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3600" b="1">
                <a:solidFill>
                  <a:srgbClr val="C85B35"/>
                </a:solidFill>
                <a:latin typeface="Noto Sans CJK KR"/>
                <a:ea typeface="Noto Sans CJK KR"/>
                <a:cs typeface="Noto Sans CJK KR"/>
              </a:defRPr>
            </a:pPr>
            <a:r>
              <a:rPr sz="3600" b="1">
                <a:solidFill>
                  <a:srgbClr val="C85B35"/>
                </a:solidFill>
                <a:latin typeface="Noto Sans CJK KR"/>
                <a:ea typeface="Noto Sans CJK KR"/>
                <a:cs typeface="Noto Sans CJK KR"/>
              </a:rPr>
              <a:t>= 1,900P</a:t>
            </a:r>
          </a:p>
        </p:txBody>
      </p:sp>
      <p:graphicFrame>
        <p:nvGraphicFramePr>
          <p:cNvPr id="19" name=""/>
          <p:cNvGraphicFramePr/>
          <p:nvPr/>
        </p:nvGraphicFramePr>
        <p:xfrm>
          <a:off xmlns:a="http://schemas.openxmlformats.org/drawingml/2006/main" x="609600" y="3476625"/>
          <a:ext xmlns:a="http://schemas.openxmlformats.org/drawingml/2006/main" cx="10972800" cy="1981200"/>
        </p:xfrm>
        <a:graphic xmlns:a="http://schemas.openxmlformats.org/drawingml/2006/main">
          <a:graphicData uri="http://schemas.openxmlformats.org/drawingml/2006/table">
            <a:tbl>
              <a:tblPr firstRow="0" bandRow="0"/>
              <a:tblGrid>
                <a:gridCol w="2762250"/>
                <a:gridCol w="8210550"/>
              </a:tblGrid>
              <a:tr h="495300">
                <a:tc>
                  <a:txBody>
                    <a:bodyPr>
                      <a:noAutofit/>
                    </a:bodyPr>
                    <a:lstStyle/>
                    <a:p>
                      <a:pPr algn="l">
                        <a:lnSpc>
                          <a:spcPct val="120000"/>
                        </a:lnSpc>
                        <a:buNone/>
                      </a:pPr>
                      <a:r>
                        <a:rPr sz="1350" b="1">
                          <a:solidFill>
                            <a:srgbClr val="F6F0E6"/>
                          </a:solidFill>
                          <a:latin typeface="Noto Sans CJK KR"/>
                          <a:ea typeface="Noto Sans CJK KR"/>
                          <a:cs typeface="Noto Sans CJK KR"/>
                        </a:rPr>
                        <a:t>사용 조건</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정책 제안</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495300">
                <a:tc>
                  <a:txBody>
                    <a:bodyPr>
                      <a:noAutofit/>
                    </a:bodyPr>
                    <a:lstStyle/>
                    <a:p>
                      <a:pPr algn="l">
                        <a:lnSpc>
                          <a:spcPct val="120000"/>
                        </a:lnSpc>
                        <a:buNone/>
                      </a:pPr>
                      <a:r>
                        <a:rPr sz="1650" b="1">
                          <a:solidFill>
                            <a:srgbClr val="123F34"/>
                          </a:solidFill>
                          <a:latin typeface="Noto Sans CJK KR"/>
                          <a:ea typeface="Noto Sans CJK KR"/>
                          <a:cs typeface="Noto Sans CJK KR"/>
                        </a:rPr>
                        <a:t>사용일·기한</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토·일 사용, 해당 월말 소멸</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495300">
                <a:tc>
                  <a:txBody>
                    <a:bodyPr>
                      <a:noAutofit/>
                    </a:bodyPr>
                    <a:lstStyle/>
                    <a:p>
                      <a:pPr algn="l">
                        <a:lnSpc>
                          <a:spcPct val="120000"/>
                        </a:lnSpc>
                        <a:buNone/>
                      </a:pPr>
                      <a:r>
                        <a:rPr sz="1650" b="1">
                          <a:solidFill>
                            <a:srgbClr val="123F34"/>
                          </a:solidFill>
                          <a:latin typeface="Noto Sans CJK KR"/>
                          <a:ea typeface="Noto Sans CJK KR"/>
                          <a:cs typeface="Noto Sans CJK KR"/>
                        </a:rPr>
                        <a:t>최소 주문금액</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상품 결제금액 10,000원 이상</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495300">
                <a:tc>
                  <a:txBody>
                    <a:bodyPr>
                      <a:noAutofit/>
                    </a:bodyPr>
                    <a:lstStyle/>
                    <a:p>
                      <a:pPr algn="l">
                        <a:lnSpc>
                          <a:spcPct val="120000"/>
                        </a:lnSpc>
                        <a:buNone/>
                      </a:pPr>
                      <a:r>
                        <a:rPr sz="1650" b="1">
                          <a:solidFill>
                            <a:srgbClr val="123F34"/>
                          </a:solidFill>
                          <a:latin typeface="Noto Sans CJK KR"/>
                          <a:ea typeface="Noto Sans CJK KR"/>
                          <a:cs typeface="Noto Sans CJK KR"/>
                        </a:rPr>
                        <a:t>주문별 사용 한도</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보유 포인트와 주문금액의 10% 중 작은 금액</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bl>
          </a:graphicData>
        </a:graphic>
      </p:graphicFrame>
      <p:sp>
        <p:nvSpPr>
          <p:cNvPr id="9" name="">
            <a:extLst xmlns:a="http://schemas.openxmlformats.org/drawingml/2006/main">
              <a:ext uri="{FF2B5EF4-FFF2-40B4-BE49-F238E27FC236}">
                <a16:creationId xmlns:a16="http://schemas.microsoft.com/office/drawing/2014/main" id="{148A2F08-677F-452A-85D0-63063EEE68B0}"/>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6074A65-CEEC-45F2-A7D3-F2A3CF095BE3}"/>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예시: 1,900P 보유 + 10,000원 주문 → 최대 1,000P 사용</a:t>
            </a:r>
          </a:p>
        </p:txBody>
      </p:sp>
      <p:sp>
        <p:nvSpPr>
          <p:cNvPr id="11" name="">
            <a:extLst xmlns:a="http://schemas.openxmlformats.org/drawingml/2006/main">
              <a:ext uri="{FF2B5EF4-FFF2-40B4-BE49-F238E27FC236}">
                <a16:creationId xmlns:a16="http://schemas.microsoft.com/office/drawing/2014/main" id="{D794BCEC-EA9A-47CC-BFB0-CCB36F92CDC2}"/>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누적 사용 시 최대 혜택은 10%입니다. 월간 상한·월말 지급분 유효기간·사용 기준금액은 확정이 필요합니다.</a:t>
            </a:r>
          </a:p>
        </p:txBody>
      </p:sp>
    </p:spTree>
    <p:extLst>
      <p:ext uri="{BB962C8B-B14F-4D97-AF65-F5344CB8AC3E}">
        <p14:creationId xmlns:p14="http://schemas.microsoft.com/office/powerpoint/2010/main" val="433913191"/>
      </p:ext>
    </p:extLst>
  </p:cSld>
</p:sld>
</file>

<file path=ppt/slides/slide10.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ADF72DB-7BDA-4357-82E7-17B86A99CE6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계절 공모주는 출시 전 고객 수요를 확인하는 이벤트입니다</a:t>
            </a:r>
          </a:p>
        </p:txBody>
      </p:sp>
      <p:sp>
        <p:nvSpPr>
          <p:cNvPr id="2" name="">
            <a:extLst xmlns:a="http://schemas.openxmlformats.org/drawingml/2006/main">
              <a:ext uri="{FF2B5EF4-FFF2-40B4-BE49-F238E27FC236}">
                <a16:creationId xmlns:a16="http://schemas.microsoft.com/office/drawing/2014/main" id="{2DB67036-E5BA-4533-B923-286E5943AEE0}"/>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핵심 서비스와 별도로, 기업이 개발할 수 있는 신제품 후보에 고객의 선택을 더합니다.</a:t>
            </a:r>
          </a:p>
        </p:txBody>
      </p:sp>
      <p:sp>
        <p:nvSpPr>
          <p:cNvPr id="3" name="">
            <a:extLst xmlns:a="http://schemas.openxmlformats.org/drawingml/2006/main">
              <a:ext uri="{FF2B5EF4-FFF2-40B4-BE49-F238E27FC236}">
                <a16:creationId xmlns:a16="http://schemas.microsoft.com/office/drawing/2014/main" id="{E8BA078E-1755-4D41-A7B1-5EF50F5D5FF5}"/>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F98AFA54-C85D-4295-9AC5-70684C1DB44F}"/>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10</a:t>
            </a:r>
          </a:p>
        </p:txBody>
      </p:sp>
      <p:sp>
        <p:nvSpPr>
          <p:cNvPr id="5" name="">
            <a:extLst xmlns:a="http://schemas.openxmlformats.org/drawingml/2006/main">
              <a:ext uri="{FF2B5EF4-FFF2-40B4-BE49-F238E27FC236}">
                <a16:creationId xmlns:a16="http://schemas.microsoft.com/office/drawing/2014/main" id="{4DBEC72C-C57E-45AA-91BE-2BE89E0E6E07}"/>
              </a:ext>
            </a:extLst>
          </p:cNvPr>
          <p:cNvSpPr>
            <a:spLocks xmlns:a="http://schemas.openxmlformats.org/drawingml/2006/main" noGrp="1"/>
          </p:cNvSpPr>
          <p:nvPr/>
        </p:nvSpPr>
        <p:spPr>
          <a:xfrm xmlns:a="http://schemas.openxmlformats.org/drawingml/2006/main">
            <a:off x="609600" y="2371725"/>
            <a:ext cx="3352800" cy="256222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C630CCE-F401-4EA1-A3DF-C7A9A9C9326D}"/>
              </a:ext>
            </a:extLst>
          </p:cNvPr>
          <p:cNvSpPr>
            <a:spLocks xmlns:a="http://schemas.openxmlformats.org/drawingml/2006/main" noGrp="1"/>
          </p:cNvSpPr>
          <p:nvPr/>
        </p:nvSpPr>
        <p:spPr>
          <a:xfrm xmlns:a="http://schemas.openxmlformats.org/drawingml/2006/main">
            <a:off x="838200" y="25622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C85B35"/>
                </a:solidFill>
                <a:latin typeface="Noto Sans CJK KR"/>
                <a:ea typeface="Noto Sans CJK KR"/>
                <a:cs typeface="Noto Sans CJK KR"/>
              </a:defRPr>
            </a:pPr>
            <a:r>
              <a:rPr sz="1500" b="1">
                <a:solidFill>
                  <a:srgbClr val="C85B35"/>
                </a:solidFill>
                <a:latin typeface="Noto Sans CJK KR"/>
                <a:ea typeface="Noto Sans CJK KR"/>
                <a:cs typeface="Noto Sans CJK KR"/>
              </a:rPr>
              <a:t>01</a:t>
            </a:r>
          </a:p>
        </p:txBody>
      </p:sp>
      <p:sp>
        <p:nvSpPr>
          <p:cNvPr id="7" name="">
            <a:extLst xmlns:a="http://schemas.openxmlformats.org/drawingml/2006/main">
              <a:ext uri="{FF2B5EF4-FFF2-40B4-BE49-F238E27FC236}">
                <a16:creationId xmlns:a16="http://schemas.microsoft.com/office/drawing/2014/main" id="{DC9D4A79-FCAE-4C21-98F1-255247874176}"/>
              </a:ext>
            </a:extLst>
          </p:cNvPr>
          <p:cNvSpPr>
            <a:spLocks xmlns:a="http://schemas.openxmlformats.org/drawingml/2006/main" noGrp="1"/>
          </p:cNvSpPr>
          <p:nvPr/>
        </p:nvSpPr>
        <p:spPr>
          <a:xfrm xmlns:a="http://schemas.openxmlformats.org/drawingml/2006/main">
            <a:off x="838200" y="3133725"/>
            <a:ext cx="289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123F34"/>
                </a:solidFill>
                <a:latin typeface="Noto Sans CJK KR"/>
                <a:ea typeface="Noto Sans CJK KR"/>
                <a:cs typeface="Noto Sans CJK KR"/>
              </a:defRPr>
            </a:pPr>
            <a:r>
              <a:rPr sz="1950" b="1">
                <a:solidFill>
                  <a:srgbClr val="123F34"/>
                </a:solidFill>
                <a:latin typeface="Noto Sans CJK KR"/>
                <a:ea typeface="Noto Sans CJK KR"/>
                <a:cs typeface="Noto Sans CJK KR"/>
              </a:rPr>
              <a:t>개발 가능한 후보 공개</a:t>
            </a:r>
          </a:p>
        </p:txBody>
      </p:sp>
      <p:sp>
        <p:nvSpPr>
          <p:cNvPr id="8" name="">
            <a:extLst xmlns:a="http://schemas.openxmlformats.org/drawingml/2006/main">
              <a:ext uri="{FF2B5EF4-FFF2-40B4-BE49-F238E27FC236}">
                <a16:creationId xmlns:a16="http://schemas.microsoft.com/office/drawing/2014/main" id="{E9549B5F-FF42-4281-A99F-7758EE635319}"/>
              </a:ext>
            </a:extLst>
          </p:cNvPr>
          <p:cNvSpPr>
            <a:spLocks xmlns:a="http://schemas.openxmlformats.org/drawingml/2006/main" noGrp="1"/>
          </p:cNvSpPr>
          <p:nvPr/>
        </p:nvSpPr>
        <p:spPr>
          <a:xfrm xmlns:a="http://schemas.openxmlformats.org/drawingml/2006/main">
            <a:off x="838200" y="3810000"/>
            <a:ext cx="289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5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기업이 승인한 후보와</a:t>
            </a:r>
          </a:p>
          <a:p xmlns:a="http://schemas.openxmlformats.org/drawingml/2006/main">
            <a:pPr algn="l">
              <a:lnSpc>
                <a:spcPct val="145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상품 정보를 소개</a:t>
            </a:r>
          </a:p>
        </p:txBody>
      </p:sp>
      <p:sp>
        <p:nvSpPr>
          <p:cNvPr id="9" name="">
            <a:extLst xmlns:a="http://schemas.openxmlformats.org/drawingml/2006/main">
              <a:ext uri="{FF2B5EF4-FFF2-40B4-BE49-F238E27FC236}">
                <a16:creationId xmlns:a16="http://schemas.microsoft.com/office/drawing/2014/main" id="{88B48B77-D389-4EC3-B137-8CF9523239AD}"/>
              </a:ext>
            </a:extLst>
          </p:cNvPr>
          <p:cNvSpPr>
            <a:spLocks xmlns:a="http://schemas.openxmlformats.org/drawingml/2006/main" noGrp="1"/>
          </p:cNvSpPr>
          <p:nvPr/>
        </p:nvSpPr>
        <p:spPr>
          <a:xfrm xmlns:a="http://schemas.openxmlformats.org/drawingml/2006/main">
            <a:off x="4048125" y="3476625"/>
            <a:ext cx="276225" cy="2286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EE0BCA6-C416-46D4-94C0-1C5C4C5456B7}"/>
              </a:ext>
            </a:extLst>
          </p:cNvPr>
          <p:cNvSpPr>
            <a:spLocks xmlns:a="http://schemas.openxmlformats.org/drawingml/2006/main" noGrp="1"/>
          </p:cNvSpPr>
          <p:nvPr/>
        </p:nvSpPr>
        <p:spPr>
          <a:xfrm xmlns:a="http://schemas.openxmlformats.org/drawingml/2006/main">
            <a:off x="4419600" y="2371725"/>
            <a:ext cx="3352800" cy="256222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6841508-8F49-4E6E-BBCF-24C75DA4F6DE}"/>
              </a:ext>
            </a:extLst>
          </p:cNvPr>
          <p:cNvSpPr>
            <a:spLocks xmlns:a="http://schemas.openxmlformats.org/drawingml/2006/main" noGrp="1"/>
          </p:cNvSpPr>
          <p:nvPr/>
        </p:nvSpPr>
        <p:spPr>
          <a:xfrm xmlns:a="http://schemas.openxmlformats.org/drawingml/2006/main">
            <a:off x="4648200" y="25622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C85B35"/>
                </a:solidFill>
                <a:latin typeface="Noto Sans CJK KR"/>
                <a:ea typeface="Noto Sans CJK KR"/>
                <a:cs typeface="Noto Sans CJK KR"/>
              </a:defRPr>
            </a:pPr>
            <a:r>
              <a:rPr sz="1500" b="1">
                <a:solidFill>
                  <a:srgbClr val="C85B35"/>
                </a:solidFill>
                <a:latin typeface="Noto Sans CJK KR"/>
                <a:ea typeface="Noto Sans CJK KR"/>
                <a:cs typeface="Noto Sans CJK KR"/>
              </a:rPr>
              <a:t>02</a:t>
            </a:r>
          </a:p>
        </p:txBody>
      </p:sp>
      <p:sp>
        <p:nvSpPr>
          <p:cNvPr id="12" name="">
            <a:extLst xmlns:a="http://schemas.openxmlformats.org/drawingml/2006/main">
              <a:ext uri="{FF2B5EF4-FFF2-40B4-BE49-F238E27FC236}">
                <a16:creationId xmlns:a16="http://schemas.microsoft.com/office/drawing/2014/main" id="{2646DCAA-B35B-4E5B-89C9-D8C1589B3D7B}"/>
              </a:ext>
            </a:extLst>
          </p:cNvPr>
          <p:cNvSpPr>
            <a:spLocks xmlns:a="http://schemas.openxmlformats.org/drawingml/2006/main" noGrp="1"/>
          </p:cNvSpPr>
          <p:nvPr/>
        </p:nvSpPr>
        <p:spPr>
          <a:xfrm xmlns:a="http://schemas.openxmlformats.org/drawingml/2006/main">
            <a:off x="4648200" y="3133725"/>
            <a:ext cx="289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123F34"/>
                </a:solidFill>
                <a:latin typeface="Noto Sans CJK KR"/>
                <a:ea typeface="Noto Sans CJK KR"/>
                <a:cs typeface="Noto Sans CJK KR"/>
              </a:defRPr>
            </a:pPr>
            <a:r>
              <a:rPr sz="1950" b="1">
                <a:solidFill>
                  <a:srgbClr val="123F34"/>
                </a:solidFill>
                <a:latin typeface="Noto Sans CJK KR"/>
                <a:ea typeface="Noto Sans CJK KR"/>
                <a:cs typeface="Noto Sans CJK KR"/>
              </a:rPr>
              <a:t>고객 청약과 선택</a:t>
            </a:r>
          </a:p>
        </p:txBody>
      </p:sp>
      <p:sp>
        <p:nvSpPr>
          <p:cNvPr id="13" name="">
            <a:extLst xmlns:a="http://schemas.openxmlformats.org/drawingml/2006/main">
              <a:ext uri="{FF2B5EF4-FFF2-40B4-BE49-F238E27FC236}">
                <a16:creationId xmlns:a16="http://schemas.microsoft.com/office/drawing/2014/main" id="{C1842657-700E-4AA3-BADA-40428A6531F7}"/>
              </a:ext>
            </a:extLst>
          </p:cNvPr>
          <p:cNvSpPr>
            <a:spLocks xmlns:a="http://schemas.openxmlformats.org/drawingml/2006/main" noGrp="1"/>
          </p:cNvSpPr>
          <p:nvPr/>
        </p:nvSpPr>
        <p:spPr>
          <a:xfrm xmlns:a="http://schemas.openxmlformats.org/drawingml/2006/main">
            <a:off x="4648200" y="3810000"/>
            <a:ext cx="289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5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먹고 싶은 후보를 선택하고</a:t>
            </a:r>
          </a:p>
          <a:p xmlns:a="http://schemas.openxmlformats.org/drawingml/2006/main">
            <a:pPr algn="l">
              <a:lnSpc>
                <a:spcPct val="145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선정 결과를 다시 확인</a:t>
            </a:r>
          </a:p>
        </p:txBody>
      </p:sp>
      <p:sp>
        <p:nvSpPr>
          <p:cNvPr id="14" name="">
            <a:extLst xmlns:a="http://schemas.openxmlformats.org/drawingml/2006/main">
              <a:ext uri="{FF2B5EF4-FFF2-40B4-BE49-F238E27FC236}">
                <a16:creationId xmlns:a16="http://schemas.microsoft.com/office/drawing/2014/main" id="{C7504F1C-1CCA-4EF4-9AF9-5FCB6F11FB55}"/>
              </a:ext>
            </a:extLst>
          </p:cNvPr>
          <p:cNvSpPr>
            <a:spLocks xmlns:a="http://schemas.openxmlformats.org/drawingml/2006/main" noGrp="1"/>
          </p:cNvSpPr>
          <p:nvPr/>
        </p:nvSpPr>
        <p:spPr>
          <a:xfrm xmlns:a="http://schemas.openxmlformats.org/drawingml/2006/main">
            <a:off x="7858125" y="3476625"/>
            <a:ext cx="276225" cy="2286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C0165BF-1EDE-4CA4-8CA8-F86926CB45E9}"/>
              </a:ext>
            </a:extLst>
          </p:cNvPr>
          <p:cNvSpPr>
            <a:spLocks xmlns:a="http://schemas.openxmlformats.org/drawingml/2006/main" noGrp="1"/>
          </p:cNvSpPr>
          <p:nvPr/>
        </p:nvSpPr>
        <p:spPr>
          <a:xfrm xmlns:a="http://schemas.openxmlformats.org/drawingml/2006/main">
            <a:off x="8229600" y="2371725"/>
            <a:ext cx="3352800" cy="256222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BAD018E-9C83-4631-B49D-9C4203E98BF7}"/>
              </a:ext>
            </a:extLst>
          </p:cNvPr>
          <p:cNvSpPr>
            <a:spLocks xmlns:a="http://schemas.openxmlformats.org/drawingml/2006/main" noGrp="1"/>
          </p:cNvSpPr>
          <p:nvPr/>
        </p:nvSpPr>
        <p:spPr>
          <a:xfrm xmlns:a="http://schemas.openxmlformats.org/drawingml/2006/main">
            <a:off x="8458200" y="25622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C85B35"/>
                </a:solidFill>
                <a:latin typeface="Noto Sans CJK KR"/>
                <a:ea typeface="Noto Sans CJK KR"/>
                <a:cs typeface="Noto Sans CJK KR"/>
              </a:defRPr>
            </a:pPr>
            <a:r>
              <a:rPr sz="1500" b="1">
                <a:solidFill>
                  <a:srgbClr val="C85B35"/>
                </a:solidFill>
                <a:latin typeface="Noto Sans CJK KR"/>
                <a:ea typeface="Noto Sans CJK KR"/>
                <a:cs typeface="Noto Sans CJK KR"/>
              </a:rPr>
              <a:t>03</a:t>
            </a:r>
          </a:p>
        </p:txBody>
      </p:sp>
      <p:sp>
        <p:nvSpPr>
          <p:cNvPr id="17" name="">
            <a:extLst xmlns:a="http://schemas.openxmlformats.org/drawingml/2006/main">
              <a:ext uri="{FF2B5EF4-FFF2-40B4-BE49-F238E27FC236}">
                <a16:creationId xmlns:a16="http://schemas.microsoft.com/office/drawing/2014/main" id="{71A849DC-108B-4EB2-BD1B-8BB3250D2EB7}"/>
              </a:ext>
            </a:extLst>
          </p:cNvPr>
          <p:cNvSpPr>
            <a:spLocks xmlns:a="http://schemas.openxmlformats.org/drawingml/2006/main" noGrp="1"/>
          </p:cNvSpPr>
          <p:nvPr/>
        </p:nvSpPr>
        <p:spPr>
          <a:xfrm xmlns:a="http://schemas.openxmlformats.org/drawingml/2006/main">
            <a:off x="8458200" y="3133725"/>
            <a:ext cx="289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123F34"/>
                </a:solidFill>
                <a:latin typeface="Noto Sans CJK KR"/>
                <a:ea typeface="Noto Sans CJK KR"/>
                <a:cs typeface="Noto Sans CJK KR"/>
              </a:defRPr>
            </a:pPr>
            <a:r>
              <a:rPr sz="1950" b="1">
                <a:solidFill>
                  <a:srgbClr val="123F34"/>
                </a:solidFill>
                <a:latin typeface="Noto Sans CJK KR"/>
                <a:ea typeface="Noto Sans CJK KR"/>
                <a:cs typeface="Noto Sans CJK KR"/>
              </a:rPr>
              <a:t>출시 우선순위 검토</a:t>
            </a:r>
          </a:p>
        </p:txBody>
      </p:sp>
      <p:sp>
        <p:nvSpPr>
          <p:cNvPr id="18" name="">
            <a:extLst xmlns:a="http://schemas.openxmlformats.org/drawingml/2006/main">
              <a:ext uri="{FF2B5EF4-FFF2-40B4-BE49-F238E27FC236}">
                <a16:creationId xmlns:a16="http://schemas.microsoft.com/office/drawing/2014/main" id="{5D5DA648-2F90-4442-9806-4869AA86CF2A}"/>
              </a:ext>
            </a:extLst>
          </p:cNvPr>
          <p:cNvSpPr>
            <a:spLocks xmlns:a="http://schemas.openxmlformats.org/drawingml/2006/main" noGrp="1"/>
          </p:cNvSpPr>
          <p:nvPr/>
        </p:nvSpPr>
        <p:spPr>
          <a:xfrm xmlns:a="http://schemas.openxmlformats.org/drawingml/2006/main">
            <a:off x="8458200" y="3810000"/>
            <a:ext cx="289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5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고객 수요와 내부 평가를</a:t>
            </a:r>
          </a:p>
          <a:p xmlns:a="http://schemas.openxmlformats.org/drawingml/2006/main">
            <a:pPr algn="l">
              <a:lnSpc>
                <a:spcPct val="145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함께 보고 출시 여부 판단</a:t>
            </a:r>
          </a:p>
        </p:txBody>
      </p:sp>
      <p:sp>
        <p:nvSpPr>
          <p:cNvPr id="19" name="">
            <a:extLst xmlns:a="http://schemas.openxmlformats.org/drawingml/2006/main">
              <a:ext uri="{FF2B5EF4-FFF2-40B4-BE49-F238E27FC236}">
                <a16:creationId xmlns:a16="http://schemas.microsoft.com/office/drawing/2014/main" id="{A1623B3D-DC20-4CB3-8E5C-C39077A75679}"/>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A8F794A-631A-4AA8-933D-B48F5D8509A9}"/>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후보 청약률과 결과 재확인율을 보고, 출시 후 실제 구매까지 연결해 확인합니다.</a:t>
            </a:r>
          </a:p>
        </p:txBody>
      </p:sp>
      <p:sp>
        <p:nvSpPr>
          <p:cNvPr id="21" name="">
            <a:extLst xmlns:a="http://schemas.openxmlformats.org/drawingml/2006/main">
              <a:ext uri="{FF2B5EF4-FFF2-40B4-BE49-F238E27FC236}">
                <a16:creationId xmlns:a16="http://schemas.microsoft.com/office/drawing/2014/main" id="{13C1B548-4087-4923-B2FF-60B5071DE4D2}"/>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계절 이벤트로 운영하며, 기존 관심빵 데이터 없이도 참여할 수 있습니다.</a:t>
            </a:r>
          </a:p>
        </p:txBody>
      </p:sp>
    </p:spTree>
    <p:extLst>
      <p:ext uri="{BB962C8B-B14F-4D97-AF65-F5344CB8AC3E}">
        <p14:creationId xmlns:p14="http://schemas.microsoft.com/office/powerpoint/2010/main" val="1713195322"/>
      </p:ext>
    </p:extLst>
  </p:cSld>
</p:sld>
</file>

<file path=ppt/slides/slide11.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330AD3A-1860-4EDB-B775-6F949607AB44}"/>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빵시장부터 검증하고 데이터와 운영 준비에 맞춰 확장합니다</a:t>
            </a:r>
          </a:p>
        </p:txBody>
      </p:sp>
      <p:sp>
        <p:nvSpPr>
          <p:cNvPr id="2" name="">
            <a:extLst xmlns:a="http://schemas.openxmlformats.org/drawingml/2006/main">
              <a:ext uri="{FF2B5EF4-FFF2-40B4-BE49-F238E27FC236}">
                <a16:creationId xmlns:a16="http://schemas.microsoft.com/office/drawing/2014/main" id="{F4F535F1-D510-4E3C-B27D-3DC132D55D64}"/>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처음부터 모든 기능을 켜기보다, 다음 단계로 넘어갈 조건을 먼저 정합니다.</a:t>
            </a:r>
          </a:p>
        </p:txBody>
      </p:sp>
      <p:sp>
        <p:nvSpPr>
          <p:cNvPr id="3" name="">
            <a:extLst xmlns:a="http://schemas.openxmlformats.org/drawingml/2006/main">
              <a:ext uri="{FF2B5EF4-FFF2-40B4-BE49-F238E27FC236}">
                <a16:creationId xmlns:a16="http://schemas.microsoft.com/office/drawing/2014/main" id="{A94C434E-3C22-4022-BCA1-563A2C24306F}"/>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17505DBF-D114-45A0-B0E9-D714BE128879}"/>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11</a:t>
            </a:r>
          </a:p>
        </p:txBody>
      </p:sp>
      <p:sp>
        <p:nvSpPr>
          <p:cNvPr id="5" name="">
            <a:extLst xmlns:a="http://schemas.openxmlformats.org/drawingml/2006/main">
              <a:ext uri="{FF2B5EF4-FFF2-40B4-BE49-F238E27FC236}">
                <a16:creationId xmlns:a16="http://schemas.microsoft.com/office/drawing/2014/main" id="{6A841258-18B9-4CDF-BBF9-7D4F0AB73E5C}"/>
              </a:ext>
            </a:extLst>
          </p:cNvPr>
          <p:cNvSpPr>
            <a:spLocks xmlns:a="http://schemas.openxmlformats.org/drawingml/2006/main" noGrp="1"/>
          </p:cNvSpPr>
          <p:nvPr/>
        </p:nvSpPr>
        <p:spPr>
          <a:xfrm xmlns:a="http://schemas.openxmlformats.org/drawingml/2006/main">
            <a:off x="609600" y="2152650"/>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C85B35"/>
                </a:solidFill>
                <a:latin typeface="Noto Sans CJK KR"/>
                <a:ea typeface="Noto Sans CJK KR"/>
                <a:cs typeface="Noto Sans CJK KR"/>
              </a:defRPr>
            </a:pPr>
            <a:r>
              <a:rPr sz="1650" b="1">
                <a:solidFill>
                  <a:srgbClr val="C85B35"/>
                </a:solidFill>
                <a:latin typeface="Noto Sans CJK KR"/>
                <a:ea typeface="Noto Sans CJK KR"/>
                <a:cs typeface="Noto Sans CJK KR"/>
              </a:rPr>
              <a:t>1단계</a:t>
            </a:r>
          </a:p>
        </p:txBody>
      </p:sp>
      <p:sp>
        <p:nvSpPr>
          <p:cNvPr id="6" name="">
            <a:extLst xmlns:a="http://schemas.openxmlformats.org/drawingml/2006/main">
              <a:ext uri="{FF2B5EF4-FFF2-40B4-BE49-F238E27FC236}">
                <a16:creationId xmlns:a16="http://schemas.microsoft.com/office/drawing/2014/main" id="{FE9E5856-A1AD-44CC-B70F-BFEDDA957129}"/>
              </a:ext>
            </a:extLst>
          </p:cNvPr>
          <p:cNvSpPr>
            <a:spLocks xmlns:a="http://schemas.openxmlformats.org/drawingml/2006/main" noGrp="1"/>
          </p:cNvSpPr>
          <p:nvPr/>
        </p:nvSpPr>
        <p:spPr>
          <a:xfrm xmlns:a="http://schemas.openxmlformats.org/drawingml/2006/main">
            <a:off x="609600" y="2657475"/>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1">
                <a:solidFill>
                  <a:srgbClr val="123F34"/>
                </a:solidFill>
                <a:latin typeface="Noto Sans CJK KR"/>
                <a:ea typeface="Noto Sans CJK KR"/>
                <a:cs typeface="Noto Sans CJK KR"/>
              </a:defRPr>
            </a:pPr>
            <a:r>
              <a:rPr sz="2175" b="1">
                <a:solidFill>
                  <a:srgbClr val="123F34"/>
                </a:solidFill>
                <a:latin typeface="Noto Sans CJK KR"/>
                <a:ea typeface="Noto Sans CJK KR"/>
                <a:cs typeface="Noto Sans CJK KR"/>
              </a:rPr>
              <a:t>빵시장과 행동 기록</a:t>
            </a:r>
          </a:p>
        </p:txBody>
      </p:sp>
      <p:sp>
        <p:nvSpPr>
          <p:cNvPr id="7" name="">
            <a:extLst xmlns:a="http://schemas.openxmlformats.org/drawingml/2006/main">
              <a:ext uri="{FF2B5EF4-FFF2-40B4-BE49-F238E27FC236}">
                <a16:creationId xmlns:a16="http://schemas.microsoft.com/office/drawing/2014/main" id="{B51BC911-D2BF-46AA-8EDD-356BCFD6572A}"/>
              </a:ext>
            </a:extLst>
          </p:cNvPr>
          <p:cNvSpPr>
            <a:spLocks xmlns:a="http://schemas.openxmlformats.org/drawingml/2006/main" noGrp="1"/>
          </p:cNvSpPr>
          <p:nvPr/>
        </p:nvSpPr>
        <p:spPr>
          <a:xfrm xmlns:a="http://schemas.openxmlformats.org/drawingml/2006/main">
            <a:off x="609600" y="3219450"/>
            <a:ext cx="3352800" cy="0"/>
          </a:xfrm>
          <a:prstGeom xmlns:a="http://schemas.openxmlformats.org/drawingml/2006/main" prst="line">
            <a:avLst/>
          </a:prstGeom>
          <a:noFill xmlns:a="http://schemas.openxmlformats.org/drawingml/2006/main"/>
          <a:ln xmlns:a="http://schemas.openxmlformats.org/drawingml/2006/main" w="19050">
            <a:solidFill>
              <a:srgbClr val="123F34"/>
            </a:solidFill>
          </a:ln>
        </p:spPr>
      </p:sp>
      <p:sp>
        <p:nvSpPr>
          <p:cNvPr id="8" name="">
            <a:extLst xmlns:a="http://schemas.openxmlformats.org/drawingml/2006/main">
              <a:ext uri="{FF2B5EF4-FFF2-40B4-BE49-F238E27FC236}">
                <a16:creationId xmlns:a16="http://schemas.microsoft.com/office/drawing/2014/main" id="{77D199AF-6B1E-44EA-84FD-EA13F523661E}"/>
              </a:ext>
            </a:extLst>
          </p:cNvPr>
          <p:cNvSpPr>
            <a:spLocks xmlns:a="http://schemas.openxmlformats.org/drawingml/2006/main" noGrp="1"/>
          </p:cNvSpPr>
          <p:nvPr/>
        </p:nvSpPr>
        <p:spPr>
          <a:xfrm xmlns:a="http://schemas.openxmlformats.org/drawingml/2006/main">
            <a:off x="609600" y="3514725"/>
            <a:ext cx="335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55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종가 연동·5단계 할인</a:t>
            </a:r>
          </a:p>
          <a:p xmlns:a="http://schemas.openxmlformats.org/drawingml/2006/main">
            <a:pPr algn="l">
              <a:lnSpc>
                <a:spcPct val="155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자정 복원·고객 행동 저장</a:t>
            </a:r>
          </a:p>
        </p:txBody>
      </p:sp>
      <p:sp>
        <p:nvSpPr>
          <p:cNvPr id="9" name="">
            <a:extLst xmlns:a="http://schemas.openxmlformats.org/drawingml/2006/main">
              <a:ext uri="{FF2B5EF4-FFF2-40B4-BE49-F238E27FC236}">
                <a16:creationId xmlns:a16="http://schemas.microsoft.com/office/drawing/2014/main" id="{F075CF80-657A-4ED0-BBB8-08524A878232}"/>
              </a:ext>
            </a:extLst>
          </p:cNvPr>
          <p:cNvSpPr>
            <a:spLocks xmlns:a="http://schemas.openxmlformats.org/drawingml/2006/main" noGrp="1"/>
          </p:cNvSpPr>
          <p:nvPr/>
        </p:nvSpPr>
        <p:spPr>
          <a:xfrm xmlns:a="http://schemas.openxmlformats.org/drawingml/2006/main">
            <a:off x="609600" y="4810125"/>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123F34"/>
                </a:solidFill>
                <a:latin typeface="Noto Sans CJK KR"/>
                <a:ea typeface="Noto Sans CJK KR"/>
                <a:cs typeface="Noto Sans CJK KR"/>
              </a:defRPr>
            </a:pPr>
            <a:r>
              <a:rPr sz="1500" b="1">
                <a:solidFill>
                  <a:srgbClr val="123F34"/>
                </a:solidFill>
                <a:latin typeface="Noto Sans CJK KR"/>
                <a:ea typeface="Noto Sans CJK KR"/>
                <a:cs typeface="Noto Sans CJK KR"/>
              </a:rPr>
              <a:t>확인: 가격과 기록의 정확성</a:t>
            </a:r>
          </a:p>
        </p:txBody>
      </p:sp>
      <p:sp>
        <p:nvSpPr>
          <p:cNvPr id="10" name="">
            <a:extLst xmlns:a="http://schemas.openxmlformats.org/drawingml/2006/main">
              <a:ext uri="{FF2B5EF4-FFF2-40B4-BE49-F238E27FC236}">
                <a16:creationId xmlns:a16="http://schemas.microsoft.com/office/drawing/2014/main" id="{F8C53664-1904-4449-8C6A-307184BAB0D4}"/>
              </a:ext>
            </a:extLst>
          </p:cNvPr>
          <p:cNvSpPr>
            <a:spLocks xmlns:a="http://schemas.openxmlformats.org/drawingml/2006/main" noGrp="1"/>
          </p:cNvSpPr>
          <p:nvPr/>
        </p:nvSpPr>
        <p:spPr>
          <a:xfrm xmlns:a="http://schemas.openxmlformats.org/drawingml/2006/main">
            <a:off x="4086225" y="2838450"/>
            <a:ext cx="228600" cy="1905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33F65E0-5936-4530-B3B8-67C271F89E7F}"/>
              </a:ext>
            </a:extLst>
          </p:cNvPr>
          <p:cNvSpPr>
            <a:spLocks xmlns:a="http://schemas.openxmlformats.org/drawingml/2006/main" noGrp="1"/>
          </p:cNvSpPr>
          <p:nvPr/>
        </p:nvSpPr>
        <p:spPr>
          <a:xfrm xmlns:a="http://schemas.openxmlformats.org/drawingml/2006/main">
            <a:off x="4419600" y="2152650"/>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C85B35"/>
                </a:solidFill>
                <a:latin typeface="Noto Sans CJK KR"/>
                <a:ea typeface="Noto Sans CJK KR"/>
                <a:cs typeface="Noto Sans CJK KR"/>
              </a:defRPr>
            </a:pPr>
            <a:r>
              <a:rPr sz="1650" b="1">
                <a:solidFill>
                  <a:srgbClr val="C85B35"/>
                </a:solidFill>
                <a:latin typeface="Noto Sans CJK KR"/>
                <a:ea typeface="Noto Sans CJK KR"/>
                <a:cs typeface="Noto Sans CJK KR"/>
              </a:rPr>
              <a:t>2단계</a:t>
            </a:r>
          </a:p>
        </p:txBody>
      </p:sp>
      <p:sp>
        <p:nvSpPr>
          <p:cNvPr id="12" name="">
            <a:extLst xmlns:a="http://schemas.openxmlformats.org/drawingml/2006/main">
              <a:ext uri="{FF2B5EF4-FFF2-40B4-BE49-F238E27FC236}">
                <a16:creationId xmlns:a16="http://schemas.microsoft.com/office/drawing/2014/main" id="{2A0507B4-EF20-485B-9645-705E209F0C43}"/>
              </a:ext>
            </a:extLst>
          </p:cNvPr>
          <p:cNvSpPr>
            <a:spLocks xmlns:a="http://schemas.openxmlformats.org/drawingml/2006/main" noGrp="1"/>
          </p:cNvSpPr>
          <p:nvPr/>
        </p:nvSpPr>
        <p:spPr>
          <a:xfrm xmlns:a="http://schemas.openxmlformats.org/drawingml/2006/main">
            <a:off x="4419600" y="2657475"/>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1">
                <a:solidFill>
                  <a:srgbClr val="123F34"/>
                </a:solidFill>
                <a:latin typeface="Noto Sans CJK KR"/>
                <a:ea typeface="Noto Sans CJK KR"/>
                <a:cs typeface="Noto Sans CJK KR"/>
              </a:defRPr>
            </a:pPr>
            <a:r>
              <a:rPr sz="2175" b="1">
                <a:solidFill>
                  <a:srgbClr val="123F34"/>
                </a:solidFill>
                <a:latin typeface="Noto Sans CJK KR"/>
                <a:ea typeface="Noto Sans CJK KR"/>
                <a:cs typeface="Noto Sans CJK KR"/>
              </a:rPr>
              <a:t>주말 배당금 검증</a:t>
            </a:r>
          </a:p>
        </p:txBody>
      </p:sp>
      <p:sp>
        <p:nvSpPr>
          <p:cNvPr id="13" name="">
            <a:extLst xmlns:a="http://schemas.openxmlformats.org/drawingml/2006/main">
              <a:ext uri="{FF2B5EF4-FFF2-40B4-BE49-F238E27FC236}">
                <a16:creationId xmlns:a16="http://schemas.microsoft.com/office/drawing/2014/main" id="{34A86E3D-7CF1-4008-95CC-F58865D15D06}"/>
              </a:ext>
            </a:extLst>
          </p:cNvPr>
          <p:cNvSpPr>
            <a:spLocks xmlns:a="http://schemas.openxmlformats.org/drawingml/2006/main" noGrp="1"/>
          </p:cNvSpPr>
          <p:nvPr/>
        </p:nvSpPr>
        <p:spPr>
          <a:xfrm xmlns:a="http://schemas.openxmlformats.org/drawingml/2006/main">
            <a:off x="4419600" y="3219450"/>
            <a:ext cx="3352800" cy="0"/>
          </a:xfrm>
          <a:prstGeom xmlns:a="http://schemas.openxmlformats.org/drawingml/2006/main" prst="line">
            <a:avLst/>
          </a:prstGeom>
          <a:noFill xmlns:a="http://schemas.openxmlformats.org/drawingml/2006/main"/>
          <a:ln xmlns:a="http://schemas.openxmlformats.org/drawingml/2006/main" w="19050">
            <a:solidFill>
              <a:srgbClr val="123F34"/>
            </a:solidFill>
          </a:ln>
        </p:spPr>
      </p:sp>
      <p:sp>
        <p:nvSpPr>
          <p:cNvPr id="14" name="">
            <a:extLst xmlns:a="http://schemas.openxmlformats.org/drawingml/2006/main">
              <a:ext uri="{FF2B5EF4-FFF2-40B4-BE49-F238E27FC236}">
                <a16:creationId xmlns:a16="http://schemas.microsoft.com/office/drawing/2014/main" id="{E44BDC39-E634-41D8-8500-C6824A9D9B57}"/>
              </a:ext>
            </a:extLst>
          </p:cNvPr>
          <p:cNvSpPr>
            <a:spLocks xmlns:a="http://schemas.openxmlformats.org/drawingml/2006/main" noGrp="1"/>
          </p:cNvSpPr>
          <p:nvPr/>
        </p:nvSpPr>
        <p:spPr>
          <a:xfrm xmlns:a="http://schemas.openxmlformats.org/drawingml/2006/main">
            <a:off x="4419600" y="3514725"/>
            <a:ext cx="335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55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주간 결산·적립금 연동</a:t>
            </a:r>
          </a:p>
          <a:p xmlns:a="http://schemas.openxmlformats.org/drawingml/2006/main">
            <a:pPr algn="l">
              <a:lnSpc>
                <a:spcPct val="155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주문별 사용 한도·취소 회수</a:t>
            </a:r>
          </a:p>
        </p:txBody>
      </p:sp>
      <p:sp>
        <p:nvSpPr>
          <p:cNvPr id="15" name="">
            <a:extLst xmlns:a="http://schemas.openxmlformats.org/drawingml/2006/main">
              <a:ext uri="{FF2B5EF4-FFF2-40B4-BE49-F238E27FC236}">
                <a16:creationId xmlns:a16="http://schemas.microsoft.com/office/drawing/2014/main" id="{C850BDB0-5312-4E30-976D-EC1267E4C60E}"/>
              </a:ext>
            </a:extLst>
          </p:cNvPr>
          <p:cNvSpPr>
            <a:spLocks xmlns:a="http://schemas.openxmlformats.org/drawingml/2006/main" noGrp="1"/>
          </p:cNvSpPr>
          <p:nvPr/>
        </p:nvSpPr>
        <p:spPr>
          <a:xfrm xmlns:a="http://schemas.openxmlformats.org/drawingml/2006/main">
            <a:off x="4419600" y="4810125"/>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123F34"/>
                </a:solidFill>
                <a:latin typeface="Noto Sans CJK KR"/>
                <a:ea typeface="Noto Sans CJK KR"/>
                <a:cs typeface="Noto Sans CJK KR"/>
              </a:defRPr>
            </a:pPr>
            <a:r>
              <a:rPr sz="1500" b="1">
                <a:solidFill>
                  <a:srgbClr val="123F34"/>
                </a:solidFill>
                <a:latin typeface="Noto Sans CJK KR"/>
                <a:ea typeface="Noto Sans CJK KR"/>
                <a:cs typeface="Noto Sans CJK KR"/>
              </a:rPr>
              <a:t>조건: 정책·예산·연동 승인</a:t>
            </a:r>
          </a:p>
        </p:txBody>
      </p:sp>
      <p:sp>
        <p:nvSpPr>
          <p:cNvPr id="16" name="">
            <a:extLst xmlns:a="http://schemas.openxmlformats.org/drawingml/2006/main">
              <a:ext uri="{FF2B5EF4-FFF2-40B4-BE49-F238E27FC236}">
                <a16:creationId xmlns:a16="http://schemas.microsoft.com/office/drawing/2014/main" id="{A45844CC-FF6C-4CA3-B265-4B33D69B9665}"/>
              </a:ext>
            </a:extLst>
          </p:cNvPr>
          <p:cNvSpPr>
            <a:spLocks xmlns:a="http://schemas.openxmlformats.org/drawingml/2006/main" noGrp="1"/>
          </p:cNvSpPr>
          <p:nvPr/>
        </p:nvSpPr>
        <p:spPr>
          <a:xfrm xmlns:a="http://schemas.openxmlformats.org/drawingml/2006/main">
            <a:off x="7896225" y="2838450"/>
            <a:ext cx="228600" cy="1905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7AAD7C0-5362-4076-8794-7063F581ECE7}"/>
              </a:ext>
            </a:extLst>
          </p:cNvPr>
          <p:cNvSpPr>
            <a:spLocks xmlns:a="http://schemas.openxmlformats.org/drawingml/2006/main" noGrp="1"/>
          </p:cNvSpPr>
          <p:nvPr/>
        </p:nvSpPr>
        <p:spPr>
          <a:xfrm xmlns:a="http://schemas.openxmlformats.org/drawingml/2006/main">
            <a:off x="8229600" y="2152650"/>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C85B35"/>
                </a:solidFill>
                <a:latin typeface="Noto Sans CJK KR"/>
                <a:ea typeface="Noto Sans CJK KR"/>
                <a:cs typeface="Noto Sans CJK KR"/>
              </a:defRPr>
            </a:pPr>
            <a:r>
              <a:rPr sz="1650" b="1">
                <a:solidFill>
                  <a:srgbClr val="C85B35"/>
                </a:solidFill>
                <a:latin typeface="Noto Sans CJK KR"/>
                <a:ea typeface="Noto Sans CJK KR"/>
                <a:cs typeface="Noto Sans CJK KR"/>
              </a:rPr>
              <a:t>3단계</a:t>
            </a:r>
          </a:p>
        </p:txBody>
      </p:sp>
      <p:sp>
        <p:nvSpPr>
          <p:cNvPr id="18" name="">
            <a:extLst xmlns:a="http://schemas.openxmlformats.org/drawingml/2006/main">
              <a:ext uri="{FF2B5EF4-FFF2-40B4-BE49-F238E27FC236}">
                <a16:creationId xmlns:a16="http://schemas.microsoft.com/office/drawing/2014/main" id="{9AF37A30-ACE2-49A7-B4FE-CB5E8D9E6FD7}"/>
              </a:ext>
            </a:extLst>
          </p:cNvPr>
          <p:cNvSpPr>
            <a:spLocks xmlns:a="http://schemas.openxmlformats.org/drawingml/2006/main" noGrp="1"/>
          </p:cNvSpPr>
          <p:nvPr/>
        </p:nvSpPr>
        <p:spPr>
          <a:xfrm xmlns:a="http://schemas.openxmlformats.org/drawingml/2006/main">
            <a:off x="8229600" y="2657475"/>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1">
                <a:solidFill>
                  <a:srgbClr val="123F34"/>
                </a:solidFill>
                <a:latin typeface="Noto Sans CJK KR"/>
                <a:ea typeface="Noto Sans CJK KR"/>
                <a:cs typeface="Noto Sans CJK KR"/>
              </a:defRPr>
            </a:pPr>
            <a:r>
              <a:rPr sz="2175" b="1">
                <a:solidFill>
                  <a:srgbClr val="123F34"/>
                </a:solidFill>
                <a:latin typeface="Noto Sans CJK KR"/>
                <a:ea typeface="Noto Sans CJK KR"/>
                <a:cs typeface="Noto Sans CJK KR"/>
              </a:rPr>
              <a:t>상품 운영과 계절 확장</a:t>
            </a:r>
          </a:p>
        </p:txBody>
      </p:sp>
      <p:sp>
        <p:nvSpPr>
          <p:cNvPr id="19" name="">
            <a:extLst xmlns:a="http://schemas.openxmlformats.org/drawingml/2006/main">
              <a:ext uri="{FF2B5EF4-FFF2-40B4-BE49-F238E27FC236}">
                <a16:creationId xmlns:a16="http://schemas.microsoft.com/office/drawing/2014/main" id="{A00D003A-24FE-49AF-80EA-07C0EDB9047B}"/>
              </a:ext>
            </a:extLst>
          </p:cNvPr>
          <p:cNvSpPr>
            <a:spLocks xmlns:a="http://schemas.openxmlformats.org/drawingml/2006/main" noGrp="1"/>
          </p:cNvSpPr>
          <p:nvPr/>
        </p:nvSpPr>
        <p:spPr>
          <a:xfrm xmlns:a="http://schemas.openxmlformats.org/drawingml/2006/main">
            <a:off x="8229600" y="3219450"/>
            <a:ext cx="3352800" cy="0"/>
          </a:xfrm>
          <a:prstGeom xmlns:a="http://schemas.openxmlformats.org/drawingml/2006/main" prst="line">
            <a:avLst/>
          </a:prstGeom>
          <a:noFill xmlns:a="http://schemas.openxmlformats.org/drawingml/2006/main"/>
          <a:ln xmlns:a="http://schemas.openxmlformats.org/drawingml/2006/main" w="19050">
            <a:solidFill>
              <a:srgbClr val="123F34"/>
            </a:solidFill>
          </a:ln>
        </p:spPr>
      </p:sp>
      <p:sp>
        <p:nvSpPr>
          <p:cNvPr id="20" name="">
            <a:extLst xmlns:a="http://schemas.openxmlformats.org/drawingml/2006/main">
              <a:ext uri="{FF2B5EF4-FFF2-40B4-BE49-F238E27FC236}">
                <a16:creationId xmlns:a16="http://schemas.microsoft.com/office/drawing/2014/main" id="{1487ED5E-AE40-4A05-933E-6ECCE3FD81D2}"/>
              </a:ext>
            </a:extLst>
          </p:cNvPr>
          <p:cNvSpPr>
            <a:spLocks xmlns:a="http://schemas.openxmlformats.org/drawingml/2006/main" noGrp="1"/>
          </p:cNvSpPr>
          <p:nvPr/>
        </p:nvSpPr>
        <p:spPr>
          <a:xfrm xmlns:a="http://schemas.openxmlformats.org/drawingml/2006/main">
            <a:off x="8229600" y="3514725"/>
            <a:ext cx="335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55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수요·재고 보정 적용</a:t>
            </a:r>
          </a:p>
          <a:p xmlns:a="http://schemas.openxmlformats.org/drawingml/2006/main">
            <a:pPr algn="l">
              <a:lnSpc>
                <a:spcPct val="155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계절 공모주 별도 운영</a:t>
            </a:r>
          </a:p>
        </p:txBody>
      </p:sp>
      <p:sp>
        <p:nvSpPr>
          <p:cNvPr id="21" name="">
            <a:extLst xmlns:a="http://schemas.openxmlformats.org/drawingml/2006/main">
              <a:ext uri="{FF2B5EF4-FFF2-40B4-BE49-F238E27FC236}">
                <a16:creationId xmlns:a16="http://schemas.microsoft.com/office/drawing/2014/main" id="{20A3940F-2ABD-4E7B-97F9-B733DFB5EDA3}"/>
              </a:ext>
            </a:extLst>
          </p:cNvPr>
          <p:cNvSpPr>
            <a:spLocks xmlns:a="http://schemas.openxmlformats.org/drawingml/2006/main" noGrp="1"/>
          </p:cNvSpPr>
          <p:nvPr/>
        </p:nvSpPr>
        <p:spPr>
          <a:xfrm xmlns:a="http://schemas.openxmlformats.org/drawingml/2006/main">
            <a:off x="8229600" y="4810125"/>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123F34"/>
                </a:solidFill>
                <a:latin typeface="Noto Sans CJK KR"/>
                <a:ea typeface="Noto Sans CJK KR"/>
                <a:cs typeface="Noto Sans CJK KR"/>
              </a:defRPr>
            </a:pPr>
            <a:r>
              <a:rPr sz="1500" b="1">
                <a:solidFill>
                  <a:srgbClr val="123F34"/>
                </a:solidFill>
                <a:latin typeface="Noto Sans CJK KR"/>
                <a:ea typeface="Noto Sans CJK KR"/>
                <a:cs typeface="Noto Sans CJK KR"/>
              </a:rPr>
              <a:t>조건: 표본·마진·후보 확보</a:t>
            </a:r>
          </a:p>
        </p:txBody>
      </p:sp>
      <p:sp>
        <p:nvSpPr>
          <p:cNvPr id="22" name="">
            <a:extLst xmlns:a="http://schemas.openxmlformats.org/drawingml/2006/main">
              <a:ext uri="{FF2B5EF4-FFF2-40B4-BE49-F238E27FC236}">
                <a16:creationId xmlns:a16="http://schemas.microsoft.com/office/drawing/2014/main" id="{D54AB469-7351-408E-B91F-972C8A9F8776}"/>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142DA24-965C-4F03-9F5A-46A1612789C6}"/>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현재 제안의 중심은 빵시장 MVP이며, 보상·추가 할인은 승인 조건을 충족한 뒤 가동합니다.</a:t>
            </a:r>
          </a:p>
        </p:txBody>
      </p:sp>
      <p:sp>
        <p:nvSpPr>
          <p:cNvPr id="24" name="">
            <a:extLst xmlns:a="http://schemas.openxmlformats.org/drawingml/2006/main">
              <a:ext uri="{FF2B5EF4-FFF2-40B4-BE49-F238E27FC236}">
                <a16:creationId xmlns:a16="http://schemas.microsoft.com/office/drawing/2014/main" id="{294B5D12-DBCB-435F-923A-319FCDD857E5}"/>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RFP의 FX Bakery·Bread Index 확장 설계는 별도 산출물로 관리합니다.</a:t>
            </a:r>
          </a:p>
        </p:txBody>
      </p:sp>
    </p:spTree>
    <p:extLst>
      <p:ext uri="{BB962C8B-B14F-4D97-AF65-F5344CB8AC3E}">
        <p14:creationId xmlns:p14="http://schemas.microsoft.com/office/powerpoint/2010/main" val="1882382879"/>
      </p:ext>
    </p:extLst>
  </p:cSld>
</p:sld>
</file>

<file path=ppt/slides/slide12.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968960-9BA7-4FCD-BDCA-9348F1AC9DF2}"/>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재방문과 구매가 늘고 혜택 비용을 감당하는지 확인합니다</a:t>
            </a:r>
          </a:p>
        </p:txBody>
      </p:sp>
      <p:sp>
        <p:nvSpPr>
          <p:cNvPr id="2" name="">
            <a:extLst xmlns:a="http://schemas.openxmlformats.org/drawingml/2006/main">
              <a:ext uri="{FF2B5EF4-FFF2-40B4-BE49-F238E27FC236}">
                <a16:creationId xmlns:a16="http://schemas.microsoft.com/office/drawing/2014/main" id="{FAB317A0-CB32-4C3A-82C2-A4AA964E11DC}"/>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기능별 조회 수보다 다음 행동으로의 전환과 추가로 남는 이익을 함께 봅니다.</a:t>
            </a:r>
          </a:p>
        </p:txBody>
      </p:sp>
      <p:sp>
        <p:nvSpPr>
          <p:cNvPr id="3" name="">
            <a:extLst xmlns:a="http://schemas.openxmlformats.org/drawingml/2006/main">
              <a:ext uri="{FF2B5EF4-FFF2-40B4-BE49-F238E27FC236}">
                <a16:creationId xmlns:a16="http://schemas.microsoft.com/office/drawing/2014/main" id="{F881564A-D5E9-4A3B-A150-5F3DBC00387F}"/>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66F24432-9B8B-402C-9C61-8EF4A5542190}"/>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12</a:t>
            </a:r>
          </a:p>
        </p:txBody>
      </p:sp>
      <p:graphicFrame>
        <p:nvGraphicFramePr>
          <p:cNvPr id="13" name=""/>
          <p:cNvGraphicFramePr/>
          <p:nvPr/>
        </p:nvGraphicFramePr>
        <p:xfrm>
          <a:off xmlns:a="http://schemas.openxmlformats.org/drawingml/2006/main" x="609600" y="2057400"/>
          <a:ext xmlns:a="http://schemas.openxmlformats.org/drawingml/2006/main" cx="10972800" cy="3190875"/>
        </p:xfrm>
        <a:graphic xmlns:a="http://schemas.openxmlformats.org/drawingml/2006/main">
          <a:graphicData uri="http://schemas.openxmlformats.org/drawingml/2006/table">
            <a:tbl>
              <a:tblPr firstRow="0" bandRow="0"/>
              <a:tblGrid>
                <a:gridCol w="2000250"/>
                <a:gridCol w="5543550"/>
                <a:gridCol w="3429000"/>
              </a:tblGrid>
              <a:tr h="638175">
                <a:tc>
                  <a:txBody>
                    <a:bodyPr>
                      <a:noAutofit/>
                    </a:bodyPr>
                    <a:lstStyle/>
                    <a:p>
                      <a:pPr algn="l">
                        <a:lnSpc>
                          <a:spcPct val="120000"/>
                        </a:lnSpc>
                        <a:buNone/>
                      </a:pPr>
                      <a:r>
                        <a:rPr sz="1350" b="1">
                          <a:solidFill>
                            <a:srgbClr val="F6F0E6"/>
                          </a:solidFill>
                          <a:latin typeface="Noto Sans CJK KR"/>
                          <a:ea typeface="Noto Sans CJK KR"/>
                          <a:cs typeface="Noto Sans CJK KR"/>
                        </a:rPr>
                        <a:t>검증 대상</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핵심 KPI</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함께 확인할 위험</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638175">
                <a:tc>
                  <a:txBody>
                    <a:bodyPr>
                      <a:noAutofit/>
                    </a:bodyPr>
                    <a:lstStyle/>
                    <a:p>
                      <a:pPr algn="l">
                        <a:lnSpc>
                          <a:spcPct val="120000"/>
                        </a:lnSpc>
                        <a:buNone/>
                      </a:pPr>
                      <a:r>
                        <a:rPr sz="1650" b="1">
                          <a:solidFill>
                            <a:srgbClr val="123F34"/>
                          </a:solidFill>
                          <a:latin typeface="Noto Sans CJK KR"/>
                          <a:ea typeface="Noto Sans CJK KR"/>
                          <a:cs typeface="Noto Sans CJK KR"/>
                        </a:rPr>
                        <a:t>빵시장</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650" b="1">
                          <a:solidFill>
                            <a:srgbClr val="123F34"/>
                          </a:solidFill>
                          <a:latin typeface="Noto Sans CJK KR"/>
                          <a:ea typeface="Noto Sans CJK KR"/>
                          <a:cs typeface="Noto Sans CJK KR"/>
                        </a:rPr>
                        <a:t>다음 거래일 재방문율, 방문 대비 구매율</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정상가 매출 이동</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638175">
                <a:tc>
                  <a:txBody>
                    <a:bodyPr>
                      <a:noAutofit/>
                    </a:bodyPr>
                    <a:lstStyle/>
                    <a:p>
                      <a:pPr algn="l">
                        <a:lnSpc>
                          <a:spcPct val="120000"/>
                        </a:lnSpc>
                        <a:buNone/>
                      </a:pPr>
                      <a:r>
                        <a:rPr sz="1650" b="1">
                          <a:solidFill>
                            <a:srgbClr val="123F34"/>
                          </a:solidFill>
                          <a:latin typeface="Noto Sans CJK KR"/>
                          <a:ea typeface="Noto Sans CJK KR"/>
                          <a:cs typeface="Noto Sans CJK KR"/>
                        </a:rPr>
                        <a:t>포트폴리오</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650" b="1">
                          <a:solidFill>
                            <a:srgbClr val="123F34"/>
                          </a:solidFill>
                          <a:latin typeface="Noto Sans CJK KR"/>
                          <a:ea typeface="Noto Sans CJK KR"/>
                          <a:cs typeface="Noto Sans CJK KR"/>
                        </a:rPr>
                        <a:t>관심빵 등록률, 알림 후 구매율</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알림 수신 거부</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638175">
                <a:tc>
                  <a:txBody>
                    <a:bodyPr>
                      <a:noAutofit/>
                    </a:bodyPr>
                    <a:lstStyle/>
                    <a:p>
                      <a:pPr algn="l">
                        <a:lnSpc>
                          <a:spcPct val="120000"/>
                        </a:lnSpc>
                        <a:buNone/>
                      </a:pPr>
                      <a:r>
                        <a:rPr sz="1650" b="1">
                          <a:solidFill>
                            <a:srgbClr val="123F34"/>
                          </a:solidFill>
                          <a:latin typeface="Noto Sans CJK KR"/>
                          <a:ea typeface="Noto Sans CJK KR"/>
                          <a:cs typeface="Noto Sans CJK KR"/>
                        </a:rPr>
                        <a:t>주말 배당금</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650" b="1">
                          <a:solidFill>
                            <a:srgbClr val="123F34"/>
                          </a:solidFill>
                          <a:latin typeface="Noto Sans CJK KR"/>
                          <a:ea typeface="Noto Sans CJK KR"/>
                          <a:cs typeface="Noto Sans CJK KR"/>
                        </a:rPr>
                        <a:t>주말 재방문율, 배당 후 구매율</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보상비용, 금요일 구매 지연</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638175">
                <a:tc>
                  <a:txBody>
                    <a:bodyPr>
                      <a:noAutofit/>
                    </a:bodyPr>
                    <a:lstStyle/>
                    <a:p>
                      <a:pPr algn="l">
                        <a:lnSpc>
                          <a:spcPct val="120000"/>
                        </a:lnSpc>
                        <a:buNone/>
                      </a:pPr>
                      <a:r>
                        <a:rPr sz="1650" b="1">
                          <a:solidFill>
                            <a:srgbClr val="123F34"/>
                          </a:solidFill>
                          <a:latin typeface="Noto Sans CJK KR"/>
                          <a:ea typeface="Noto Sans CJK KR"/>
                          <a:cs typeface="Noto Sans CJK KR"/>
                        </a:rPr>
                        <a:t>계절 공모주</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650" b="1">
                          <a:solidFill>
                            <a:srgbClr val="123F34"/>
                          </a:solidFill>
                          <a:latin typeface="Noto Sans CJK KR"/>
                          <a:ea typeface="Noto Sans CJK KR"/>
                          <a:cs typeface="Noto Sans CJK KR"/>
                        </a:rPr>
                        <a:t>후보 청약률, 청약자의 출시 후 구매율</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개발비용, 관심과 구매의 차이</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bl>
          </a:graphicData>
        </a:graphic>
      </p:graphicFrame>
      <p:sp>
        <p:nvSpPr>
          <p:cNvPr id="6" name="">
            <a:extLst xmlns:a="http://schemas.openxmlformats.org/drawingml/2006/main">
              <a:ext uri="{FF2B5EF4-FFF2-40B4-BE49-F238E27FC236}">
                <a16:creationId xmlns:a16="http://schemas.microsoft.com/office/drawing/2014/main" id="{6CB49700-6AD0-48B7-8DF9-151F2EC8C3AD}"/>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9AF3A14-E0F7-43E6-9247-86E14424D507}"/>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최상위 KPI: 할인·포인트 비용을 뺀 대상 고객 1인당 증분 공헌이익</a:t>
            </a:r>
          </a:p>
        </p:txBody>
      </p:sp>
      <p:sp>
        <p:nvSpPr>
          <p:cNvPr id="8" name="">
            <a:extLst xmlns:a="http://schemas.openxmlformats.org/drawingml/2006/main">
              <a:ext uri="{FF2B5EF4-FFF2-40B4-BE49-F238E27FC236}">
                <a16:creationId xmlns:a16="http://schemas.microsoft.com/office/drawing/2014/main" id="{458BCAA3-9B97-4E4A-BD99-033C15FF8986}"/>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초기 기준선을 확보한 뒤 목표치를 정하고, 가능하면 비교군을 두어 추가 효과를 확인합니다.</a:t>
            </a:r>
          </a:p>
        </p:txBody>
      </p:sp>
    </p:spTree>
    <p:extLst>
      <p:ext uri="{BB962C8B-B14F-4D97-AF65-F5344CB8AC3E}">
        <p14:creationId xmlns:p14="http://schemas.microsoft.com/office/powerpoint/2010/main" val="1474433666"/>
      </p:ext>
    </p:extLst>
  </p:cSld>
</p:sld>
</file>

<file path=ppt/slides/slide13.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D86F117-FA5E-4F75-AAD0-C2813767E03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가격과 데이터, 보상은 승인된 운영 기준 안에서 관리합니다</a:t>
            </a:r>
          </a:p>
        </p:txBody>
      </p:sp>
      <p:sp>
        <p:nvSpPr>
          <p:cNvPr id="2" name="">
            <a:extLst xmlns:a="http://schemas.openxmlformats.org/drawingml/2006/main">
              <a:ext uri="{FF2B5EF4-FFF2-40B4-BE49-F238E27FC236}">
                <a16:creationId xmlns:a16="http://schemas.microsoft.com/office/drawing/2014/main" id="{F9723A61-76BB-4F0B-A036-E2748A922670}"/>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운영 오류와 비용 증가를 확인할 지표를 출시 전에 함께 정합니다.</a:t>
            </a:r>
          </a:p>
        </p:txBody>
      </p:sp>
      <p:sp>
        <p:nvSpPr>
          <p:cNvPr id="3" name="">
            <a:extLst xmlns:a="http://schemas.openxmlformats.org/drawingml/2006/main">
              <a:ext uri="{FF2B5EF4-FFF2-40B4-BE49-F238E27FC236}">
                <a16:creationId xmlns:a16="http://schemas.microsoft.com/office/drawing/2014/main" id="{19E8C45C-477A-4DB0-9BDA-29035B258635}"/>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F050AE0D-0D5C-46FF-A655-8230C1561F1B}"/>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13</a:t>
            </a:r>
          </a:p>
        </p:txBody>
      </p:sp>
      <p:sp>
        <p:nvSpPr>
          <p:cNvPr id="5" name="">
            <a:extLst xmlns:a="http://schemas.openxmlformats.org/drawingml/2006/main">
              <a:ext uri="{FF2B5EF4-FFF2-40B4-BE49-F238E27FC236}">
                <a16:creationId xmlns:a16="http://schemas.microsoft.com/office/drawing/2014/main" id="{8D7D603C-C79A-40B3-A548-214ACD12C35F}"/>
              </a:ext>
            </a:extLst>
          </p:cNvPr>
          <p:cNvSpPr>
            <a:spLocks xmlns:a="http://schemas.openxmlformats.org/drawingml/2006/main" noGrp="1"/>
          </p:cNvSpPr>
          <p:nvPr/>
        </p:nvSpPr>
        <p:spPr>
          <a:xfrm xmlns:a="http://schemas.openxmlformats.org/drawingml/2006/main">
            <a:off x="609600" y="2190750"/>
            <a:ext cx="3505200" cy="31623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67BA9A2-13ED-46A8-8F63-53331ADB698F}"/>
              </a:ext>
            </a:extLst>
          </p:cNvPr>
          <p:cNvSpPr>
            <a:spLocks xmlns:a="http://schemas.openxmlformats.org/drawingml/2006/main" noGrp="1"/>
          </p:cNvSpPr>
          <p:nvPr/>
        </p:nvSpPr>
        <p:spPr>
          <a:xfrm xmlns:a="http://schemas.openxmlformats.org/drawingml/2006/main">
            <a:off x="838200" y="23907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123F34"/>
                </a:solidFill>
                <a:latin typeface="Noto Sans CJK KR"/>
                <a:ea typeface="Noto Sans CJK KR"/>
                <a:cs typeface="Noto Sans CJK KR"/>
              </a:defRPr>
            </a:pPr>
            <a:r>
              <a:rPr sz="2250" b="1">
                <a:solidFill>
                  <a:srgbClr val="123F34"/>
                </a:solidFill>
                <a:latin typeface="Noto Sans CJK KR"/>
                <a:ea typeface="Noto Sans CJK KR"/>
                <a:cs typeface="Noto Sans CJK KR"/>
              </a:rPr>
              <a:t>가격</a:t>
            </a:r>
          </a:p>
        </p:txBody>
      </p:sp>
      <p:sp>
        <p:nvSpPr>
          <p:cNvPr id="7" name="">
            <a:extLst xmlns:a="http://schemas.openxmlformats.org/drawingml/2006/main">
              <a:ext uri="{FF2B5EF4-FFF2-40B4-BE49-F238E27FC236}">
                <a16:creationId xmlns:a16="http://schemas.microsoft.com/office/drawing/2014/main" id="{B3C13AEB-D786-49F6-AD4A-A66F627971B9}"/>
              </a:ext>
            </a:extLst>
          </p:cNvPr>
          <p:cNvSpPr>
            <a:spLocks xmlns:a="http://schemas.openxmlformats.org/drawingml/2006/main" noGrp="1"/>
          </p:cNvSpPr>
          <p:nvPr/>
        </p:nvSpPr>
        <p:spPr>
          <a:xfrm xmlns:a="http://schemas.openxmlformats.org/drawingml/2006/main">
            <a:off x="838200" y="2943225"/>
            <a:ext cx="304800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8" name="">
            <a:extLst xmlns:a="http://schemas.openxmlformats.org/drawingml/2006/main">
              <a:ext uri="{FF2B5EF4-FFF2-40B4-BE49-F238E27FC236}">
                <a16:creationId xmlns:a16="http://schemas.microsoft.com/office/drawing/2014/main" id="{CEC5C269-9E55-41AE-8BC6-194E43505262}"/>
              </a:ext>
            </a:extLst>
          </p:cNvPr>
          <p:cNvSpPr>
            <a:spLocks xmlns:a="http://schemas.openxmlformats.org/drawingml/2006/main" noGrp="1"/>
          </p:cNvSpPr>
          <p:nvPr/>
        </p:nvSpPr>
        <p:spPr>
          <a:xfrm xmlns:a="http://schemas.openxmlformats.org/drawingml/2006/main">
            <a:off x="838200" y="3152775"/>
            <a:ext cx="3048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상품별 마진 상한 우선</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전체 할인율 최대 38%</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종가 오류 시 할인 보류</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자정 정상가 복원 확인</a:t>
            </a:r>
          </a:p>
        </p:txBody>
      </p:sp>
      <p:sp>
        <p:nvSpPr>
          <p:cNvPr id="9" name="">
            <a:extLst xmlns:a="http://schemas.openxmlformats.org/drawingml/2006/main">
              <a:ext uri="{FF2B5EF4-FFF2-40B4-BE49-F238E27FC236}">
                <a16:creationId xmlns:a16="http://schemas.microsoft.com/office/drawing/2014/main" id="{A038752B-2BE3-4CE7-925B-37EB32CCFD37}"/>
              </a:ext>
            </a:extLst>
          </p:cNvPr>
          <p:cNvSpPr>
            <a:spLocks xmlns:a="http://schemas.openxmlformats.org/drawingml/2006/main" noGrp="1"/>
          </p:cNvSpPr>
          <p:nvPr/>
        </p:nvSpPr>
        <p:spPr>
          <a:xfrm xmlns:a="http://schemas.openxmlformats.org/drawingml/2006/main">
            <a:off x="838200" y="490537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425" b="1">
                <a:solidFill>
                  <a:srgbClr val="123F34"/>
                </a:solidFill>
                <a:latin typeface="Noto Sans CJK KR"/>
                <a:ea typeface="Noto Sans CJK KR"/>
                <a:cs typeface="Noto Sans CJK KR"/>
              </a:defRPr>
            </a:pPr>
            <a:r>
              <a:rPr sz="1425" b="1">
                <a:solidFill>
                  <a:srgbClr val="123F34"/>
                </a:solidFill>
                <a:latin typeface="Noto Sans CJK KR"/>
                <a:ea typeface="Noto Sans CJK KR"/>
                <a:cs typeface="Noto Sans CJK KR"/>
              </a:rPr>
              <a:t>확인: 마진·복원 실패</a:t>
            </a:r>
          </a:p>
        </p:txBody>
      </p:sp>
      <p:sp>
        <p:nvSpPr>
          <p:cNvPr id="10" name="">
            <a:extLst xmlns:a="http://schemas.openxmlformats.org/drawingml/2006/main">
              <a:ext uri="{FF2B5EF4-FFF2-40B4-BE49-F238E27FC236}">
                <a16:creationId xmlns:a16="http://schemas.microsoft.com/office/drawing/2014/main" id="{52EEE297-92CD-4D1B-A25E-8B00E69CA047}"/>
              </a:ext>
            </a:extLst>
          </p:cNvPr>
          <p:cNvSpPr>
            <a:spLocks xmlns:a="http://schemas.openxmlformats.org/drawingml/2006/main" noGrp="1"/>
          </p:cNvSpPr>
          <p:nvPr/>
        </p:nvSpPr>
        <p:spPr>
          <a:xfrm xmlns:a="http://schemas.openxmlformats.org/drawingml/2006/main">
            <a:off x="4343400" y="2190750"/>
            <a:ext cx="3505200" cy="31623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AC61C6E-6F97-438A-8EA9-53D53F43B27B}"/>
              </a:ext>
            </a:extLst>
          </p:cNvPr>
          <p:cNvSpPr>
            <a:spLocks xmlns:a="http://schemas.openxmlformats.org/drawingml/2006/main" noGrp="1"/>
          </p:cNvSpPr>
          <p:nvPr/>
        </p:nvSpPr>
        <p:spPr>
          <a:xfrm xmlns:a="http://schemas.openxmlformats.org/drawingml/2006/main">
            <a:off x="4572000" y="23907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123F34"/>
                </a:solidFill>
                <a:latin typeface="Noto Sans CJK KR"/>
                <a:ea typeface="Noto Sans CJK KR"/>
                <a:cs typeface="Noto Sans CJK KR"/>
              </a:defRPr>
            </a:pPr>
            <a:r>
              <a:rPr sz="2250" b="1">
                <a:solidFill>
                  <a:srgbClr val="123F34"/>
                </a:solidFill>
                <a:latin typeface="Noto Sans CJK KR"/>
                <a:ea typeface="Noto Sans CJK KR"/>
                <a:cs typeface="Noto Sans CJK KR"/>
              </a:rPr>
              <a:t>데이터</a:t>
            </a:r>
          </a:p>
        </p:txBody>
      </p:sp>
      <p:sp>
        <p:nvSpPr>
          <p:cNvPr id="12" name="">
            <a:extLst xmlns:a="http://schemas.openxmlformats.org/drawingml/2006/main">
              <a:ext uri="{FF2B5EF4-FFF2-40B4-BE49-F238E27FC236}">
                <a16:creationId xmlns:a16="http://schemas.microsoft.com/office/drawing/2014/main" id="{6463D60B-02A6-45FD-968D-3649DDDA3052}"/>
              </a:ext>
            </a:extLst>
          </p:cNvPr>
          <p:cNvSpPr>
            <a:spLocks xmlns:a="http://schemas.openxmlformats.org/drawingml/2006/main" noGrp="1"/>
          </p:cNvSpPr>
          <p:nvPr/>
        </p:nvSpPr>
        <p:spPr>
          <a:xfrm xmlns:a="http://schemas.openxmlformats.org/drawingml/2006/main">
            <a:off x="4572000" y="2943225"/>
            <a:ext cx="304800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13" name="">
            <a:extLst xmlns:a="http://schemas.openxmlformats.org/drawingml/2006/main">
              <a:ext uri="{FF2B5EF4-FFF2-40B4-BE49-F238E27FC236}">
                <a16:creationId xmlns:a16="http://schemas.microsoft.com/office/drawing/2014/main" id="{84ED3D1F-8DBE-487C-B095-E9B7DD315109}"/>
              </a:ext>
            </a:extLst>
          </p:cNvPr>
          <p:cNvSpPr>
            <a:spLocks xmlns:a="http://schemas.openxmlformats.org/drawingml/2006/main" noGrp="1"/>
          </p:cNvSpPr>
          <p:nvPr/>
        </p:nvSpPr>
        <p:spPr>
          <a:xfrm xmlns:a="http://schemas.openxmlformats.org/drawingml/2006/main">
            <a:off x="4572000" y="3152775"/>
            <a:ext cx="3048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관심과 구매 분리 기록</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중복 행동 제거</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알림 동의와 철회 반영</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보관·삭제 기준 설정</a:t>
            </a:r>
          </a:p>
        </p:txBody>
      </p:sp>
      <p:sp>
        <p:nvSpPr>
          <p:cNvPr id="14" name="">
            <a:extLst xmlns:a="http://schemas.openxmlformats.org/drawingml/2006/main">
              <a:ext uri="{FF2B5EF4-FFF2-40B4-BE49-F238E27FC236}">
                <a16:creationId xmlns:a16="http://schemas.microsoft.com/office/drawing/2014/main" id="{88CC6AAE-200C-4989-811B-AF91D7F33DA1}"/>
              </a:ext>
            </a:extLst>
          </p:cNvPr>
          <p:cNvSpPr>
            <a:spLocks xmlns:a="http://schemas.openxmlformats.org/drawingml/2006/main" noGrp="1"/>
          </p:cNvSpPr>
          <p:nvPr/>
        </p:nvSpPr>
        <p:spPr>
          <a:xfrm xmlns:a="http://schemas.openxmlformats.org/drawingml/2006/main">
            <a:off x="4572000" y="490537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425" b="1">
                <a:solidFill>
                  <a:srgbClr val="123F34"/>
                </a:solidFill>
                <a:latin typeface="Noto Sans CJK KR"/>
                <a:ea typeface="Noto Sans CJK KR"/>
                <a:cs typeface="Noto Sans CJK KR"/>
              </a:defRPr>
            </a:pPr>
            <a:r>
              <a:rPr sz="1425" b="1">
                <a:solidFill>
                  <a:srgbClr val="123F34"/>
                </a:solidFill>
                <a:latin typeface="Noto Sans CJK KR"/>
                <a:ea typeface="Noto Sans CJK KR"/>
                <a:cs typeface="Noto Sans CJK KR"/>
              </a:rPr>
              <a:t>확인: 누락·중복·수신 거부</a:t>
            </a:r>
          </a:p>
        </p:txBody>
      </p:sp>
      <p:sp>
        <p:nvSpPr>
          <p:cNvPr id="15" name="">
            <a:extLst xmlns:a="http://schemas.openxmlformats.org/drawingml/2006/main">
              <a:ext uri="{FF2B5EF4-FFF2-40B4-BE49-F238E27FC236}">
                <a16:creationId xmlns:a16="http://schemas.microsoft.com/office/drawing/2014/main" id="{64DF1E21-945F-4083-B56F-D9E77D607A6F}"/>
              </a:ext>
            </a:extLst>
          </p:cNvPr>
          <p:cNvSpPr>
            <a:spLocks xmlns:a="http://schemas.openxmlformats.org/drawingml/2006/main" noGrp="1"/>
          </p:cNvSpPr>
          <p:nvPr/>
        </p:nvSpPr>
        <p:spPr>
          <a:xfrm xmlns:a="http://schemas.openxmlformats.org/drawingml/2006/main">
            <a:off x="8077200" y="2190750"/>
            <a:ext cx="3505200" cy="31623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25CBCF5-0A89-4B58-B0EC-CFF7928639C8}"/>
              </a:ext>
            </a:extLst>
          </p:cNvPr>
          <p:cNvSpPr>
            <a:spLocks xmlns:a="http://schemas.openxmlformats.org/drawingml/2006/main" noGrp="1"/>
          </p:cNvSpPr>
          <p:nvPr/>
        </p:nvSpPr>
        <p:spPr>
          <a:xfrm xmlns:a="http://schemas.openxmlformats.org/drawingml/2006/main">
            <a:off x="8305800" y="23907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123F34"/>
                </a:solidFill>
                <a:latin typeface="Noto Sans CJK KR"/>
                <a:ea typeface="Noto Sans CJK KR"/>
                <a:cs typeface="Noto Sans CJK KR"/>
              </a:defRPr>
            </a:pPr>
            <a:r>
              <a:rPr sz="2250" b="1">
                <a:solidFill>
                  <a:srgbClr val="123F34"/>
                </a:solidFill>
                <a:latin typeface="Noto Sans CJK KR"/>
                <a:ea typeface="Noto Sans CJK KR"/>
                <a:cs typeface="Noto Sans CJK KR"/>
              </a:rPr>
              <a:t>배당금</a:t>
            </a:r>
          </a:p>
        </p:txBody>
      </p:sp>
      <p:sp>
        <p:nvSpPr>
          <p:cNvPr id="17" name="">
            <a:extLst xmlns:a="http://schemas.openxmlformats.org/drawingml/2006/main">
              <a:ext uri="{FF2B5EF4-FFF2-40B4-BE49-F238E27FC236}">
                <a16:creationId xmlns:a16="http://schemas.microsoft.com/office/drawing/2014/main" id="{0E6F2DD8-BE89-4C0D-840A-AA97F83DA42F}"/>
              </a:ext>
            </a:extLst>
          </p:cNvPr>
          <p:cNvSpPr>
            <a:spLocks xmlns:a="http://schemas.openxmlformats.org/drawingml/2006/main" noGrp="1"/>
          </p:cNvSpPr>
          <p:nvPr/>
        </p:nvSpPr>
        <p:spPr>
          <a:xfrm xmlns:a="http://schemas.openxmlformats.org/drawingml/2006/main">
            <a:off x="8305800" y="2943225"/>
            <a:ext cx="304800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18" name="">
            <a:extLst xmlns:a="http://schemas.openxmlformats.org/drawingml/2006/main">
              <a:ext uri="{FF2B5EF4-FFF2-40B4-BE49-F238E27FC236}">
                <a16:creationId xmlns:a16="http://schemas.microsoft.com/office/drawing/2014/main" id="{998C55DC-CE52-4A51-913C-83B19E7A2A6B}"/>
              </a:ext>
            </a:extLst>
          </p:cNvPr>
          <p:cNvSpPr>
            <a:spLocks xmlns:a="http://schemas.openxmlformats.org/drawingml/2006/main" noGrp="1"/>
          </p:cNvSpPr>
          <p:nvPr/>
        </p:nvSpPr>
        <p:spPr>
          <a:xfrm xmlns:a="http://schemas.openxmlformats.org/drawingml/2006/main">
            <a:off x="8305800" y="3152775"/>
            <a:ext cx="3048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주간 지급 최대 800P</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주문별 사용 최대 10%</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취소·어뷰징 회수 기준</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전체 예산과 월 한도 승인</a:t>
            </a:r>
          </a:p>
        </p:txBody>
      </p:sp>
      <p:sp>
        <p:nvSpPr>
          <p:cNvPr id="19" name="">
            <a:extLst xmlns:a="http://schemas.openxmlformats.org/drawingml/2006/main">
              <a:ext uri="{FF2B5EF4-FFF2-40B4-BE49-F238E27FC236}">
                <a16:creationId xmlns:a16="http://schemas.microsoft.com/office/drawing/2014/main" id="{9C35F6F5-CA2B-43E7-98FA-51F66A1D8E04}"/>
              </a:ext>
            </a:extLst>
          </p:cNvPr>
          <p:cNvSpPr>
            <a:spLocks xmlns:a="http://schemas.openxmlformats.org/drawingml/2006/main" noGrp="1"/>
          </p:cNvSpPr>
          <p:nvPr/>
        </p:nvSpPr>
        <p:spPr>
          <a:xfrm xmlns:a="http://schemas.openxmlformats.org/drawingml/2006/main">
            <a:off x="8305800" y="490537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425" b="1">
                <a:solidFill>
                  <a:srgbClr val="123F34"/>
                </a:solidFill>
                <a:latin typeface="Noto Sans CJK KR"/>
                <a:ea typeface="Noto Sans CJK KR"/>
                <a:cs typeface="Noto Sans CJK KR"/>
              </a:defRPr>
            </a:pPr>
            <a:r>
              <a:rPr sz="1425" b="1">
                <a:solidFill>
                  <a:srgbClr val="123F34"/>
                </a:solidFill>
                <a:latin typeface="Noto Sans CJK KR"/>
                <a:ea typeface="Noto Sans CJK KR"/>
                <a:cs typeface="Noto Sans CJK KR"/>
              </a:rPr>
              <a:t>확인: 사용비용·증분 이익</a:t>
            </a:r>
          </a:p>
        </p:txBody>
      </p:sp>
      <p:sp>
        <p:nvSpPr>
          <p:cNvPr id="20" name="">
            <a:extLst xmlns:a="http://schemas.openxmlformats.org/drawingml/2006/main">
              <a:ext uri="{FF2B5EF4-FFF2-40B4-BE49-F238E27FC236}">
                <a16:creationId xmlns:a16="http://schemas.microsoft.com/office/drawing/2014/main" id="{4632B8F3-699C-4F4E-BA0C-9251B1287EF7}"/>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EF96388-76CA-4B8D-98EE-83504CD443A9}"/>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기준을 넘으면 다음 운영 조건을 조정하고, 고객에게 약속한 혜택의 처리 원칙을 지킵니다.</a:t>
            </a:r>
          </a:p>
        </p:txBody>
      </p:sp>
    </p:spTree>
    <p:extLst>
      <p:ext uri="{BB962C8B-B14F-4D97-AF65-F5344CB8AC3E}">
        <p14:creationId xmlns:p14="http://schemas.microsoft.com/office/powerpoint/2010/main" val="219316821"/>
      </p:ext>
    </p:extLst>
  </p:cSld>
</p:sld>
</file>

<file path=ppt/slides/slide14.xml><?xml version="1.0" encoding="utf-8"?>
<p:sld xmlns:p="http://schemas.openxmlformats.org/presentationml/2006/main">
  <p:cSld>
    <p:bg>
      <p:bgPr>
        <a:solidFill xmlns:a="http://schemas.openxmlformats.org/drawingml/2006/main">
          <a:srgbClr val="123F3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C5B9025-ADC8-4345-B22A-223AC938C38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F6F0E6"/>
                </a:solidFill>
                <a:latin typeface="Noto Sans CJK KR"/>
                <a:ea typeface="Noto Sans CJK KR"/>
                <a:cs typeface="Noto Sans CJK KR"/>
              </a:defRPr>
            </a:pPr>
            <a:r>
              <a:rPr sz="3000" b="1">
                <a:solidFill>
                  <a:srgbClr val="F6F0E6"/>
                </a:solidFill>
                <a:latin typeface="Noto Sans CJK KR"/>
                <a:ea typeface="Noto Sans CJK KR"/>
                <a:cs typeface="Noto Sans CJK KR"/>
              </a:rPr>
              <a:t>오늘의 구매 이유가 다음 방문의 근거로 남습니다</a:t>
            </a:r>
          </a:p>
        </p:txBody>
      </p:sp>
      <p:sp>
        <p:nvSpPr>
          <p:cNvPr id="2" name="">
            <a:extLst xmlns:a="http://schemas.openxmlformats.org/drawingml/2006/main">
              <a:ext uri="{FF2B5EF4-FFF2-40B4-BE49-F238E27FC236}">
                <a16:creationId xmlns:a16="http://schemas.microsoft.com/office/drawing/2014/main" id="{7637A1FE-C32D-427B-A470-93BAF1D595FA}"/>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F6F0E6"/>
                </a:solidFill>
                <a:latin typeface="Noto Sans CJK KR"/>
                <a:ea typeface="Noto Sans CJK KR"/>
                <a:cs typeface="Noto Sans CJK KR"/>
              </a:defRPr>
            </a:pPr>
            <a:r>
              <a:rPr sz="1650" b="0">
                <a:solidFill>
                  <a:srgbClr val="F6F0E6"/>
                </a:solidFill>
                <a:latin typeface="Noto Sans CJK KR"/>
                <a:ea typeface="Noto Sans CJK KR"/>
                <a:cs typeface="Noto Sans CJK KR"/>
              </a:rPr>
              <a:t>국장이 끝나면 빵장이 시작되고, 고객의 관심은 다음 행동으로 이어집니다.</a:t>
            </a:r>
          </a:p>
        </p:txBody>
      </p:sp>
      <p:sp>
        <p:nvSpPr>
          <p:cNvPr id="3" name="">
            <a:extLst xmlns:a="http://schemas.openxmlformats.org/drawingml/2006/main">
              <a:ext uri="{FF2B5EF4-FFF2-40B4-BE49-F238E27FC236}">
                <a16:creationId xmlns:a16="http://schemas.microsoft.com/office/drawing/2014/main" id="{DE83FB95-A5C6-4428-AAB6-2F4E31730597}"/>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F6F0E6"/>
                </a:solidFill>
                <a:latin typeface="Noto Sans CJK KR"/>
                <a:ea typeface="Noto Sans CJK KR"/>
                <a:cs typeface="Noto Sans CJK KR"/>
              </a:defRPr>
            </a:pPr>
            <a:r>
              <a:rPr sz="900" b="0">
                <a:solidFill>
                  <a:srgbClr val="F6F0E6"/>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1600E2F0-4E91-4F2E-B658-4D76144C6E61}"/>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F6F0E6"/>
                </a:solidFill>
                <a:latin typeface="Noto Sans CJK KR"/>
                <a:ea typeface="Noto Sans CJK KR"/>
                <a:cs typeface="Noto Sans CJK KR"/>
              </a:defRPr>
            </a:pPr>
            <a:r>
              <a:rPr sz="1050" b="0">
                <a:solidFill>
                  <a:srgbClr val="F6F0E6"/>
                </a:solidFill>
                <a:latin typeface="Noto Sans CJK KR"/>
                <a:ea typeface="Noto Sans CJK KR"/>
                <a:cs typeface="Noto Sans CJK KR"/>
              </a:rPr>
              <a:t>14</a:t>
            </a:r>
          </a:p>
        </p:txBody>
      </p:sp>
      <p:sp>
        <p:nvSpPr>
          <p:cNvPr id="5" name="">
            <a:extLst xmlns:a="http://schemas.openxmlformats.org/drawingml/2006/main">
              <a:ext uri="{FF2B5EF4-FFF2-40B4-BE49-F238E27FC236}">
                <a16:creationId xmlns:a16="http://schemas.microsoft.com/office/drawing/2014/main" id="{6A285138-0467-4987-A483-7EB667EC54B5}"/>
              </a:ext>
            </a:extLst>
          </p:cNvPr>
          <p:cNvSpPr>
            <a:spLocks xmlns:a="http://schemas.openxmlformats.org/drawingml/2006/main" noGrp="1"/>
          </p:cNvSpPr>
          <p:nvPr/>
        </p:nvSpPr>
        <p:spPr>
          <a:xfrm xmlns:a="http://schemas.openxmlformats.org/drawingml/2006/main">
            <a:off x="609600" y="2371725"/>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1">
                <a:solidFill>
                  <a:srgbClr val="F6F0E6"/>
                </a:solidFill>
                <a:latin typeface="Noto Sans CJK KR"/>
                <a:ea typeface="Noto Sans CJK KR"/>
                <a:cs typeface="Noto Sans CJK KR"/>
              </a:defRPr>
            </a:pPr>
            <a:r>
              <a:rPr sz="2175" b="1">
                <a:solidFill>
                  <a:srgbClr val="F6F0E6"/>
                </a:solidFill>
                <a:latin typeface="Noto Sans CJK KR"/>
                <a:ea typeface="Noto Sans CJK KR"/>
                <a:cs typeface="Noto Sans CJK KR"/>
              </a:rPr>
              <a:t>빵시장</a:t>
            </a:r>
          </a:p>
        </p:txBody>
      </p:sp>
      <p:sp>
        <p:nvSpPr>
          <p:cNvPr id="6" name="">
            <a:extLst xmlns:a="http://schemas.openxmlformats.org/drawingml/2006/main">
              <a:ext uri="{FF2B5EF4-FFF2-40B4-BE49-F238E27FC236}">
                <a16:creationId xmlns:a16="http://schemas.microsoft.com/office/drawing/2014/main" id="{15D4EA95-D587-48EB-987E-0E2F9C93DB81}"/>
              </a:ext>
            </a:extLst>
          </p:cNvPr>
          <p:cNvSpPr>
            <a:spLocks xmlns:a="http://schemas.openxmlformats.org/drawingml/2006/main" noGrp="1"/>
          </p:cNvSpPr>
          <p:nvPr/>
        </p:nvSpPr>
        <p:spPr>
          <a:xfrm xmlns:a="http://schemas.openxmlformats.org/drawingml/2006/main">
            <a:off x="3790950" y="2371725"/>
            <a:ext cx="7791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0">
                <a:solidFill>
                  <a:srgbClr val="F6F0E6"/>
                </a:solidFill>
                <a:latin typeface="Noto Sans CJK KR"/>
                <a:ea typeface="Noto Sans CJK KR"/>
                <a:cs typeface="Noto Sans CJK KR"/>
              </a:defRPr>
            </a:pPr>
            <a:r>
              <a:rPr sz="2175" b="0">
                <a:solidFill>
                  <a:srgbClr val="F6F0E6"/>
                </a:solidFill>
                <a:latin typeface="Noto Sans CJK KR"/>
                <a:ea typeface="Noto Sans CJK KR"/>
                <a:cs typeface="Noto Sans CJK KR"/>
              </a:rPr>
              <a:t>시장 변화로 오늘 살 이유를 만듭니다.</a:t>
            </a:r>
          </a:p>
        </p:txBody>
      </p:sp>
      <p:sp>
        <p:nvSpPr>
          <p:cNvPr id="7" name="">
            <a:extLst xmlns:a="http://schemas.openxmlformats.org/drawingml/2006/main">
              <a:ext uri="{FF2B5EF4-FFF2-40B4-BE49-F238E27FC236}">
                <a16:creationId xmlns:a16="http://schemas.microsoft.com/office/drawing/2014/main" id="{E7D5DADC-543F-4DBB-BD66-1BDAD90B79B8}"/>
              </a:ext>
            </a:extLst>
          </p:cNvPr>
          <p:cNvSpPr>
            <a:spLocks xmlns:a="http://schemas.openxmlformats.org/drawingml/2006/main" noGrp="1"/>
          </p:cNvSpPr>
          <p:nvPr/>
        </p:nvSpPr>
        <p:spPr>
          <a:xfrm xmlns:a="http://schemas.openxmlformats.org/drawingml/2006/main">
            <a:off x="609600" y="3028950"/>
            <a:ext cx="10972800" cy="0"/>
          </a:xfrm>
          <a:prstGeom xmlns:a="http://schemas.openxmlformats.org/drawingml/2006/main" prst="line">
            <a:avLst/>
          </a:prstGeom>
          <a:noFill xmlns:a="http://schemas.openxmlformats.org/drawingml/2006/main"/>
          <a:ln xmlns:a="http://schemas.openxmlformats.org/drawingml/2006/main" w="9525">
            <a:solidFill>
              <a:srgbClr val="DDEAE2"/>
            </a:solidFill>
          </a:ln>
        </p:spPr>
      </p:sp>
      <p:sp>
        <p:nvSpPr>
          <p:cNvPr id="8" name="">
            <a:extLst xmlns:a="http://schemas.openxmlformats.org/drawingml/2006/main">
              <a:ext uri="{FF2B5EF4-FFF2-40B4-BE49-F238E27FC236}">
                <a16:creationId xmlns:a16="http://schemas.microsoft.com/office/drawing/2014/main" id="{7FFDFD28-7977-442E-AAA7-962EE2B4FD00}"/>
              </a:ext>
            </a:extLst>
          </p:cNvPr>
          <p:cNvSpPr>
            <a:spLocks xmlns:a="http://schemas.openxmlformats.org/drawingml/2006/main" noGrp="1"/>
          </p:cNvSpPr>
          <p:nvPr/>
        </p:nvSpPr>
        <p:spPr>
          <a:xfrm xmlns:a="http://schemas.openxmlformats.org/drawingml/2006/main">
            <a:off x="609600" y="32575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1">
                <a:solidFill>
                  <a:srgbClr val="F6F0E6"/>
                </a:solidFill>
                <a:latin typeface="Noto Sans CJK KR"/>
                <a:ea typeface="Noto Sans CJK KR"/>
                <a:cs typeface="Noto Sans CJK KR"/>
              </a:defRPr>
            </a:pPr>
            <a:r>
              <a:rPr sz="2175" b="1">
                <a:solidFill>
                  <a:srgbClr val="F6F0E6"/>
                </a:solidFill>
                <a:latin typeface="Noto Sans CJK KR"/>
                <a:ea typeface="Noto Sans CJK KR"/>
                <a:cs typeface="Noto Sans CJK KR"/>
              </a:rPr>
              <a:t>빵 포트폴리오</a:t>
            </a:r>
          </a:p>
        </p:txBody>
      </p:sp>
      <p:sp>
        <p:nvSpPr>
          <p:cNvPr id="9" name="">
            <a:extLst xmlns:a="http://schemas.openxmlformats.org/drawingml/2006/main">
              <a:ext uri="{FF2B5EF4-FFF2-40B4-BE49-F238E27FC236}">
                <a16:creationId xmlns:a16="http://schemas.microsoft.com/office/drawing/2014/main" id="{853AA772-2350-4877-B48E-72593A28B89B}"/>
              </a:ext>
            </a:extLst>
          </p:cNvPr>
          <p:cNvSpPr>
            <a:spLocks xmlns:a="http://schemas.openxmlformats.org/drawingml/2006/main" noGrp="1"/>
          </p:cNvSpPr>
          <p:nvPr/>
        </p:nvSpPr>
        <p:spPr>
          <a:xfrm xmlns:a="http://schemas.openxmlformats.org/drawingml/2006/main">
            <a:off x="3790950" y="3257550"/>
            <a:ext cx="7791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0">
                <a:solidFill>
                  <a:srgbClr val="F6F0E6"/>
                </a:solidFill>
                <a:latin typeface="Noto Sans CJK KR"/>
                <a:ea typeface="Noto Sans CJK KR"/>
                <a:cs typeface="Noto Sans CJK KR"/>
              </a:defRPr>
            </a:pPr>
            <a:r>
              <a:rPr sz="2175" b="0">
                <a:solidFill>
                  <a:srgbClr val="F6F0E6"/>
                </a:solidFill>
                <a:latin typeface="Noto Sans CJK KR"/>
                <a:ea typeface="Noto Sans CJK KR"/>
                <a:cs typeface="Noto Sans CJK KR"/>
              </a:rPr>
              <a:t>아직 사지 않은 관심까지 기록합니다.</a:t>
            </a:r>
          </a:p>
        </p:txBody>
      </p:sp>
      <p:sp>
        <p:nvSpPr>
          <p:cNvPr id="10" name="">
            <a:extLst xmlns:a="http://schemas.openxmlformats.org/drawingml/2006/main">
              <a:ext uri="{FF2B5EF4-FFF2-40B4-BE49-F238E27FC236}">
                <a16:creationId xmlns:a16="http://schemas.microsoft.com/office/drawing/2014/main" id="{188204D1-0A5A-4B8C-AA17-3DB8F5393A99}"/>
              </a:ext>
            </a:extLst>
          </p:cNvPr>
          <p:cNvSpPr>
            <a:spLocks xmlns:a="http://schemas.openxmlformats.org/drawingml/2006/main" noGrp="1"/>
          </p:cNvSpPr>
          <p:nvPr/>
        </p:nvSpPr>
        <p:spPr>
          <a:xfrm xmlns:a="http://schemas.openxmlformats.org/drawingml/2006/main">
            <a:off x="609600" y="3914775"/>
            <a:ext cx="10972800" cy="0"/>
          </a:xfrm>
          <a:prstGeom xmlns:a="http://schemas.openxmlformats.org/drawingml/2006/main" prst="line">
            <a:avLst/>
          </a:prstGeom>
          <a:noFill xmlns:a="http://schemas.openxmlformats.org/drawingml/2006/main"/>
          <a:ln xmlns:a="http://schemas.openxmlformats.org/drawingml/2006/main" w="9525">
            <a:solidFill>
              <a:srgbClr val="DDEAE2"/>
            </a:solidFill>
          </a:ln>
        </p:spPr>
      </p:sp>
      <p:sp>
        <p:nvSpPr>
          <p:cNvPr id="11" name="">
            <a:extLst xmlns:a="http://schemas.openxmlformats.org/drawingml/2006/main">
              <a:ext uri="{FF2B5EF4-FFF2-40B4-BE49-F238E27FC236}">
                <a16:creationId xmlns:a16="http://schemas.microsoft.com/office/drawing/2014/main" id="{2A09B256-9D5D-4218-B2A9-877FE80B8976}"/>
              </a:ext>
            </a:extLst>
          </p:cNvPr>
          <p:cNvSpPr>
            <a:spLocks xmlns:a="http://schemas.openxmlformats.org/drawingml/2006/main" noGrp="1"/>
          </p:cNvSpPr>
          <p:nvPr/>
        </p:nvSpPr>
        <p:spPr>
          <a:xfrm xmlns:a="http://schemas.openxmlformats.org/drawingml/2006/main">
            <a:off x="609600" y="4143375"/>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1">
                <a:solidFill>
                  <a:srgbClr val="F6F0E6"/>
                </a:solidFill>
                <a:latin typeface="Noto Sans CJK KR"/>
                <a:ea typeface="Noto Sans CJK KR"/>
                <a:cs typeface="Noto Sans CJK KR"/>
              </a:defRPr>
            </a:pPr>
            <a:r>
              <a:rPr sz="2175" b="1">
                <a:solidFill>
                  <a:srgbClr val="F6F0E6"/>
                </a:solidFill>
                <a:latin typeface="Noto Sans CJK KR"/>
                <a:ea typeface="Noto Sans CJK KR"/>
                <a:cs typeface="Noto Sans CJK KR"/>
              </a:rPr>
              <a:t>주말 배당금</a:t>
            </a:r>
          </a:p>
        </p:txBody>
      </p:sp>
      <p:sp>
        <p:nvSpPr>
          <p:cNvPr id="12" name="">
            <a:extLst xmlns:a="http://schemas.openxmlformats.org/drawingml/2006/main">
              <a:ext uri="{FF2B5EF4-FFF2-40B4-BE49-F238E27FC236}">
                <a16:creationId xmlns:a16="http://schemas.microsoft.com/office/drawing/2014/main" id="{A524B3B1-9304-40DA-94BB-D5EFBFE0C7A2}"/>
              </a:ext>
            </a:extLst>
          </p:cNvPr>
          <p:cNvSpPr>
            <a:spLocks xmlns:a="http://schemas.openxmlformats.org/drawingml/2006/main" noGrp="1"/>
          </p:cNvSpPr>
          <p:nvPr/>
        </p:nvSpPr>
        <p:spPr>
          <a:xfrm xmlns:a="http://schemas.openxmlformats.org/drawingml/2006/main">
            <a:off x="3790950" y="4143375"/>
            <a:ext cx="7791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0">
                <a:solidFill>
                  <a:srgbClr val="F6F0E6"/>
                </a:solidFill>
                <a:latin typeface="Noto Sans CJK KR"/>
                <a:ea typeface="Noto Sans CJK KR"/>
                <a:cs typeface="Noto Sans CJK KR"/>
              </a:defRPr>
            </a:pPr>
            <a:r>
              <a:rPr sz="2175" b="0">
                <a:solidFill>
                  <a:srgbClr val="F6F0E6"/>
                </a:solidFill>
                <a:latin typeface="Noto Sans CJK KR"/>
                <a:ea typeface="Noto Sans CJK KR"/>
                <a:cs typeface="Noto Sans CJK KR"/>
              </a:rPr>
              <a:t>평일 활동을 다음 방문과 구매로 돌려줍니다.</a:t>
            </a:r>
          </a:p>
        </p:txBody>
      </p:sp>
      <p:sp>
        <p:nvSpPr>
          <p:cNvPr id="13" name="">
            <a:extLst xmlns:a="http://schemas.openxmlformats.org/drawingml/2006/main">
              <a:ext uri="{FF2B5EF4-FFF2-40B4-BE49-F238E27FC236}">
                <a16:creationId xmlns:a16="http://schemas.microsoft.com/office/drawing/2014/main" id="{4A13F61A-F966-494B-A085-29E85F657B8D}"/>
              </a:ext>
            </a:extLst>
          </p:cNvPr>
          <p:cNvSpPr>
            <a:spLocks xmlns:a="http://schemas.openxmlformats.org/drawingml/2006/main" noGrp="1"/>
          </p:cNvSpPr>
          <p:nvPr/>
        </p:nvSpPr>
        <p:spPr>
          <a:xfrm xmlns:a="http://schemas.openxmlformats.org/drawingml/2006/main">
            <a:off x="609600" y="4800600"/>
            <a:ext cx="10972800" cy="0"/>
          </a:xfrm>
          <a:prstGeom xmlns:a="http://schemas.openxmlformats.org/drawingml/2006/main" prst="line">
            <a:avLst/>
          </a:prstGeom>
          <a:noFill xmlns:a="http://schemas.openxmlformats.org/drawingml/2006/main"/>
          <a:ln xmlns:a="http://schemas.openxmlformats.org/drawingml/2006/main" w="9525">
            <a:solidFill>
              <a:srgbClr val="DDEAE2"/>
            </a:solidFill>
          </a:ln>
        </p:spPr>
      </p:sp>
      <p:sp>
        <p:nvSpPr>
          <p:cNvPr id="14" name="">
            <a:extLst xmlns:a="http://schemas.openxmlformats.org/drawingml/2006/main">
              <a:ext uri="{FF2B5EF4-FFF2-40B4-BE49-F238E27FC236}">
                <a16:creationId xmlns:a16="http://schemas.microsoft.com/office/drawing/2014/main" id="{BC5911C5-7399-4F24-A8E0-232ED4B867FE}"/>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F6F0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A74230B-C1DD-4E3E-B22C-2264C08BE03D}"/>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123F34"/>
                </a:solidFill>
                <a:latin typeface="Noto Sans CJK KR"/>
                <a:ea typeface="Noto Sans CJK KR"/>
                <a:cs typeface="Noto Sans CJK KR"/>
              </a:defRPr>
            </a:pPr>
            <a:r>
              <a:rPr sz="1800" b="1">
                <a:solidFill>
                  <a:srgbClr val="123F34"/>
                </a:solidFill>
                <a:latin typeface="Noto Sans CJK KR"/>
                <a:ea typeface="Noto Sans CJK KR"/>
                <a:cs typeface="Noto Sans CJK KR"/>
              </a:rPr>
              <a:t>막지는 무엇이 팔렸는지와 함께, 고객이 무엇을 원했는지 확인할 수 있습니다.</a:t>
            </a:r>
          </a:p>
        </p:txBody>
      </p:sp>
    </p:spTree>
    <p:extLst>
      <p:ext uri="{BB962C8B-B14F-4D97-AF65-F5344CB8AC3E}">
        <p14:creationId xmlns:p14="http://schemas.microsoft.com/office/powerpoint/2010/main" val="1167873342"/>
      </p:ext>
    </p:extLst>
  </p:cSld>
</p:sld>
</file>

<file path=ppt/slides/slide15.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47AD519-7DD2-4725-81B0-9FAC50165A9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할인 상품은 식사형과 디저트형으로 나누어 운영합니다</a:t>
            </a:r>
          </a:p>
        </p:txBody>
      </p:sp>
      <p:sp>
        <p:nvSpPr>
          <p:cNvPr id="2" name="">
            <a:extLst xmlns:a="http://schemas.openxmlformats.org/drawingml/2006/main">
              <a:ext uri="{FF2B5EF4-FFF2-40B4-BE49-F238E27FC236}">
                <a16:creationId xmlns:a16="http://schemas.microsoft.com/office/drawing/2014/main" id="{BC1973CC-DB20-417D-874D-DBC56D241AFD}"/>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참고 A · 최신 기획의 상품 분류이며, 실제 옵션과 판매가는 기업 데이터로 최종 매핑합니다.</a:t>
            </a:r>
          </a:p>
        </p:txBody>
      </p:sp>
      <p:sp>
        <p:nvSpPr>
          <p:cNvPr id="3" name="">
            <a:extLst xmlns:a="http://schemas.openxmlformats.org/drawingml/2006/main">
              <a:ext uri="{FF2B5EF4-FFF2-40B4-BE49-F238E27FC236}">
                <a16:creationId xmlns:a16="http://schemas.microsoft.com/office/drawing/2014/main" id="{68A0F61A-EDAD-4EF3-91B3-DA89FF405FC8}"/>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3FE0E254-9ACC-4CB9-9F69-3EAFC94FA1E2}"/>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15</a:t>
            </a:r>
          </a:p>
        </p:txBody>
      </p:sp>
      <p:sp>
        <p:nvSpPr>
          <p:cNvPr id="5" name="">
            <a:extLst xmlns:a="http://schemas.openxmlformats.org/drawingml/2006/main">
              <a:ext uri="{FF2B5EF4-FFF2-40B4-BE49-F238E27FC236}">
                <a16:creationId xmlns:a16="http://schemas.microsoft.com/office/drawing/2014/main" id="{B0110B0D-3875-480E-8286-DAE72D791417}"/>
              </a:ext>
            </a:extLst>
          </p:cNvPr>
          <p:cNvSpPr>
            <a:spLocks xmlns:a="http://schemas.openxmlformats.org/drawingml/2006/main" noGrp="1"/>
          </p:cNvSpPr>
          <p:nvPr/>
        </p:nvSpPr>
        <p:spPr>
          <a:xfrm xmlns:a="http://schemas.openxmlformats.org/drawingml/2006/main">
            <a:off x="609600" y="2009775"/>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상승장: 식사형·데일리 6개 상품군</a:t>
            </a:r>
          </a:p>
        </p:txBody>
      </p:sp>
      <p:sp>
        <p:nvSpPr>
          <p:cNvPr id="6" name="">
            <a:extLst xmlns:a="http://schemas.openxmlformats.org/drawingml/2006/main">
              <a:ext uri="{FF2B5EF4-FFF2-40B4-BE49-F238E27FC236}">
                <a16:creationId xmlns:a16="http://schemas.microsoft.com/office/drawing/2014/main" id="{67331382-C410-4974-910B-9DCDD5AE475E}"/>
              </a:ext>
            </a:extLst>
          </p:cNvPr>
          <p:cNvSpPr>
            <a:spLocks xmlns:a="http://schemas.openxmlformats.org/drawingml/2006/main" noGrp="1"/>
          </p:cNvSpPr>
          <p:nvPr/>
        </p:nvSpPr>
        <p:spPr>
          <a:xfrm xmlns:a="http://schemas.openxmlformats.org/drawingml/2006/main">
            <a:off x="6324600" y="2009775"/>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하락장: 달달한 위로 4개 상품군</a:t>
            </a:r>
          </a:p>
        </p:txBody>
      </p:sp>
      <p:graphicFrame>
        <p:nvGraphicFramePr>
          <p:cNvPr id="18" name=""/>
          <p:cNvGraphicFramePr/>
          <p:nvPr/>
        </p:nvGraphicFramePr>
        <p:xfrm>
          <a:off xmlns:a="http://schemas.openxmlformats.org/drawingml/2006/main" x="609600" y="2495550"/>
          <a:ext xmlns:a="http://schemas.openxmlformats.org/drawingml/2006/main" cx="5257800" cy="2933700"/>
        </p:xfrm>
        <a:graphic xmlns:a="http://schemas.openxmlformats.org/drawingml/2006/main">
          <a:graphicData uri="http://schemas.openxmlformats.org/drawingml/2006/table">
            <a:tbl>
              <a:tblPr firstRow="0" bandRow="0"/>
              <a:tblGrid>
                <a:gridCol w="3486150"/>
                <a:gridCol w="1771650"/>
              </a:tblGrid>
              <a:tr h="419100">
                <a:tc>
                  <a:txBody>
                    <a:bodyPr>
                      <a:noAutofit/>
                    </a:bodyPr>
                    <a:lstStyle/>
                    <a:p>
                      <a:pPr algn="l">
                        <a:lnSpc>
                          <a:spcPct val="120000"/>
                        </a:lnSpc>
                        <a:buNone/>
                      </a:pPr>
                      <a:r>
                        <a:rPr sz="1350" b="1">
                          <a:solidFill>
                            <a:srgbClr val="F6F0E6"/>
                          </a:solidFill>
                          <a:latin typeface="Noto Sans CJK KR"/>
                          <a:ea typeface="Noto Sans CJK KR"/>
                          <a:cs typeface="Noto Sans CJK KR"/>
                        </a:rPr>
                        <a:t>상품군</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기획서 정상가</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냉동생지 3종</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21,000원</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테트리스 브레드</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11,000원</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제로 무설탕 모닝롤</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4,500원</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비건 잉글리시 머핀</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1,500원</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대만식 샌드위치</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2,400원</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ZERO 카스테라</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12,000원</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bl>
          </a:graphicData>
        </a:graphic>
      </p:graphicFrame>
      <p:graphicFrame>
        <p:nvGraphicFramePr>
          <p:cNvPr id="19" name=""/>
          <p:cNvGraphicFramePr/>
          <p:nvPr/>
        </p:nvGraphicFramePr>
        <p:xfrm>
          <a:off xmlns:a="http://schemas.openxmlformats.org/drawingml/2006/main" x="6324600" y="2495550"/>
          <a:ext xmlns:a="http://schemas.openxmlformats.org/drawingml/2006/main" cx="5257800" cy="2095500"/>
        </p:xfrm>
        <a:graphic xmlns:a="http://schemas.openxmlformats.org/drawingml/2006/main">
          <a:graphicData uri="http://schemas.openxmlformats.org/drawingml/2006/table">
            <a:tbl>
              <a:tblPr firstRow="0" bandRow="0"/>
              <a:tblGrid>
                <a:gridCol w="3486150"/>
                <a:gridCol w="1771650"/>
              </a:tblGrid>
              <a:tr h="419100">
                <a:tc>
                  <a:txBody>
                    <a:bodyPr>
                      <a:noAutofit/>
                    </a:bodyPr>
                    <a:lstStyle/>
                    <a:p>
                      <a:pPr algn="l">
                        <a:lnSpc>
                          <a:spcPct val="120000"/>
                        </a:lnSpc>
                        <a:buNone/>
                      </a:pPr>
                      <a:r>
                        <a:rPr sz="1350" b="1">
                          <a:solidFill>
                            <a:srgbClr val="F6F0E6"/>
                          </a:solidFill>
                          <a:latin typeface="Noto Sans CJK KR"/>
                          <a:ea typeface="Noto Sans CJK KR"/>
                          <a:cs typeface="Noto Sans CJK KR"/>
                        </a:rPr>
                        <a:t>상품군</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기획서 정상가</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마틸다 초코케이크</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42,000원</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달항아리 티라미수</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15,000원</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글루텐프리 휘낭시에</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3,800원</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글루텐프리 스콘</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3,800원</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bl>
          </a:graphicData>
        </a:graphic>
      </p:graphicFrame>
      <p:sp>
        <p:nvSpPr>
          <p:cNvPr id="9" name="">
            <a:extLst xmlns:a="http://schemas.openxmlformats.org/drawingml/2006/main">
              <a:ext uri="{FF2B5EF4-FFF2-40B4-BE49-F238E27FC236}">
                <a16:creationId xmlns:a16="http://schemas.microsoft.com/office/drawing/2014/main" id="{7ACE3E42-2AFD-4D5E-97C0-9DC9DC1723A2}"/>
              </a:ext>
            </a:extLst>
          </p:cNvPr>
          <p:cNvSpPr>
            <a:spLocks xmlns:a="http://schemas.openxmlformats.org/drawingml/2006/main" noGrp="1"/>
          </p:cNvSpPr>
          <p:nvPr/>
        </p:nvSpPr>
        <p:spPr>
          <a:xfrm xmlns:a="http://schemas.openxmlformats.org/drawingml/2006/main">
            <a:off x="6324600" y="4857750"/>
            <a:ext cx="5257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상품 분류는 영양 효능이 아닌</a:t>
            </a:r>
          </a:p>
          <a:p xmlns:a="http://schemas.openxmlformats.org/drawingml/2006/main">
            <a:pPr algn="l">
              <a:lnSpc>
                <a:spcPct val="14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제품 형태와 소비 상황을 기준으로 합니다.</a:t>
            </a:r>
          </a:p>
        </p:txBody>
      </p:sp>
      <p:sp>
        <p:nvSpPr>
          <p:cNvPr id="10" name="">
            <a:extLst xmlns:a="http://schemas.openxmlformats.org/drawingml/2006/main">
              <a:ext uri="{FF2B5EF4-FFF2-40B4-BE49-F238E27FC236}">
                <a16:creationId xmlns:a16="http://schemas.microsoft.com/office/drawing/2014/main" id="{A005EE2E-119C-496B-A4BA-3EEF9E8DE0DB}"/>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6FC75BC-A31F-456B-894B-71CE00517D52}"/>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가격은 기존 기획서 기재값이며, 현재 판매가·원가·재고 확인 후 적용합니다.</a:t>
            </a:r>
          </a:p>
        </p:txBody>
      </p:sp>
    </p:spTree>
    <p:extLst>
      <p:ext uri="{BB962C8B-B14F-4D97-AF65-F5344CB8AC3E}">
        <p14:creationId xmlns:p14="http://schemas.microsoft.com/office/powerpoint/2010/main" val="2120720236"/>
      </p:ext>
    </p:extLst>
  </p:cSld>
</p:sld>
</file>

<file path=ppt/slides/slide16.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2D6F7B-5E33-4338-B1F1-F3CDADCA856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수요와 재고 보정은 충분한 데이터가 쌓인 뒤 적용합니다</a:t>
            </a:r>
          </a:p>
        </p:txBody>
      </p:sp>
      <p:sp>
        <p:nvSpPr>
          <p:cNvPr id="2" name="">
            <a:extLst xmlns:a="http://schemas.openxmlformats.org/drawingml/2006/main">
              <a:ext uri="{FF2B5EF4-FFF2-40B4-BE49-F238E27FC236}">
                <a16:creationId xmlns:a16="http://schemas.microsoft.com/office/drawing/2014/main" id="{30504E13-6673-46FD-875B-C40B568C14D4}"/>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참고 B · 아래 기준은 효과를 검증할 MVP 제안값이며, 확정된 최적값이 아닙니다.</a:t>
            </a:r>
          </a:p>
        </p:txBody>
      </p:sp>
      <p:sp>
        <p:nvSpPr>
          <p:cNvPr id="3" name="">
            <a:extLst xmlns:a="http://schemas.openxmlformats.org/drawingml/2006/main">
              <a:ext uri="{FF2B5EF4-FFF2-40B4-BE49-F238E27FC236}">
                <a16:creationId xmlns:a16="http://schemas.microsoft.com/office/drawing/2014/main" id="{369CE437-FBB2-4E62-AD22-C69716CD97D3}"/>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A3B8F3DB-9CE2-4E99-B042-7673B8C54F79}"/>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16</a:t>
            </a:r>
          </a:p>
        </p:txBody>
      </p:sp>
      <p:sp>
        <p:nvSpPr>
          <p:cNvPr id="5" name="">
            <a:extLst xmlns:a="http://schemas.openxmlformats.org/drawingml/2006/main">
              <a:ext uri="{FF2B5EF4-FFF2-40B4-BE49-F238E27FC236}">
                <a16:creationId xmlns:a16="http://schemas.microsoft.com/office/drawing/2014/main" id="{588A855E-6077-46AC-95A8-9D1387B8A825}"/>
              </a:ext>
            </a:extLst>
          </p:cNvPr>
          <p:cNvSpPr>
            <a:spLocks xmlns:a="http://schemas.openxmlformats.org/drawingml/2006/main" noGrp="1"/>
          </p:cNvSpPr>
          <p:nvPr/>
        </p:nvSpPr>
        <p:spPr>
          <a:xfrm xmlns:a="http://schemas.openxmlformats.org/drawingml/2006/main">
            <a:off x="609600" y="2066925"/>
            <a:ext cx="5257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025" b="1">
                <a:solidFill>
                  <a:srgbClr val="123F34"/>
                </a:solidFill>
                <a:latin typeface="Noto Sans CJK KR"/>
                <a:ea typeface="Noto Sans CJK KR"/>
                <a:cs typeface="Noto Sans CJK KR"/>
              </a:defRPr>
            </a:pPr>
            <a:r>
              <a:rPr sz="2025" b="1">
                <a:solidFill>
                  <a:srgbClr val="123F34"/>
                </a:solidFill>
                <a:latin typeface="Noto Sans CJK KR"/>
                <a:ea typeface="Noto Sans CJK KR"/>
                <a:cs typeface="Noto Sans CJK KR"/>
              </a:rPr>
              <a:t>수요 보정</a:t>
            </a:r>
          </a:p>
        </p:txBody>
      </p:sp>
      <p:graphicFrame>
        <p:nvGraphicFramePr>
          <p:cNvPr id="18" name=""/>
          <p:cNvGraphicFramePr/>
          <p:nvPr/>
        </p:nvGraphicFramePr>
        <p:xfrm>
          <a:off xmlns:a="http://schemas.openxmlformats.org/drawingml/2006/main" x="609600" y="2571750"/>
          <a:ext xmlns:a="http://schemas.openxmlformats.org/drawingml/2006/main" cx="5257800" cy="2209800"/>
        </p:xfrm>
        <a:graphic xmlns:a="http://schemas.openxmlformats.org/drawingml/2006/main">
          <a:graphicData uri="http://schemas.openxmlformats.org/drawingml/2006/table">
            <a:tbl>
              <a:tblPr firstRow="0" bandRow="0"/>
              <a:tblGrid>
                <a:gridCol w="3486150"/>
                <a:gridCol w="1771650"/>
              </a:tblGrid>
              <a:tr h="552450">
                <a:tc>
                  <a:txBody>
                    <a:bodyPr>
                      <a:noAutofit/>
                    </a:bodyPr>
                    <a:lstStyle/>
                    <a:p>
                      <a:pPr algn="l">
                        <a:lnSpc>
                          <a:spcPct val="120000"/>
                        </a:lnSpc>
                        <a:buNone/>
                      </a:pPr>
                      <a:r>
                        <a:rPr sz="1350" b="1">
                          <a:solidFill>
                            <a:srgbClr val="F6F0E6"/>
                          </a:solidFill>
                          <a:latin typeface="Noto Sans CJK KR"/>
                          <a:ea typeface="Noto Sans CJK KR"/>
                          <a:cs typeface="Noto Sans CJK KR"/>
                        </a:rPr>
                        <a:t>관심 대비 구매전환율</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추가 할인</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552450">
                <a:tc>
                  <a:txBody>
                    <a:bodyPr>
                      <a:noAutofit/>
                    </a:bodyPr>
                    <a:lstStyle/>
                    <a:p>
                      <a:pPr algn="l">
                        <a:lnSpc>
                          <a:spcPct val="120000"/>
                        </a:lnSpc>
                        <a:buNone/>
                      </a:pPr>
                      <a:r>
                        <a:rPr sz="1725" b="1">
                          <a:solidFill>
                            <a:srgbClr val="123F34"/>
                          </a:solidFill>
                          <a:latin typeface="Noto Sans CJK KR"/>
                          <a:ea typeface="Noto Sans CJK KR"/>
                          <a:cs typeface="Noto Sans CJK KR"/>
                        </a:rPr>
                        <a:t>45% 이상</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0%p</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52450">
                <a:tc>
                  <a:txBody>
                    <a:bodyPr>
                      <a:noAutofit/>
                    </a:bodyPr>
                    <a:lstStyle/>
                    <a:p>
                      <a:pPr algn="l">
                        <a:lnSpc>
                          <a:spcPct val="120000"/>
                        </a:lnSpc>
                        <a:buNone/>
                      </a:pPr>
                      <a:r>
                        <a:rPr sz="1725" b="1">
                          <a:solidFill>
                            <a:srgbClr val="123F34"/>
                          </a:solidFill>
                          <a:latin typeface="Noto Sans CJK KR"/>
                          <a:ea typeface="Noto Sans CJK KR"/>
                          <a:cs typeface="Noto Sans CJK KR"/>
                        </a:rPr>
                        <a:t>20% 이상 45%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+2%p</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52450">
                <a:tc>
                  <a:txBody>
                    <a:bodyPr>
                      <a:noAutofit/>
                    </a:bodyPr>
                    <a:lstStyle/>
                    <a:p>
                      <a:pPr algn="l">
                        <a:lnSpc>
                          <a:spcPct val="120000"/>
                        </a:lnSpc>
                        <a:buNone/>
                      </a:pPr>
                      <a:r>
                        <a:rPr sz="1725" b="1">
                          <a:solidFill>
                            <a:srgbClr val="123F34"/>
                          </a:solidFill>
                          <a:latin typeface="Noto Sans CJK KR"/>
                          <a:ea typeface="Noto Sans CJK KR"/>
                          <a:cs typeface="Noto Sans CJK KR"/>
                        </a:rPr>
                        <a:t>20%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+3%p</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bl>
          </a:graphicData>
        </a:graphic>
      </p:graphicFrame>
      <p:sp>
        <p:nvSpPr>
          <p:cNvPr id="7" name="">
            <a:extLst xmlns:a="http://schemas.openxmlformats.org/drawingml/2006/main">
              <a:ext uri="{FF2B5EF4-FFF2-40B4-BE49-F238E27FC236}">
                <a16:creationId xmlns:a16="http://schemas.microsoft.com/office/drawing/2014/main" id="{E4F41439-52B9-480F-BBC1-D4C7C2CF8974}"/>
              </a:ext>
            </a:extLst>
          </p:cNvPr>
          <p:cNvSpPr>
            <a:spLocks xmlns:a="http://schemas.openxmlformats.org/drawingml/2006/main" noGrp="1"/>
          </p:cNvSpPr>
          <p:nvPr/>
        </p:nvSpPr>
        <p:spPr>
          <a:xfrm xmlns:a="http://schemas.openxmlformats.org/drawingml/2006/main">
            <a:off x="609600" y="4943475"/>
            <a:ext cx="5257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5000"/>
              </a:lnSpc>
              <a:buNone/>
              <a:defRPr sz="1500" b="0">
                <a:solidFill>
                  <a:srgbClr val="123F34"/>
                </a:solidFill>
                <a:latin typeface="Noto Sans CJK KR"/>
                <a:ea typeface="Noto Sans CJK KR"/>
                <a:cs typeface="Noto Sans CJK KR"/>
              </a:defRPr>
            </a:pPr>
            <a:r>
              <a:rPr sz="1500" b="0">
                <a:solidFill>
                  <a:srgbClr val="123F34"/>
                </a:solidFill>
                <a:latin typeface="Noto Sans CJK KR"/>
                <a:ea typeface="Noto Sans CJK KR"/>
                <a:cs typeface="Noto Sans CJK KR"/>
              </a:rPr>
              <a:t>관심 고객 20명 미만이면 보정 0</a:t>
            </a:r>
          </a:p>
          <a:p xmlns:a="http://schemas.openxmlformats.org/drawingml/2006/main">
            <a:pPr algn="l">
              <a:lnSpc>
                <a:spcPct val="145000"/>
              </a:lnSpc>
              <a:buNone/>
              <a:defRPr sz="1500" b="0">
                <a:solidFill>
                  <a:srgbClr val="123F34"/>
                </a:solidFill>
                <a:latin typeface="Noto Sans CJK KR"/>
                <a:ea typeface="Noto Sans CJK KR"/>
                <a:cs typeface="Noto Sans CJK KR"/>
              </a:defRPr>
            </a:pPr>
            <a:r>
              <a:rPr sz="1500" b="0">
                <a:solidFill>
                  <a:srgbClr val="123F34"/>
                </a:solidFill>
                <a:latin typeface="Noto Sans CJK KR"/>
                <a:ea typeface="Noto Sans CJK KR"/>
                <a:cs typeface="Noto Sans CJK KR"/>
              </a:rPr>
              <a:t>관찰 기간과 구매 집계 기준은 확정 필요</a:t>
            </a:r>
          </a:p>
        </p:txBody>
      </p:sp>
      <p:sp>
        <p:nvSpPr>
          <p:cNvPr id="8" name="">
            <a:extLst xmlns:a="http://schemas.openxmlformats.org/drawingml/2006/main">
              <a:ext uri="{FF2B5EF4-FFF2-40B4-BE49-F238E27FC236}">
                <a16:creationId xmlns:a16="http://schemas.microsoft.com/office/drawing/2014/main" id="{556900D7-AB1C-45B1-8BEA-7C68C1C9CB53}"/>
              </a:ext>
            </a:extLst>
          </p:cNvPr>
          <p:cNvSpPr>
            <a:spLocks xmlns:a="http://schemas.openxmlformats.org/drawingml/2006/main" noGrp="1"/>
          </p:cNvSpPr>
          <p:nvPr/>
        </p:nvSpPr>
        <p:spPr>
          <a:xfrm xmlns:a="http://schemas.openxmlformats.org/drawingml/2006/main">
            <a:off x="6324600" y="2066925"/>
            <a:ext cx="5257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025" b="1">
                <a:solidFill>
                  <a:srgbClr val="123F34"/>
                </a:solidFill>
                <a:latin typeface="Noto Sans CJK KR"/>
                <a:ea typeface="Noto Sans CJK KR"/>
                <a:cs typeface="Noto Sans CJK KR"/>
              </a:defRPr>
            </a:pPr>
            <a:r>
              <a:rPr sz="2025" b="1">
                <a:solidFill>
                  <a:srgbClr val="123F34"/>
                </a:solidFill>
                <a:latin typeface="Noto Sans CJK KR"/>
                <a:ea typeface="Noto Sans CJK KR"/>
                <a:cs typeface="Noto Sans CJK KR"/>
              </a:rPr>
              <a:t>재고 보정</a:t>
            </a:r>
          </a:p>
        </p:txBody>
      </p:sp>
      <p:graphicFrame>
        <p:nvGraphicFramePr>
          <p:cNvPr id="21" name=""/>
          <p:cNvGraphicFramePr/>
          <p:nvPr/>
        </p:nvGraphicFramePr>
        <p:xfrm>
          <a:off xmlns:a="http://schemas.openxmlformats.org/drawingml/2006/main" x="6324600" y="2571750"/>
          <a:ext xmlns:a="http://schemas.openxmlformats.org/drawingml/2006/main" cx="5257800" cy="2209800"/>
        </p:xfrm>
        <a:graphic xmlns:a="http://schemas.openxmlformats.org/drawingml/2006/main">
          <a:graphicData uri="http://schemas.openxmlformats.org/drawingml/2006/table">
            <a:tbl>
              <a:tblPr firstRow="0" bandRow="0"/>
              <a:tblGrid>
                <a:gridCol w="3486150"/>
                <a:gridCol w="1771650"/>
              </a:tblGrid>
              <a:tr h="552450">
                <a:tc>
                  <a:txBody>
                    <a:bodyPr>
                      <a:noAutofit/>
                    </a:bodyPr>
                    <a:lstStyle/>
                    <a:p>
                      <a:pPr algn="l">
                        <a:lnSpc>
                          <a:spcPct val="120000"/>
                        </a:lnSpc>
                        <a:buNone/>
                      </a:pPr>
                      <a:r>
                        <a:rPr sz="1350" b="1">
                          <a:solidFill>
                            <a:srgbClr val="F6F0E6"/>
                          </a:solidFill>
                          <a:latin typeface="Noto Sans CJK KR"/>
                          <a:ea typeface="Noto Sans CJK KR"/>
                          <a:cs typeface="Noto Sans CJK KR"/>
                        </a:rPr>
                        <a:t>재고 커버일수</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추가 할인</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552450">
                <a:tc>
                  <a:txBody>
                    <a:bodyPr>
                      <a:noAutofit/>
                    </a:bodyPr>
                    <a:lstStyle/>
                    <a:p>
                      <a:pPr algn="l">
                        <a:lnSpc>
                          <a:spcPct val="120000"/>
                        </a:lnSpc>
                        <a:buNone/>
                      </a:pPr>
                      <a:r>
                        <a:rPr sz="1725" b="1">
                          <a:solidFill>
                            <a:srgbClr val="123F34"/>
                          </a:solidFill>
                          <a:latin typeface="Noto Sans CJK KR"/>
                          <a:ea typeface="Noto Sans CJK KR"/>
                          <a:cs typeface="Noto Sans CJK KR"/>
                        </a:rPr>
                        <a:t>3일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0%p</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52450">
                <a:tc>
                  <a:txBody>
                    <a:bodyPr>
                      <a:noAutofit/>
                    </a:bodyPr>
                    <a:lstStyle/>
                    <a:p>
                      <a:pPr algn="l">
                        <a:lnSpc>
                          <a:spcPct val="120000"/>
                        </a:lnSpc>
                        <a:buNone/>
                      </a:pPr>
                      <a:r>
                        <a:rPr sz="1725" b="1">
                          <a:solidFill>
                            <a:srgbClr val="123F34"/>
                          </a:solidFill>
                          <a:latin typeface="Noto Sans CJK KR"/>
                          <a:ea typeface="Noto Sans CJK KR"/>
                          <a:cs typeface="Noto Sans CJK KR"/>
                        </a:rPr>
                        <a:t>3일 이상 7일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+1%p</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52450">
                <a:tc>
                  <a:txBody>
                    <a:bodyPr>
                      <a:noAutofit/>
                    </a:bodyPr>
                    <a:lstStyle/>
                    <a:p>
                      <a:pPr algn="l">
                        <a:lnSpc>
                          <a:spcPct val="120000"/>
                        </a:lnSpc>
                        <a:buNone/>
                      </a:pPr>
                      <a:r>
                        <a:rPr sz="1725" b="1">
                          <a:solidFill>
                            <a:srgbClr val="123F34"/>
                          </a:solidFill>
                          <a:latin typeface="Noto Sans CJK KR"/>
                          <a:ea typeface="Noto Sans CJK KR"/>
                          <a:cs typeface="Noto Sans CJK KR"/>
                        </a:rPr>
                        <a:t>7일 이상</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+2%p</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bl>
          </a:graphicData>
        </a:graphic>
      </p:graphicFrame>
      <p:sp>
        <p:nvSpPr>
          <p:cNvPr id="10" name="">
            <a:extLst xmlns:a="http://schemas.openxmlformats.org/drawingml/2006/main">
              <a:ext uri="{FF2B5EF4-FFF2-40B4-BE49-F238E27FC236}">
                <a16:creationId xmlns:a16="http://schemas.microsoft.com/office/drawing/2014/main" id="{6A48B358-0B52-499F-9436-8F618BAEEDB7}"/>
              </a:ext>
            </a:extLst>
          </p:cNvPr>
          <p:cNvSpPr>
            <a:spLocks xmlns:a="http://schemas.openxmlformats.org/drawingml/2006/main" noGrp="1"/>
          </p:cNvSpPr>
          <p:nvPr/>
        </p:nvSpPr>
        <p:spPr>
          <a:xfrm xmlns:a="http://schemas.openxmlformats.org/drawingml/2006/main">
            <a:off x="6324600" y="4943475"/>
            <a:ext cx="5257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5000"/>
              </a:lnSpc>
              <a:buNone/>
              <a:defRPr sz="1500" b="0">
                <a:solidFill>
                  <a:srgbClr val="123F34"/>
                </a:solidFill>
                <a:latin typeface="Noto Sans CJK KR"/>
                <a:ea typeface="Noto Sans CJK KR"/>
                <a:cs typeface="Noto Sans CJK KR"/>
              </a:defRPr>
            </a:pPr>
            <a:r>
              <a:rPr sz="1500" b="0">
                <a:solidFill>
                  <a:srgbClr val="123F34"/>
                </a:solidFill>
                <a:latin typeface="Noto Sans CJK KR"/>
                <a:ea typeface="Noto Sans CJK KR"/>
                <a:cs typeface="Noto Sans CJK KR"/>
              </a:rPr>
              <a:t>커버일수 = 재고 ÷ 최근 7일 일평균 판매량</a:t>
            </a:r>
          </a:p>
          <a:p xmlns:a="http://schemas.openxmlformats.org/drawingml/2006/main">
            <a:pPr algn="l">
              <a:lnSpc>
                <a:spcPct val="145000"/>
              </a:lnSpc>
              <a:buNone/>
              <a:defRPr sz="1500" b="0">
                <a:solidFill>
                  <a:srgbClr val="123F34"/>
                </a:solidFill>
                <a:latin typeface="Noto Sans CJK KR"/>
                <a:ea typeface="Noto Sans CJK KR"/>
                <a:cs typeface="Noto Sans CJK KR"/>
              </a:defRPr>
            </a:pPr>
            <a:r>
              <a:rPr sz="1500" b="0">
                <a:solidFill>
                  <a:srgbClr val="123F34"/>
                </a:solidFill>
                <a:latin typeface="Noto Sans CJK KR"/>
                <a:ea typeface="Noto Sans CJK KR"/>
                <a:cs typeface="Noto Sans CJK KR"/>
              </a:rPr>
              <a:t>판매량 0·결측이면 자동 보정 보류</a:t>
            </a:r>
          </a:p>
        </p:txBody>
      </p:sp>
      <p:sp>
        <p:nvSpPr>
          <p:cNvPr id="11" name="">
            <a:extLst xmlns:a="http://schemas.openxmlformats.org/drawingml/2006/main">
              <a:ext uri="{FF2B5EF4-FFF2-40B4-BE49-F238E27FC236}">
                <a16:creationId xmlns:a16="http://schemas.microsoft.com/office/drawing/2014/main" id="{99AA41B1-7C2E-4272-A727-33FC467FE785}"/>
              </a:ext>
            </a:extLst>
          </p:cNvPr>
          <p:cNvSpPr>
            <a:spLocks xmlns:a="http://schemas.openxmlformats.org/drawingml/2006/main" noGrp="1"/>
          </p:cNvSpPr>
          <p:nvPr/>
        </p:nvSpPr>
        <p:spPr>
          <a:xfrm xmlns:a="http://schemas.openxmlformats.org/drawingml/2006/main">
            <a:off x="609600" y="5705475"/>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661382A-1074-44C3-9A35-B1B03EFDE6CB}"/>
              </a:ext>
            </a:extLst>
          </p:cNvPr>
          <p:cNvSpPr>
            <a:spLocks xmlns:a="http://schemas.openxmlformats.org/drawingml/2006/main" noGrp="1"/>
          </p:cNvSpPr>
          <p:nvPr/>
        </p:nvSpPr>
        <p:spPr>
          <a:xfrm xmlns:a="http://schemas.openxmlformats.org/drawingml/2006/main">
            <a:off x="819150" y="5772150"/>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최대합 38% = 기본 30% + 수요 3%p + 재고 2%p + 하락장 3%p</a:t>
            </a:r>
          </a:p>
        </p:txBody>
      </p:sp>
    </p:spTree>
    <p:extLst>
      <p:ext uri="{BB962C8B-B14F-4D97-AF65-F5344CB8AC3E}">
        <p14:creationId xmlns:p14="http://schemas.microsoft.com/office/powerpoint/2010/main" val="943920708"/>
      </p:ext>
    </p:extLst>
  </p:cSld>
</p:sld>
</file>

<file path=ppt/slides/slide17.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1D1815-2DEB-4A6A-8591-65B0F130604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출시 전에는 예외 규칙과 보상 한도, 검증 기준을 확정합니다</a:t>
            </a:r>
          </a:p>
        </p:txBody>
      </p:sp>
      <p:sp>
        <p:nvSpPr>
          <p:cNvPr id="2" name="">
            <a:extLst xmlns:a="http://schemas.openxmlformats.org/drawingml/2006/main">
              <a:ext uri="{FF2B5EF4-FFF2-40B4-BE49-F238E27FC236}">
                <a16:creationId xmlns:a16="http://schemas.microsoft.com/office/drawing/2014/main" id="{AD8EBE45-F441-4861-9A19-118CF1D24BE7}"/>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참고 C · 발표에서 확정된 구조와 기업 협의가 필요한 운영값을 구분합니다.</a:t>
            </a:r>
          </a:p>
        </p:txBody>
      </p:sp>
      <p:sp>
        <p:nvSpPr>
          <p:cNvPr id="3" name="">
            <a:extLst xmlns:a="http://schemas.openxmlformats.org/drawingml/2006/main">
              <a:ext uri="{FF2B5EF4-FFF2-40B4-BE49-F238E27FC236}">
                <a16:creationId xmlns:a16="http://schemas.microsoft.com/office/drawing/2014/main" id="{98D76212-8251-4274-BD04-CC5CD63682CD}"/>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6C35043B-A834-4253-B780-E38EF4524088}"/>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17</a:t>
            </a:r>
          </a:p>
        </p:txBody>
      </p:sp>
      <p:graphicFrame>
        <p:nvGraphicFramePr>
          <p:cNvPr id="11" name=""/>
          <p:cNvGraphicFramePr/>
          <p:nvPr/>
        </p:nvGraphicFramePr>
        <p:xfrm>
          <a:off xmlns:a="http://schemas.openxmlformats.org/drawingml/2006/main" x="609600" y="2057400"/>
          <a:ext xmlns:a="http://schemas.openxmlformats.org/drawingml/2006/main" cx="10972800" cy="3486150"/>
        </p:xfrm>
        <a:graphic xmlns:a="http://schemas.openxmlformats.org/drawingml/2006/main">
          <a:graphicData uri="http://schemas.openxmlformats.org/drawingml/2006/table">
            <a:tbl>
              <a:tblPr firstRow="0" bandRow="0"/>
              <a:tblGrid>
                <a:gridCol w="2343150"/>
                <a:gridCol w="8629650"/>
              </a:tblGrid>
              <a:tr h="581025">
                <a:tc>
                  <a:txBody>
                    <a:bodyPr>
                      <a:noAutofit/>
                    </a:bodyPr>
                    <a:lstStyle/>
                    <a:p>
                      <a:pPr algn="l">
                        <a:lnSpc>
                          <a:spcPct val="120000"/>
                        </a:lnSpc>
                        <a:buNone/>
                      </a:pPr>
                      <a:r>
                        <a:rPr sz="1350" b="1">
                          <a:solidFill>
                            <a:srgbClr val="F6F0E6"/>
                          </a:solidFill>
                          <a:latin typeface="Noto Sans CJK KR"/>
                          <a:ea typeface="Noto Sans CJK KR"/>
                          <a:cs typeface="Noto Sans CJK KR"/>
                        </a:rPr>
                        <a:t>결정 영역</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기업과 확정할 항목</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581025">
                <a:tc>
                  <a:txBody>
                    <a:bodyPr>
                      <a:noAutofit/>
                    </a:bodyPr>
                    <a:lstStyle/>
                    <a:p>
                      <a:pPr algn="l">
                        <a:lnSpc>
                          <a:spcPct val="120000"/>
                        </a:lnSpc>
                        <a:buNone/>
                      </a:pPr>
                      <a:r>
                        <a:rPr sz="1725" b="1">
                          <a:solidFill>
                            <a:srgbClr val="123F34"/>
                          </a:solidFill>
                          <a:latin typeface="Noto Sans CJK KR"/>
                          <a:ea typeface="Noto Sans CJK KR"/>
                          <a:cs typeface="Noto Sans CJK KR"/>
                        </a:rPr>
                        <a:t>가격 예외</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보합 대상, 특수 거래일, 반올림, 상품별 마진 상한</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81025">
                <a:tc>
                  <a:txBody>
                    <a:bodyPr>
                      <a:noAutofit/>
                    </a:bodyPr>
                    <a:lstStyle/>
                    <a:p>
                      <a:pPr algn="l">
                        <a:lnSpc>
                          <a:spcPct val="120000"/>
                        </a:lnSpc>
                        <a:buNone/>
                      </a:pPr>
                      <a:r>
                        <a:rPr sz="1725" b="1">
                          <a:solidFill>
                            <a:srgbClr val="123F34"/>
                          </a:solidFill>
                          <a:latin typeface="Noto Sans CJK KR"/>
                          <a:ea typeface="Noto Sans CJK KR"/>
                          <a:cs typeface="Noto Sans CJK KR"/>
                        </a:rPr>
                        <a:t>배당금 운영</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집계·지급 시각, 월간 한도, 월말 지급분 기한, 취소 회수</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81025">
                <a:tc>
                  <a:txBody>
                    <a:bodyPr>
                      <a:noAutofit/>
                    </a:bodyPr>
                    <a:lstStyle/>
                    <a:p>
                      <a:pPr algn="l">
                        <a:lnSpc>
                          <a:spcPct val="120000"/>
                        </a:lnSpc>
                        <a:buNone/>
                      </a:pPr>
                      <a:r>
                        <a:rPr sz="1725" b="1">
                          <a:solidFill>
                            <a:srgbClr val="123F34"/>
                          </a:solidFill>
                          <a:latin typeface="Noto Sans CJK KR"/>
                          <a:ea typeface="Noto Sans CJK KR"/>
                          <a:cs typeface="Noto Sans CJK KR"/>
                        </a:rPr>
                        <a:t>포인트 사용</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10%의 기준금액, 배송비 제외, 다른 쿠폰과의 중복</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81025">
                <a:tc>
                  <a:txBody>
                    <a:bodyPr>
                      <a:noAutofit/>
                    </a:bodyPr>
                    <a:lstStyle/>
                    <a:p>
                      <a:pPr algn="l">
                        <a:lnSpc>
                          <a:spcPct val="120000"/>
                        </a:lnSpc>
                        <a:buNone/>
                      </a:pPr>
                      <a:r>
                        <a:rPr sz="1725" b="1">
                          <a:solidFill>
                            <a:srgbClr val="123F34"/>
                          </a:solidFill>
                          <a:latin typeface="Noto Sans CJK KR"/>
                          <a:ea typeface="Noto Sans CJK KR"/>
                          <a:cs typeface="Noto Sans CJK KR"/>
                        </a:rPr>
                        <a:t>데이터·검증</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관찰 기간, 전환율 분모, 동의·보관 기준, 비교군</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81025">
                <a:tc>
                  <a:txBody>
                    <a:bodyPr>
                      <a:noAutofit/>
                    </a:bodyPr>
                    <a:lstStyle/>
                    <a:p>
                      <a:pPr algn="l">
                        <a:lnSpc>
                          <a:spcPct val="120000"/>
                        </a:lnSpc>
                        <a:buNone/>
                      </a:pPr>
                      <a:r>
                        <a:rPr sz="1725" b="1">
                          <a:solidFill>
                            <a:srgbClr val="123F34"/>
                          </a:solidFill>
                          <a:latin typeface="Noto Sans CJK KR"/>
                          <a:ea typeface="Noto Sans CJK KR"/>
                          <a:cs typeface="Noto Sans CJK KR"/>
                        </a:rPr>
                        <a:t>계절 공모주</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후보와 일정, 청약 방식, 출시 판단 책임자</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bl>
          </a:graphicData>
        </a:graphic>
      </p:graphicFrame>
      <p:sp>
        <p:nvSpPr>
          <p:cNvPr id="6" name="">
            <a:extLst xmlns:a="http://schemas.openxmlformats.org/drawingml/2006/main">
              <a:ext uri="{FF2B5EF4-FFF2-40B4-BE49-F238E27FC236}">
                <a16:creationId xmlns:a16="http://schemas.microsoft.com/office/drawing/2014/main" id="{F3B29500-4B1F-4EA2-BE07-2D60B8814888}"/>
              </a:ext>
            </a:extLst>
          </p:cNvPr>
          <p:cNvSpPr>
            <a:spLocks xmlns:a="http://schemas.openxmlformats.org/drawingml/2006/main" noGrp="1"/>
          </p:cNvSpPr>
          <p:nvPr/>
        </p:nvSpPr>
        <p:spPr>
          <a:xfrm xmlns:a="http://schemas.openxmlformats.org/drawingml/2006/main">
            <a:off x="609600" y="58102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1">
                <a:solidFill>
                  <a:srgbClr val="123F34"/>
                </a:solidFill>
                <a:latin typeface="Noto Sans CJK KR"/>
                <a:ea typeface="Noto Sans CJK KR"/>
                <a:cs typeface="Noto Sans CJK KR"/>
              </a:defRPr>
            </a:pPr>
            <a:r>
              <a:rPr sz="1725" b="1">
                <a:solidFill>
                  <a:srgbClr val="123F34"/>
                </a:solidFill>
                <a:latin typeface="Noto Sans CJK KR"/>
                <a:ea typeface="Noto Sans CJK KR"/>
                <a:cs typeface="Noto Sans CJK KR"/>
              </a:rPr>
              <a:t>보완 자료: 한 달 판매 집계 원본, 상품별 원가·재고, 적립금 연동 가능 범위</a:t>
            </a:r>
          </a:p>
        </p:txBody>
      </p:sp>
    </p:spTree>
    <p:extLst>
      <p:ext uri="{BB962C8B-B14F-4D97-AF65-F5344CB8AC3E}">
        <p14:creationId xmlns:p14="http://schemas.microsoft.com/office/powerpoint/2010/main" val="846765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2026-09-22T08:24:22.0050000Z</dcterms:created>
  <dcterms:modified xsi:type="dcterms:W3CDTF">2026-09-22T08:24:22.0050000Z</dcterms:modified>
</coreProperties>
</file>