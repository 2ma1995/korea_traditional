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72"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2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doughnutChart>
        <c:varyColors val="1"/>
        <c:ser>
          <c:idx val="0"/>
          <c:order val="0"/>
          <c:tx>
            <c:strRef>
              <c:f>Sheet1!$B$1</c:f>
              <c:strCache>
                <c:ptCount val="1"/>
                <c:pt idx="0">
                  <c:v>관심 비중</c:v>
                </c:pt>
              </c:strCache>
            </c:strRef>
          </c:tx>
          <c:spPr>
            <a:solidFill>
              <a:schemeClr val="accent1"/>
            </a:solidFill>
            <a:ln w="9525" cap="flat">
              <a:solidFill>
                <a:srgbClr val="F9F9F9"/>
              </a:solidFill>
              <a:prstDash val="solid"/>
              <a:round/>
            </a:ln>
            <a:effectLst/>
          </c:spPr>
          <c:dPt>
            <c:idx val="0"/>
            <c:bubble3D val="0"/>
            <c:spPr>
              <a:solidFill>
                <a:srgbClr val="123F34"/>
              </a:solidFill>
              <a:ln w="19050" cap="flat">
                <a:solidFill>
                  <a:srgbClr val="FFFFFF"/>
                </a:solidFill>
                <a:prstDash val="solid"/>
                <a:round/>
              </a:ln>
              <a:effectLst/>
            </c:spPr>
            <c:extLst>
              <c:ext xmlns:c16="http://schemas.microsoft.com/office/drawing/2014/chart" uri="{C3380CC4-5D6E-409C-BE32-E72D297353CC}">
                <c16:uniqueId val="{00000001-1CEA-4C73-883D-02CC4E556633}"/>
              </c:ext>
            </c:extLst>
          </c:dPt>
          <c:dPt>
            <c:idx val="1"/>
            <c:bubble3D val="0"/>
            <c:spPr>
              <a:solidFill>
                <a:srgbClr val="C85B35"/>
              </a:solidFill>
              <a:ln w="19050" cap="flat">
                <a:solidFill>
                  <a:srgbClr val="FFFFFF"/>
                </a:solidFill>
                <a:prstDash val="solid"/>
                <a:round/>
              </a:ln>
              <a:effectLst/>
            </c:spPr>
            <c:extLst>
              <c:ext xmlns:c16="http://schemas.microsoft.com/office/drawing/2014/chart" uri="{C3380CC4-5D6E-409C-BE32-E72D297353CC}">
                <c16:uniqueId val="{00000003-1CEA-4C73-883D-02CC4E556633}"/>
              </c:ext>
            </c:extLst>
          </c:dPt>
          <c:dPt>
            <c:idx val="2"/>
            <c:bubble3D val="0"/>
            <c:spPr>
              <a:solidFill>
                <a:srgbClr val="69A297"/>
              </a:solidFill>
              <a:ln w="19050" cap="flat">
                <a:solidFill>
                  <a:srgbClr val="FFFFFF"/>
                </a:solidFill>
                <a:prstDash val="solid"/>
                <a:round/>
              </a:ln>
              <a:effectLst/>
            </c:spPr>
            <c:extLst>
              <c:ext xmlns:c16="http://schemas.microsoft.com/office/drawing/2014/chart" uri="{C3380CC4-5D6E-409C-BE32-E72D297353CC}">
                <c16:uniqueId val="{00000005-1CEA-4C73-883D-02CC4E556633}"/>
              </c:ext>
            </c:extLst>
          </c:dPt>
          <c:dPt>
            <c:idx val="3"/>
            <c:bubble3D val="0"/>
            <c:spPr>
              <a:solidFill>
                <a:srgbClr val="E8B79E"/>
              </a:solidFill>
              <a:ln w="19050" cap="flat">
                <a:solidFill>
                  <a:srgbClr val="FFFFFF"/>
                </a:solidFill>
                <a:prstDash val="solid"/>
                <a:round/>
              </a:ln>
              <a:effectLst/>
            </c:spPr>
            <c:extLst>
              <c:ext xmlns:c16="http://schemas.microsoft.com/office/drawing/2014/chart" uri="{C3380CC4-5D6E-409C-BE32-E72D297353CC}">
                <c16:uniqueId val="{00000007-1CEA-4C73-883D-02CC4E556633}"/>
              </c:ext>
            </c:extLst>
          </c:dPt>
          <c:cat>
            <c:strRef>
              <c:f>Sheet1!$A$2:$A$5</c:f>
              <c:strCache>
                <c:ptCount val="4"/>
                <c:pt idx="0">
                  <c:v>깜빠뉴</c:v>
                </c:pt>
                <c:pt idx="1">
                  <c:v>쌀 식빵</c:v>
                </c:pt>
                <c:pt idx="2">
                  <c:v>GF 스콘</c:v>
                </c:pt>
                <c:pt idx="3">
                  <c:v>휘낭시에</c:v>
                </c:pt>
              </c:strCache>
            </c:strRef>
          </c:cat>
          <c:val>
            <c:numRef>
              <c:f>Sheet1!$B$2:$B$5</c:f>
              <c:numCache>
                <c:formatCode>General</c:formatCode>
                <c:ptCount val="4"/>
                <c:pt idx="0">
                  <c:v>36</c:v>
                </c:pt>
                <c:pt idx="1">
                  <c:v>28</c:v>
                </c:pt>
                <c:pt idx="2">
                  <c:v>22</c:v>
                </c:pt>
                <c:pt idx="3">
                  <c:v>14</c:v>
                </c:pt>
              </c:numCache>
            </c:numRef>
          </c:val>
          <c:extLst>
            <c:ext xmlns:c16="http://schemas.microsoft.com/office/drawing/2014/chart" uri="{C3380CC4-5D6E-409C-BE32-E72D297353CC}">
              <c16:uniqueId val="{00000008-1CEA-4C73-883D-02CC4E556633}"/>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0939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표지 · 약 35초]
안녕하십니까. MAKJI 기업연계 프로젝트 최종 발표를 맡은 ○○팀입니다.
저희가 제안하는 서비스의 한 줄 요약은 이것입니다. "국장이 끝나면, 빵장이 시작된다."
오늘의 시장이 구매 이유가 되고, 오늘 남긴 관심이 주말의 배당으로 돌아오는 구조입니다.
빵시장, 빵 포트폴리오, 주말 배당. 이 세 가지가 어떻게 이어지는지 순서대로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문제 정의 · 약 70초]
먼저 저희가 어디서 출발했는지부터 말씀드리겠습니다. 기업에서 주신 데이터에서 세 가지가 보였습니다.
첫째, 20시부터 24시까지의 매출이 전체의 28.4%입니다. 국장이 끝난 뒤 저녁에 구매가 몰린다는 뜻이고, 그래서 저희 서비스는 15시 30분부터 자정까지 운영합니다.
둘째, 구매가 평일 중심이지만, 매일 다시 들어올 루틴이 없습니다.
셋째, 주말과 공휴일에는 방문할 이유가 약합니다. 평일 할인만으로는 주말을 채우기 어렵습니다.
정리하면 시장 데이터를 가져와도 구매로 이어지지 않으면 이벤트성 콘텐츠로 끝나고, 주말에 이유가 없으면 평일에 만든 루프도 끊깁니다.
그래서 역할을 나눴습니다. 평일엔 가격 이벤트, 주말엔 보상 이벤트입니다.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세 가지 장치 · 약 60초]
그럼 이 문제를 어떻게 풀었는지 말씀드리겠습니다. 목표는 하나입니다. 고객이 다시 오고, 사게 만드는 것입니다.
첫째, 자사몰 재방문입니다. 평일 Bread Market은 시장 데이터와 할인율을 연결해 매일 들어올 이유를 만듭니다. 고객은 오늘의 가격을 확인하러 매일 들어옵니다.
둘째, 개인화 추천입니다. 포트폴리오는 관심과 구매 이력을 모아, 관심 둔 빵이 할인되는 날 알림을 보내고 상품을 제안합니다. 보기만 하던 고객이 사는 고객이 됩니다.
셋째, 자발적 참여입니다. 주말 배당은 평일 활동을 기록해 보상하고, 그 보상을 쓰러 주말에도 구매하게 만듭니다.
이 세 장치는 모두 실제로 동작하는 MVP로 구현했고, 잠시 후 직접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서비스 구조 · 약 55초]
세 기능은 따로 떨어진 이벤트가 아니라 한 주 단위로 도는 하나의 순환 구조입니다.
평일 거래일에는 Bread Market이 오늘의 시장 변화로 오늘 살 이유를 만듭니다.
그때 남긴 관심, 장바구니, 구매는 빵 포트폴리오에 매일 쌓입니다.
주말과 공휴일에는 그 기록을 주간 배당으로 돌려드립니다.
배당은 휴장일에 쓰고, 다음 거래일 15시 30분이 되면 다시 빵장이 열립니다.
시장 데이터가 가격을 바꾸고, 고객 행동 데이터가 다음 구매를 만듭니다. 이것이 저희 서비스의 핵심입니다.
이제 첫 번째, 빵시장부터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빵시장 ① · 약 60초]
빵시장의 하루는 이렇게 흘러갑니다.
장이 열려 있는 오전 9시부터 15시 30분까지는 코스피 흐름을 보여주면서 오늘 어떤 빵장이 열릴지 기대를 만듭니다.
15시 30분, 국장이 마감되면 빵장이 열립니다. 종가가 올랐는지 내렸는지로 할인 상품군을, 얼마나 움직였는지로 할인율을 확정합니다.
자정까지 고객은 할인 상품을 사거나 관심빵을 저장하고, 이 모든 행동이 포트폴리오로 넘어갑니다.
자정이 되면 정상가로 돌아가고 다음 거래일을 기다립니다.
오른쪽이 실제 구현한 화면입니다. 이날은 코스피가 0.04% 내려 거의 움직이지 않은 보합이었습니다.
그래서 상승·하락 라인을 나누지 않고 오늘의 빵 전체를 대상으로, 변동폭이 가장 작은 구간인 5% 할인이 적용됐습니다. 상품마다 30개 한정입니다.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빵시장 ③ 라인업 · 약 50초]
할인 상품은 시장 방향에 따라 달라집니다.
상승장에는 주식(株式)이 오르면 주식(主食)으로 즐기라는 의미로, 테트리스 브레드, 모닝롤 같은 식사빵 라인을 엽니다.
하락장에는 "아쉬운 장 마감, 달달하게 마무리하세요"라는 메시지로 초코케이크, 티라미수 같은 디저트 라인을 열고, 위로 보정을 더해 가격 메리트를 키웁니다.
등락이 0.1%도 안 되는 보합일에는 라인을 나누지 않고 전 상품을 할인합니다. 앞서 보신 화면이 그런 날입니다.
코스피와 빵 사이에 경제적 인과가 있다고 주장하는 것이 아니라, 금융과 식생활의 언어를 잇는 MAKJI만의 브랜드 스토리로 설계했습니다.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빵시장 ② 가격 로직 · 약 80초]
대표님께서 가장 궁금해하실 부분이 비용일 것 같아 가격 로직을 자세히 말씀드리겠습니다.
최종 할인율은 시장 기본 할인에 수요 보정, 재고 보정, 하락장 보정을 더해 정합니다.
기본 할인은 코스피가 움직인 폭에 따라 5단계입니다. 0.3% 미만이면 5%, 2.5% 이상 크게 움직인 날은 30%입니다.
오른쪽 막대는 각 구간이 실제로 얼마나 자주 나오는지입니다. 30% 할인은 전체 거래일의 9.2%뿐이고, 빈도로 가중하면 평균 기본 할인은 약 13.5% 수준입니다.
여기에 관심은 높은데 구매가 안 되는 상품, 재고 부담이 큰 상품에만 소폭 보정을 더합니다.
그리고 안전장치가 있습니다. 어떤 경우에도 전체 할인은 38%를 넘지 않고, SKU별 마진 상한이 항상 우선합니다.
MVP에서는 기본 할인부터 검증하고, 보정은 기업 데이터가 쌓인 뒤에 켭니다.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포트폴리오 · 약 65초]
두 번째, 빵 포트폴리오입니다. 빵시장에서 남긴 행동이 여기에 쌓입니다.
하트, 장바구니, 구매를 상품 단위로 기록하고, 이 기록이 관심빵 TOP3와 가격 알림의 기준이 됩니다.
예를 들어 오른쪽 고객은 깜빠뉴 비중이 가장 높고, GF 스콘도 관심에 담아 두었습니다. GF 스콘이 할인되는 날 "오늘 빵장에서 만나요" 알림이 가서 다시 들어오게 됩니다.
기업 입장에서 중요한 점은, 일반 주문내역은 무엇이 팔렸는지만 알려주지만 포트폴리오는 고객이 무엇을 원했는지까지 알려준다는 것입니다.
관심 대비 구매전환과 SKU별 잠재수요를 볼 수 있어, 상품 운영과 할인 보정의 근거가 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 주말 배당 ① · 약 50초]
세 번째, 주말 배당입니다. 먼저 왜 필요한지부터 말씀드리겠습니다.
주말을 그냥 정가 판매로 두면, 평일에 만든 방문 루프가 금요일에 끊깁니다. 주말의 여유 있는 쇼핑 시간도 활용하지 못합니다.
그렇다고 주말까지 할인하면 상시 할인이 되어 브랜드 가격이 무너집니다.
그래서 주말에는 상품 가격은 정가로 유지하고, 평일 활동을 보상으로 돌려드립니다.
평일 닷새는 Bread Market에서 사고 관심을 쌓고, 주말 이틀은 한 주를 결산해 배당을 받습니다. 그리고 다음 거래일에 다시 빵장이 열립니다.
이 한 주가 매주 반복되면서, 고객의 쇼핑 루틴이 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주말 배당 ② · 약 60초]
배당은 세 단계로 작동합니다.
첫째, 한 주 동안 관심빵 등록, Bread Market 구매, 거래일 출석을 각 1점씩, 최대 3점으로 셉니다.
둘째, 점수에 따라 300, 500, 800포인트를 배당금 통장에 적립하고, 같은 달 안에서 주말마다 누적됩니다.
셋째, 주말과 공휴일에만 1만 원 이상 주문에서 결제금액의 최대 15%까지 100포인트 단위로 씁니다.
화면처럼 이번 주 배당과 이번 달 누적을 함께 보여줘서, 매주 쌓이는 느낌을 줍니다.
비용 측면에서는 1인당 주간 최대 800포인트, 주문당 15% 상한, 그리고 상품 정가 유지. 이 세 가지로 기업이 비용을 통제할 수 있습니다. 평일 할인과는 중복되지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시연 · 약 2분]
그럼 실제 프로토타입을 보여드리겠습니다.
(시연 1) 먼저 오늘의 빵장 화면입니다. 오늘의 코스피 종가, 확정된 할인율, 상품별 남은 수량이 보입니다.
(시연 2) 마음에 드는 빵에 하트를 누르면, 포트폴리오에 바로 관심빵으로 반영됩니다.
(시연 3) 이제 휴장일 화면으로 넘어가 보겠습니다. 시장이 닫히면 서비스가 Weekend Dividend 화면으로 바뀌고, 이번 주 활동이 결산되어 배당으로 표시됩니다.
이렇게 같은 서비스가 시장 시간에 따라 스스로 모습을 바꿉니다.
※ 네트워크 문제 시: 이 슬라이드의 두 화면으로 같은 순서를 설명하고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고객 핵심가치 · 약 60초]
그렇다면 고객은 왜 이 서비스를 쓸까요. 일반 할인·적립과 비교하면 세 가지가 다릅니다.
첫째, 오늘 살 이유입니다. 언제 열릴지 모르는 타임세일이 아니라, 매일 15시 30분에 시장이 가격을 정합니다. 오늘은 얼마일지 확인하는 재미가 습관이 됩니다.
둘째, 나를 기억하는 쇼핑입니다. 산 것만 남는 주문내역이 아니라, 사지 않은 관심빵까지 기억했다가 할인하는 날 먼저 알려드립니다.
셋째, 참여만으로 받는 보상입니다. 사야만 쌓이는 적립금이 아니라, 관심과 출석만으로도 주말 배당이 쌓입니다.
그리고 이 모든 것이 주식과 주식을 잇는 MAKJI만의 브랜드 경험으로 묶여 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기업 기대가치 · 약 75초]
기업에 남는 것은 할인 이벤트가 아니라 쌓이는 고객 데이터입니다.
Bread Market은 평일 유입 루틴을 만들고, 거래일 방문수, 상품 클릭률, 구매전환율로 검증합니다.
포트폴리오는 구매 전 관심 데이터를 쌓고, 관심빵 등록률과 관심에서 구매로의 전환율, 상품별 잠재수요를 보여줍니다.
주말 배당은 주말 공백을 메우고, 휴장일 재방문율과 배당 사용률, 그리고 주간 배당 비용까지 함께 봅니다.
비용은 처음부터 상한 안에서 설계했습니다. 평균 기본 할인은 약 13.5%, 전체 할인 상한 38%, 배당은 1인 주간 800포인트까지입니다.
그리고 이렇게 쌓인 데이터는 이후 Bakery ETF, FX Bakery 같은 확장의 기반이 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매출 구조 · 약 70초]
그렇다면 이 구조가 어떻게 매출로 이어질까요. 매출은 방문 수, 구매전환율, 객단가의 곱입니다.
여기서 방문 수는 사람 수가 아니라 방문 횟수입니다. 빵시장은 평일에 매일, 주말 배당은 주말에 한 번 더 고객을 부릅니다. 같은 고객이 더 자주 올수록 방문 수가 커집니다.
포트폴리오는 그렇게 들어온 고객이 실제로 사게 만듭니다. 관심빵이 할인되는 날 알림을 보내, 보기만 하던 고객을 구매로 전환합니다.
마지막으로 객단가입니다. 할인은 주문당 금액을 낮출 수 있습니다. 그래서 전체 할인 상한 38%, 주말 정가 유지, 쿠폰 최소 주문 1만 원으로 객단가가 무너지지 않게 막았습니다.
그리고 효과는 매출 총액이 아니라, 할인과 배당 비용을 뺀 고객 1인당 증분 공헌이익으로 검증하겠습니다. 할인으로 매출만 키우는 것이 아니라, 실제로 남는 이익을 보겠다는 뜻입니다.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로드맵 · 약 55초]
도입은 단계적으로 제안드립니다.
1단계는 지금 시연 가능한 범위입니다. 코스피 연동 화면, 5구간 할인 엔진, 상승·하락장 라인, 포트폴리오와 배당 화면까지입니다.
2단계는 기업 데이터가 쌓이면 켜는 기능입니다. SKU별 수요·재고 보정, 배당 쿠폰의 자동 발급과 회수, 포트폴리오 기반 추천입니다.
3단계에서 Bakery ETF, FX Bakery로 확장합니다.
이를 위해 기업과 함께 정해야 할 것은 세 가지입니다. SKU별 마진 상한, 주간 배당 예산, 그리고 자사몰 가격과 쿠폰 연동 권한입니다.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마무리 · 약 35초]
정리하겠습니다. Bread Market은 단순한 할인 이벤트가 아니라, 고객이 평일엔 매일 들어오고 주말에도 다시 사는 루틴을 MAKJI 자사몰에 만드는 구조입니다.
빵시장은 오늘 살 이유를, 포트폴리오는 다시 찾을 이유를, 주말 배당은 주말에도 올 이유를 만듭니다.
시장 데이터로 시작해, 고객이 다시 오고 다시 사는 자사몰 루프를 만들었습니다.
경청해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F34"/>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9DB5AB"/>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9DB5AB"/>
                </a:solidFill>
                <a:latin typeface="Malgun Gothic" pitchFamily="34" charset="0"/>
                <a:ea typeface="Malgun Gothic" pitchFamily="34" charset="-122"/>
                <a:cs typeface="Malgun Gothic" pitchFamily="34" charset="-120"/>
              </a:rPr>
              <a:t>01</a:t>
            </a:r>
            <a:endParaRPr lang="en-US" sz="1050" dirty="0"/>
          </a:p>
        </p:txBody>
      </p:sp>
      <p:sp>
        <p:nvSpPr>
          <p:cNvPr id="4" name="Text 2"/>
          <p:cNvSpPr txBox="1"/>
          <p:nvPr/>
        </p:nvSpPr>
        <p:spPr>
          <a:xfrm>
            <a:off x="6858000" y="329184"/>
            <a:ext cx="4023360" cy="228600"/>
          </a:xfrm>
          <a:prstGeom prst="rect">
            <a:avLst/>
          </a:prstGeom>
          <a:noFill/>
          <a:ln/>
        </p:spPr>
        <p:txBody>
          <a:bodyPr wrap="square" lIns="0" tIns="0" rIns="0" bIns="0" rtlCol="0" anchor="t"/>
          <a:lstStyle/>
          <a:p>
            <a:pPr marL="0" indent="0" algn="r">
              <a:buNone/>
            </a:pPr>
            <a:r>
              <a:rPr lang="en-US" sz="1000" dirty="0">
                <a:solidFill>
                  <a:srgbClr val="9DB5AB"/>
                </a:solidFill>
                <a:latin typeface="Malgun Gothic" pitchFamily="34" charset="0"/>
                <a:ea typeface="Malgun Gothic" pitchFamily="34" charset="-122"/>
                <a:cs typeface="Malgun Gothic" pitchFamily="34" charset="-120"/>
              </a:rPr>
              <a:t>기업연계 프로젝트 최종 발표 · 2026.09.30</a:t>
            </a:r>
            <a:endParaRPr lang="en-US" sz="1000" dirty="0"/>
          </a:p>
        </p:txBody>
      </p:sp>
      <p:sp>
        <p:nvSpPr>
          <p:cNvPr id="5" name="Text 3"/>
          <p:cNvSpPr txBox="1"/>
          <p:nvPr/>
        </p:nvSpPr>
        <p:spPr>
          <a:xfrm>
            <a:off x="612648" y="1325880"/>
            <a:ext cx="6766560" cy="2103120"/>
          </a:xfrm>
          <a:prstGeom prst="rect">
            <a:avLst/>
          </a:prstGeom>
          <a:noFill/>
          <a:ln/>
        </p:spPr>
        <p:txBody>
          <a:bodyPr wrap="square" lIns="0" tIns="0" rIns="0" bIns="0" rtlCol="0" anchor="ctr"/>
          <a:lstStyle/>
          <a:p>
            <a:pPr marL="0" indent="0">
              <a:lnSpc>
                <a:spcPct val="105000"/>
              </a:lnSpc>
              <a:buNone/>
            </a:pPr>
            <a:r>
              <a:rPr lang="en-US" sz="5200" b="1" kern="0" spc="-150" dirty="0">
                <a:solidFill>
                  <a:srgbClr val="F6F0E6"/>
                </a:solidFill>
                <a:latin typeface="Malgun Gothic" pitchFamily="34" charset="0"/>
                <a:ea typeface="Malgun Gothic" pitchFamily="34" charset="-122"/>
                <a:cs typeface="Malgun Gothic" pitchFamily="34" charset="-120"/>
              </a:rPr>
              <a:t>국장이 끝나면,</a:t>
            </a:r>
            <a:endParaRPr lang="en-US" sz="5200" dirty="0"/>
          </a:p>
          <a:p>
            <a:pPr marL="0" indent="0">
              <a:lnSpc>
                <a:spcPct val="105000"/>
              </a:lnSpc>
              <a:buNone/>
            </a:pPr>
            <a:r>
              <a:rPr lang="en-US" sz="5200" b="1" kern="0" spc="-150" dirty="0">
                <a:solidFill>
                  <a:srgbClr val="E58A62"/>
                </a:solidFill>
                <a:latin typeface="Malgun Gothic" pitchFamily="34" charset="0"/>
                <a:ea typeface="Malgun Gothic" pitchFamily="34" charset="-122"/>
                <a:cs typeface="Malgun Gothic" pitchFamily="34" charset="-120"/>
              </a:rPr>
              <a:t>빵장</a:t>
            </a:r>
            <a:r>
              <a:rPr lang="en-US" sz="5200" b="1" kern="0" spc="-150" dirty="0">
                <a:solidFill>
                  <a:srgbClr val="F6F0E6"/>
                </a:solidFill>
                <a:latin typeface="Malgun Gothic" pitchFamily="34" charset="0"/>
                <a:ea typeface="Malgun Gothic" pitchFamily="34" charset="-122"/>
                <a:cs typeface="Malgun Gothic" pitchFamily="34" charset="-120"/>
              </a:rPr>
              <a:t>이 시작된다</a:t>
            </a:r>
            <a:endParaRPr lang="en-US" sz="5200" dirty="0"/>
          </a:p>
        </p:txBody>
      </p:sp>
      <p:sp>
        <p:nvSpPr>
          <p:cNvPr id="6" name="Text 4"/>
          <p:cNvSpPr txBox="1"/>
          <p:nvPr/>
        </p:nvSpPr>
        <p:spPr>
          <a:xfrm>
            <a:off x="612648" y="3520440"/>
            <a:ext cx="6583680" cy="822960"/>
          </a:xfrm>
          <a:prstGeom prst="rect">
            <a:avLst/>
          </a:prstGeom>
          <a:noFill/>
          <a:ln/>
        </p:spPr>
        <p:txBody>
          <a:bodyPr wrap="square" lIns="0" tIns="0" rIns="0" bIns="0" rtlCol="0" anchor="t"/>
          <a:lstStyle/>
          <a:p>
            <a:pPr marL="0" indent="0">
              <a:lnSpc>
                <a:spcPct val="120000"/>
              </a:lnSpc>
              <a:buNone/>
            </a:pPr>
            <a:r>
              <a:rPr lang="en-US" sz="1700" dirty="0">
                <a:solidFill>
                  <a:srgbClr val="D5E2DC"/>
                </a:solidFill>
                <a:latin typeface="Malgun Gothic" pitchFamily="34" charset="0"/>
                <a:ea typeface="Malgun Gothic" pitchFamily="34" charset="-122"/>
                <a:cs typeface="Malgun Gothic" pitchFamily="34" charset="-120"/>
              </a:rPr>
              <a:t>오늘의 시장이 구매 이유가 되고,</a:t>
            </a:r>
            <a:endParaRPr lang="en-US" sz="1700" dirty="0"/>
          </a:p>
          <a:p>
            <a:pPr marL="0" indent="0">
              <a:lnSpc>
                <a:spcPct val="120000"/>
              </a:lnSpc>
              <a:buNone/>
            </a:pPr>
            <a:r>
              <a:rPr lang="en-US" sz="1700" dirty="0">
                <a:solidFill>
                  <a:srgbClr val="D5E2DC"/>
                </a:solidFill>
                <a:latin typeface="Malgun Gothic" pitchFamily="34" charset="0"/>
                <a:ea typeface="Malgun Gothic" pitchFamily="34" charset="-122"/>
                <a:cs typeface="Malgun Gothic" pitchFamily="34" charset="-120"/>
              </a:rPr>
              <a:t>오늘 남긴 관심이 주말의 배당으로 돌아옵니다.</a:t>
            </a:r>
            <a:endParaRPr lang="en-US" sz="1700" dirty="0"/>
          </a:p>
        </p:txBody>
      </p:sp>
      <p:sp>
        <p:nvSpPr>
          <p:cNvPr id="7" name="Shape 5"/>
          <p:cNvSpPr/>
          <p:nvPr/>
        </p:nvSpPr>
        <p:spPr>
          <a:xfrm>
            <a:off x="8001000" y="1325880"/>
            <a:ext cx="3584448" cy="3017520"/>
          </a:xfrm>
          <a:prstGeom prst="roundRect">
            <a:avLst>
              <a:gd name="adj" fmla="val 3636"/>
            </a:avLst>
          </a:prstGeom>
          <a:solidFill>
            <a:srgbClr val="1B4F42"/>
          </a:solidFill>
          <a:ln/>
        </p:spPr>
      </p:sp>
      <p:sp>
        <p:nvSpPr>
          <p:cNvPr id="8" name="Text 6"/>
          <p:cNvSpPr txBox="1"/>
          <p:nvPr/>
        </p:nvSpPr>
        <p:spPr>
          <a:xfrm>
            <a:off x="8275320" y="1554480"/>
            <a:ext cx="3017520" cy="274320"/>
          </a:xfrm>
          <a:prstGeom prst="rect">
            <a:avLst/>
          </a:prstGeom>
          <a:noFill/>
          <a:ln/>
        </p:spPr>
        <p:txBody>
          <a:bodyPr wrap="square" lIns="0" tIns="0" rIns="0" bIns="0" rtlCol="0" anchor="t"/>
          <a:lstStyle/>
          <a:p>
            <a:pPr marL="0" indent="0">
              <a:buNone/>
            </a:pPr>
            <a:r>
              <a:rPr lang="en-US" sz="1100" dirty="0">
                <a:solidFill>
                  <a:srgbClr val="9DB5AB"/>
                </a:solidFill>
                <a:latin typeface="Malgun Gothic" pitchFamily="34" charset="0"/>
                <a:ea typeface="Malgun Gothic" pitchFamily="34" charset="-122"/>
                <a:cs typeface="Malgun Gothic" pitchFamily="34" charset="-120"/>
              </a:rPr>
              <a:t>KOSPI 종가 · 15:30</a:t>
            </a:r>
            <a:endParaRPr lang="en-US" sz="1100" dirty="0"/>
          </a:p>
        </p:txBody>
      </p:sp>
      <p:sp>
        <p:nvSpPr>
          <p:cNvPr id="9" name="Text 7"/>
          <p:cNvSpPr txBox="1"/>
          <p:nvPr/>
        </p:nvSpPr>
        <p:spPr>
          <a:xfrm>
            <a:off x="8275320" y="1828800"/>
            <a:ext cx="3017520" cy="640080"/>
          </a:xfrm>
          <a:prstGeom prst="rect">
            <a:avLst/>
          </a:prstGeom>
          <a:noFill/>
          <a:ln/>
        </p:spPr>
        <p:txBody>
          <a:bodyPr wrap="square" lIns="0" tIns="0" rIns="0" bIns="0" rtlCol="0" anchor="t"/>
          <a:lstStyle/>
          <a:p>
            <a:pPr marL="0" indent="0">
              <a:buNone/>
            </a:pPr>
            <a:r>
              <a:rPr lang="en-US" sz="3200" b="1" dirty="0">
                <a:solidFill>
                  <a:srgbClr val="F0A583"/>
                </a:solidFill>
                <a:latin typeface="Malgun Gothic" pitchFamily="34" charset="0"/>
                <a:ea typeface="Malgun Gothic" pitchFamily="34" charset="-122"/>
                <a:cs typeface="Malgun Gothic" pitchFamily="34" charset="-120"/>
              </a:rPr>
              <a:t>▼ 0.84%</a:t>
            </a:r>
            <a:endParaRPr lang="en-US" sz="3200" dirty="0"/>
          </a:p>
        </p:txBody>
      </p:sp>
      <p:sp>
        <p:nvSpPr>
          <p:cNvPr id="10" name="Shape 8"/>
          <p:cNvSpPr/>
          <p:nvPr/>
        </p:nvSpPr>
        <p:spPr>
          <a:xfrm>
            <a:off x="8275320" y="2633472"/>
            <a:ext cx="3035808" cy="0"/>
          </a:xfrm>
          <a:prstGeom prst="line">
            <a:avLst/>
          </a:prstGeom>
          <a:noFill/>
          <a:ln w="12700">
            <a:solidFill>
              <a:srgbClr val="3D6B5E"/>
            </a:solidFill>
            <a:prstDash val="solid"/>
          </a:ln>
        </p:spPr>
      </p:sp>
      <p:sp>
        <p:nvSpPr>
          <p:cNvPr id="11" name="Text 9"/>
          <p:cNvSpPr txBox="1"/>
          <p:nvPr/>
        </p:nvSpPr>
        <p:spPr>
          <a:xfrm>
            <a:off x="8275320" y="2788920"/>
            <a:ext cx="3017520" cy="274320"/>
          </a:xfrm>
          <a:prstGeom prst="rect">
            <a:avLst/>
          </a:prstGeom>
          <a:noFill/>
          <a:ln/>
        </p:spPr>
        <p:txBody>
          <a:bodyPr wrap="square" lIns="0" tIns="0" rIns="0" bIns="0" rtlCol="0" anchor="t"/>
          <a:lstStyle/>
          <a:p>
            <a:pPr marL="0" indent="0">
              <a:buNone/>
            </a:pPr>
            <a:r>
              <a:rPr lang="en-US" sz="1100" dirty="0">
                <a:solidFill>
                  <a:srgbClr val="9DB5AB"/>
                </a:solidFill>
                <a:latin typeface="Malgun Gothic" pitchFamily="34" charset="0"/>
                <a:ea typeface="Malgun Gothic" pitchFamily="34" charset="-122"/>
                <a:cs typeface="Malgun Gothic" pitchFamily="34" charset="-120"/>
              </a:rPr>
              <a:t>오늘의 빵장 · 하락장 라인</a:t>
            </a:r>
            <a:endParaRPr lang="en-US" sz="1100" dirty="0"/>
          </a:p>
        </p:txBody>
      </p:sp>
      <p:sp>
        <p:nvSpPr>
          <p:cNvPr id="12" name="Text 10"/>
          <p:cNvSpPr txBox="1"/>
          <p:nvPr/>
        </p:nvSpPr>
        <p:spPr>
          <a:xfrm>
            <a:off x="8275320" y="3063240"/>
            <a:ext cx="3017520" cy="640080"/>
          </a:xfrm>
          <a:prstGeom prst="rect">
            <a:avLst/>
          </a:prstGeom>
          <a:noFill/>
          <a:ln/>
        </p:spPr>
        <p:txBody>
          <a:bodyPr wrap="square" lIns="0" tIns="0" rIns="0" bIns="0" rtlCol="0" anchor="t"/>
          <a:lstStyle/>
          <a:p>
            <a:pPr marL="0" indent="0">
              <a:buNone/>
            </a:pPr>
            <a:r>
              <a:rPr lang="en-US" sz="3200" b="1" dirty="0">
                <a:solidFill>
                  <a:srgbClr val="F6F0E6"/>
                </a:solidFill>
                <a:latin typeface="Malgun Gothic" pitchFamily="34" charset="0"/>
                <a:ea typeface="Malgun Gothic" pitchFamily="34" charset="-122"/>
                <a:cs typeface="Malgun Gothic" pitchFamily="34" charset="-120"/>
              </a:rPr>
              <a:t>15% OFF</a:t>
            </a:r>
            <a:endParaRPr lang="en-US" sz="3200" dirty="0"/>
          </a:p>
        </p:txBody>
      </p:sp>
      <p:sp>
        <p:nvSpPr>
          <p:cNvPr id="13" name="Text 11"/>
          <p:cNvSpPr txBox="1"/>
          <p:nvPr/>
        </p:nvSpPr>
        <p:spPr>
          <a:xfrm>
            <a:off x="8275320" y="3767328"/>
            <a:ext cx="3108960" cy="274320"/>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“아쉬운 장 마감, 달달하게 마무리하세요”</a:t>
            </a:r>
            <a:endParaRPr lang="en-US" sz="1050" dirty="0"/>
          </a:p>
        </p:txBody>
      </p:sp>
      <p:sp>
        <p:nvSpPr>
          <p:cNvPr id="14" name="Shape 12"/>
          <p:cNvSpPr/>
          <p:nvPr/>
        </p:nvSpPr>
        <p:spPr>
          <a:xfrm>
            <a:off x="612648" y="5029200"/>
            <a:ext cx="10972800" cy="0"/>
          </a:xfrm>
          <a:prstGeom prst="line">
            <a:avLst/>
          </a:prstGeom>
          <a:noFill/>
          <a:ln w="12700">
            <a:solidFill>
              <a:srgbClr val="3D6B5E"/>
            </a:solidFill>
            <a:prstDash val="solid"/>
          </a:ln>
        </p:spPr>
      </p:sp>
      <p:sp>
        <p:nvSpPr>
          <p:cNvPr id="15" name="Text 13"/>
          <p:cNvSpPr txBox="1"/>
          <p:nvPr/>
        </p:nvSpPr>
        <p:spPr>
          <a:xfrm>
            <a:off x="612648" y="5230368"/>
            <a:ext cx="3383280" cy="365760"/>
          </a:xfrm>
          <a:prstGeom prst="rect">
            <a:avLst/>
          </a:prstGeom>
          <a:noFill/>
          <a:ln/>
        </p:spPr>
        <p:txBody>
          <a:bodyPr wrap="square" lIns="0" tIns="0" rIns="0" bIns="0" rtlCol="0" anchor="t"/>
          <a:lstStyle/>
          <a:p>
            <a:pPr marL="0" indent="0">
              <a:buNone/>
            </a:pPr>
            <a:r>
              <a:rPr lang="en-US" sz="1800" b="1" dirty="0">
                <a:solidFill>
                  <a:srgbClr val="F0A583"/>
                </a:solidFill>
                <a:latin typeface="Malgun Gothic" pitchFamily="34" charset="0"/>
                <a:ea typeface="Malgun Gothic" pitchFamily="34" charset="-122"/>
                <a:cs typeface="Malgun Gothic" pitchFamily="34" charset="-120"/>
              </a:rPr>
              <a:t>01  </a:t>
            </a:r>
            <a:r>
              <a:rPr lang="en-US" sz="1800" b="1" dirty="0">
                <a:solidFill>
                  <a:srgbClr val="F6F0E6"/>
                </a:solidFill>
                <a:latin typeface="Malgun Gothic" pitchFamily="34" charset="0"/>
                <a:ea typeface="Malgun Gothic" pitchFamily="34" charset="-122"/>
                <a:cs typeface="Malgun Gothic" pitchFamily="34" charset="-120"/>
              </a:rPr>
              <a:t>빵시장</a:t>
            </a:r>
            <a:endParaRPr lang="en-US" sz="1800" dirty="0"/>
          </a:p>
        </p:txBody>
      </p:sp>
      <p:sp>
        <p:nvSpPr>
          <p:cNvPr id="16" name="Text 14"/>
          <p:cNvSpPr txBox="1"/>
          <p:nvPr/>
        </p:nvSpPr>
        <p:spPr>
          <a:xfrm>
            <a:off x="612648" y="5623560"/>
            <a:ext cx="3383280" cy="320040"/>
          </a:xfrm>
          <a:prstGeom prst="rect">
            <a:avLst/>
          </a:prstGeom>
          <a:noFill/>
          <a:ln/>
        </p:spPr>
        <p:txBody>
          <a:bodyPr wrap="square" lIns="0" tIns="0" rIns="0" bIns="0" rtlCol="0" anchor="t"/>
          <a:lstStyle/>
          <a:p>
            <a:pPr marL="0" indent="0">
              <a:buNone/>
            </a:pPr>
            <a:r>
              <a:rPr lang="en-US" sz="1250" dirty="0">
                <a:solidFill>
                  <a:srgbClr val="D5E2DC"/>
                </a:solidFill>
                <a:latin typeface="Malgun Gothic" pitchFamily="34" charset="0"/>
                <a:ea typeface="Malgun Gothic" pitchFamily="34" charset="-122"/>
                <a:cs typeface="Malgun Gothic" pitchFamily="34" charset="-120"/>
              </a:rPr>
              <a:t>시장이 오늘의 가격을 정합니다</a:t>
            </a:r>
            <a:endParaRPr lang="en-US" sz="1250" dirty="0"/>
          </a:p>
        </p:txBody>
      </p:sp>
      <p:sp>
        <p:nvSpPr>
          <p:cNvPr id="17" name="Shape 15"/>
          <p:cNvSpPr/>
          <p:nvPr/>
        </p:nvSpPr>
        <p:spPr>
          <a:xfrm>
            <a:off x="4087368" y="5230368"/>
            <a:ext cx="0" cy="960120"/>
          </a:xfrm>
          <a:prstGeom prst="line">
            <a:avLst/>
          </a:prstGeom>
          <a:noFill/>
          <a:ln w="12700">
            <a:solidFill>
              <a:srgbClr val="3D6B5E"/>
            </a:solidFill>
            <a:prstDash val="solid"/>
          </a:ln>
        </p:spPr>
      </p:sp>
      <p:sp>
        <p:nvSpPr>
          <p:cNvPr id="18" name="Text 16"/>
          <p:cNvSpPr txBox="1"/>
          <p:nvPr/>
        </p:nvSpPr>
        <p:spPr>
          <a:xfrm>
            <a:off x="4270248" y="5230368"/>
            <a:ext cx="3383280" cy="365760"/>
          </a:xfrm>
          <a:prstGeom prst="rect">
            <a:avLst/>
          </a:prstGeom>
          <a:noFill/>
          <a:ln/>
        </p:spPr>
        <p:txBody>
          <a:bodyPr wrap="square" lIns="0" tIns="0" rIns="0" bIns="0" rtlCol="0" anchor="t"/>
          <a:lstStyle/>
          <a:p>
            <a:pPr marL="0" indent="0">
              <a:buNone/>
            </a:pPr>
            <a:r>
              <a:rPr lang="en-US" sz="1800" b="1" dirty="0">
                <a:solidFill>
                  <a:srgbClr val="F0A583"/>
                </a:solidFill>
                <a:latin typeface="Malgun Gothic" pitchFamily="34" charset="0"/>
                <a:ea typeface="Malgun Gothic" pitchFamily="34" charset="-122"/>
                <a:cs typeface="Malgun Gothic" pitchFamily="34" charset="-120"/>
              </a:rPr>
              <a:t>02  </a:t>
            </a:r>
            <a:r>
              <a:rPr lang="en-US" sz="1800" b="1" dirty="0">
                <a:solidFill>
                  <a:srgbClr val="F6F0E6"/>
                </a:solidFill>
                <a:latin typeface="Malgun Gothic" pitchFamily="34" charset="0"/>
                <a:ea typeface="Malgun Gothic" pitchFamily="34" charset="-122"/>
                <a:cs typeface="Malgun Gothic" pitchFamily="34" charset="-120"/>
              </a:rPr>
              <a:t>빵 포트폴리오</a:t>
            </a:r>
            <a:endParaRPr lang="en-US" sz="1800" dirty="0"/>
          </a:p>
        </p:txBody>
      </p:sp>
      <p:sp>
        <p:nvSpPr>
          <p:cNvPr id="19" name="Text 17"/>
          <p:cNvSpPr txBox="1"/>
          <p:nvPr/>
        </p:nvSpPr>
        <p:spPr>
          <a:xfrm>
            <a:off x="4270248" y="5623560"/>
            <a:ext cx="3383280" cy="320040"/>
          </a:xfrm>
          <a:prstGeom prst="rect">
            <a:avLst/>
          </a:prstGeom>
          <a:noFill/>
          <a:ln/>
        </p:spPr>
        <p:txBody>
          <a:bodyPr wrap="square" lIns="0" tIns="0" rIns="0" bIns="0" rtlCol="0" anchor="t"/>
          <a:lstStyle/>
          <a:p>
            <a:pPr marL="0" indent="0">
              <a:buNone/>
            </a:pPr>
            <a:r>
              <a:rPr lang="en-US" sz="1250" dirty="0">
                <a:solidFill>
                  <a:srgbClr val="D5E2DC"/>
                </a:solidFill>
                <a:latin typeface="Malgun Gothic" pitchFamily="34" charset="0"/>
                <a:ea typeface="Malgun Gothic" pitchFamily="34" charset="-122"/>
                <a:cs typeface="Malgun Gothic" pitchFamily="34" charset="-120"/>
              </a:rPr>
              <a:t>사지 않은 관심까지 기록합니다</a:t>
            </a:r>
            <a:endParaRPr lang="en-US" sz="1250" dirty="0"/>
          </a:p>
        </p:txBody>
      </p:sp>
      <p:sp>
        <p:nvSpPr>
          <p:cNvPr id="20" name="Shape 18"/>
          <p:cNvSpPr/>
          <p:nvPr/>
        </p:nvSpPr>
        <p:spPr>
          <a:xfrm>
            <a:off x="7744968" y="5230368"/>
            <a:ext cx="0" cy="960120"/>
          </a:xfrm>
          <a:prstGeom prst="line">
            <a:avLst/>
          </a:prstGeom>
          <a:noFill/>
          <a:ln w="12700">
            <a:solidFill>
              <a:srgbClr val="3D6B5E"/>
            </a:solidFill>
            <a:prstDash val="solid"/>
          </a:ln>
        </p:spPr>
      </p:sp>
      <p:sp>
        <p:nvSpPr>
          <p:cNvPr id="21" name="Text 19"/>
          <p:cNvSpPr txBox="1"/>
          <p:nvPr/>
        </p:nvSpPr>
        <p:spPr>
          <a:xfrm>
            <a:off x="7927848" y="5230368"/>
            <a:ext cx="3383280" cy="365760"/>
          </a:xfrm>
          <a:prstGeom prst="rect">
            <a:avLst/>
          </a:prstGeom>
          <a:noFill/>
          <a:ln/>
        </p:spPr>
        <p:txBody>
          <a:bodyPr wrap="square" lIns="0" tIns="0" rIns="0" bIns="0" rtlCol="0" anchor="t"/>
          <a:lstStyle/>
          <a:p>
            <a:pPr marL="0" indent="0">
              <a:buNone/>
            </a:pPr>
            <a:r>
              <a:rPr lang="en-US" sz="1800" b="1" dirty="0">
                <a:solidFill>
                  <a:srgbClr val="F0A583"/>
                </a:solidFill>
                <a:latin typeface="Malgun Gothic" pitchFamily="34" charset="0"/>
                <a:ea typeface="Malgun Gothic" pitchFamily="34" charset="-122"/>
                <a:cs typeface="Malgun Gothic" pitchFamily="34" charset="-120"/>
              </a:rPr>
              <a:t>03  </a:t>
            </a:r>
            <a:r>
              <a:rPr lang="en-US" sz="1800" b="1" dirty="0">
                <a:solidFill>
                  <a:srgbClr val="F6F0E6"/>
                </a:solidFill>
                <a:latin typeface="Malgun Gothic" pitchFamily="34" charset="0"/>
                <a:ea typeface="Malgun Gothic" pitchFamily="34" charset="-122"/>
                <a:cs typeface="Malgun Gothic" pitchFamily="34" charset="-120"/>
              </a:rPr>
              <a:t>주말 배당</a:t>
            </a:r>
            <a:endParaRPr lang="en-US" sz="1800" dirty="0"/>
          </a:p>
        </p:txBody>
      </p:sp>
      <p:sp>
        <p:nvSpPr>
          <p:cNvPr id="22" name="Text 20"/>
          <p:cNvSpPr txBox="1"/>
          <p:nvPr/>
        </p:nvSpPr>
        <p:spPr>
          <a:xfrm>
            <a:off x="7927848" y="5623560"/>
            <a:ext cx="3383280" cy="320040"/>
          </a:xfrm>
          <a:prstGeom prst="rect">
            <a:avLst/>
          </a:prstGeom>
          <a:noFill/>
          <a:ln/>
        </p:spPr>
        <p:txBody>
          <a:bodyPr wrap="square" lIns="0" tIns="0" rIns="0" bIns="0" rtlCol="0" anchor="t"/>
          <a:lstStyle/>
          <a:p>
            <a:pPr marL="0" indent="0">
              <a:buNone/>
            </a:pPr>
            <a:r>
              <a:rPr lang="en-US" sz="1250" dirty="0">
                <a:solidFill>
                  <a:srgbClr val="D5E2DC"/>
                </a:solidFill>
                <a:latin typeface="Malgun Gothic" pitchFamily="34" charset="0"/>
                <a:ea typeface="Malgun Gothic" pitchFamily="34" charset="-122"/>
                <a:cs typeface="Malgun Gothic" pitchFamily="34" charset="-120"/>
              </a:rPr>
              <a:t>평일 활동을 주말 쿠폰으로 돌려줍니다</a:t>
            </a:r>
            <a:endParaRPr lang="en-US" sz="1250" dirty="0"/>
          </a:p>
        </p:txBody>
      </p:sp>
      <p:sp>
        <p:nvSpPr>
          <p:cNvPr id="23" name="Text 21"/>
          <p:cNvSpPr txBox="1"/>
          <p:nvPr/>
        </p:nvSpPr>
        <p:spPr>
          <a:xfrm>
            <a:off x="612648" y="6309360"/>
            <a:ext cx="5486400" cy="228600"/>
          </a:xfrm>
          <a:prstGeom prst="rect">
            <a:avLst/>
          </a:prstGeom>
          <a:noFill/>
          <a:ln/>
        </p:spPr>
        <p:txBody>
          <a:bodyPr wrap="square" lIns="0" tIns="0" rIns="0" bIns="0" rtlCol="0" anchor="t"/>
          <a:lstStyle/>
          <a:p>
            <a:pPr marL="0" indent="0">
              <a:buNone/>
            </a:pPr>
            <a:r>
              <a:rPr lang="en-US" sz="1000" dirty="0">
                <a:solidFill>
                  <a:srgbClr val="9DB5AB"/>
                </a:solidFill>
                <a:latin typeface="Malgun Gothic" pitchFamily="34" charset="0"/>
                <a:ea typeface="Malgun Gothic" pitchFamily="34" charset="-122"/>
                <a:cs typeface="Malgun Gothic" pitchFamily="34" charset="-120"/>
              </a:rPr>
              <a:t>㈜스윗앤스위츠 MAKJI 기업연계 프로젝트</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문제 정의</a:t>
            </a:r>
            <a:endParaRPr lang="en-US" sz="1050" dirty="0"/>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02</a:t>
            </a:r>
            <a:endParaRPr lang="en-US" sz="1050" dirty="0"/>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자사몰에 필요한 건 ‘매일 올 이유’와 ‘주말에 올 이유’입니다</a:t>
            </a:r>
            <a:endParaRPr lang="en-US" sz="2600" dirty="0"/>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기업이 제공한 판매 데이터와 운영 조건에서 출발했습니다.</a:t>
            </a:r>
            <a:endParaRPr lang="en-US" sz="1350" dirty="0"/>
          </a:p>
        </p:txBody>
      </p:sp>
      <p:sp>
        <p:nvSpPr>
          <p:cNvPr id="7" name="Shape 5"/>
          <p:cNvSpPr/>
          <p:nvPr/>
        </p:nvSpPr>
        <p:spPr>
          <a:xfrm>
            <a:off x="612648" y="1828800"/>
            <a:ext cx="3474720" cy="2606040"/>
          </a:xfrm>
          <a:prstGeom prst="roundRect">
            <a:avLst>
              <a:gd name="adj" fmla="val 4211"/>
            </a:avLst>
          </a:prstGeom>
          <a:solidFill>
            <a:srgbClr val="FFFFFF"/>
          </a:solidFill>
          <a:ln/>
          <a:effectLst>
            <a:outerShdw blurRad="101600" dist="25400" dir="5400000" algn="bl" rotWithShape="0">
              <a:srgbClr val="123F34">
                <a:alpha val="12000"/>
              </a:srgbClr>
            </a:outerShdw>
          </a:effectLst>
        </p:spPr>
      </p:sp>
      <p:sp>
        <p:nvSpPr>
          <p:cNvPr id="8" name="Text 6"/>
          <p:cNvSpPr txBox="1"/>
          <p:nvPr/>
        </p:nvSpPr>
        <p:spPr>
          <a:xfrm>
            <a:off x="886968" y="2084832"/>
            <a:ext cx="2926080" cy="274320"/>
          </a:xfrm>
          <a:prstGeom prst="rect">
            <a:avLst/>
          </a:prstGeom>
          <a:noFill/>
          <a:ln/>
        </p:spPr>
        <p:txBody>
          <a:bodyPr wrap="square" lIns="0" tIns="0" rIns="0" bIns="0" rtlCol="0" anchor="t"/>
          <a:lstStyle/>
          <a:p>
            <a:pPr marL="0" indent="0">
              <a:buNone/>
            </a:pPr>
            <a:r>
              <a:rPr lang="en-US" sz="1200" b="1" dirty="0">
                <a:solidFill>
                  <a:srgbClr val="7A8F86"/>
                </a:solidFill>
                <a:latin typeface="Malgun Gothic" pitchFamily="34" charset="0"/>
                <a:ea typeface="Malgun Gothic" pitchFamily="34" charset="-122"/>
                <a:cs typeface="Malgun Gothic" pitchFamily="34" charset="-120"/>
              </a:rPr>
              <a:t>20~24시 매출 비중</a:t>
            </a:r>
            <a:endParaRPr lang="en-US" sz="1200" dirty="0"/>
          </a:p>
        </p:txBody>
      </p:sp>
      <p:sp>
        <p:nvSpPr>
          <p:cNvPr id="9" name="Text 7"/>
          <p:cNvSpPr txBox="1"/>
          <p:nvPr/>
        </p:nvSpPr>
        <p:spPr>
          <a:xfrm>
            <a:off x="886968" y="2395728"/>
            <a:ext cx="2926080" cy="731520"/>
          </a:xfrm>
          <a:prstGeom prst="rect">
            <a:avLst/>
          </a:prstGeom>
          <a:noFill/>
          <a:ln/>
        </p:spPr>
        <p:txBody>
          <a:bodyPr wrap="square" lIns="0" tIns="0" rIns="0" bIns="0" rtlCol="0" anchor="ctr"/>
          <a:lstStyle/>
          <a:p>
            <a:pPr marL="0" indent="0">
              <a:buNone/>
            </a:pPr>
            <a:r>
              <a:rPr lang="en-US" sz="4000" b="1" dirty="0">
                <a:solidFill>
                  <a:srgbClr val="C85B35"/>
                </a:solidFill>
                <a:latin typeface="Malgun Gothic" pitchFamily="34" charset="0"/>
                <a:ea typeface="Malgun Gothic" pitchFamily="34" charset="-122"/>
                <a:cs typeface="Malgun Gothic" pitchFamily="34" charset="-120"/>
              </a:rPr>
              <a:t>28.4%</a:t>
            </a:r>
            <a:endParaRPr lang="en-US" sz="4000" dirty="0"/>
          </a:p>
        </p:txBody>
      </p:sp>
      <p:sp>
        <p:nvSpPr>
          <p:cNvPr id="10" name="Text 8"/>
          <p:cNvSpPr txBox="1"/>
          <p:nvPr/>
        </p:nvSpPr>
        <p:spPr>
          <a:xfrm>
            <a:off x="886968" y="3200400"/>
            <a:ext cx="2926080" cy="45720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국장이 끝난 저녁에 구매가 몰립니다</a:t>
            </a:r>
            <a:endParaRPr lang="en-US" sz="1250" dirty="0"/>
          </a:p>
        </p:txBody>
      </p:sp>
      <p:sp>
        <p:nvSpPr>
          <p:cNvPr id="11" name="Shape 9"/>
          <p:cNvSpPr/>
          <p:nvPr/>
        </p:nvSpPr>
        <p:spPr>
          <a:xfrm>
            <a:off x="886968" y="3794760"/>
            <a:ext cx="2926080" cy="384048"/>
          </a:xfrm>
          <a:prstGeom prst="roundRect">
            <a:avLst>
              <a:gd name="adj" fmla="val 23810"/>
            </a:avLst>
          </a:prstGeom>
          <a:solidFill>
            <a:srgbClr val="DDEAE2"/>
          </a:solidFill>
          <a:ln/>
        </p:spPr>
      </p:sp>
      <p:sp>
        <p:nvSpPr>
          <p:cNvPr id="12" name="Text 10"/>
          <p:cNvSpPr txBox="1"/>
          <p:nvPr/>
        </p:nvSpPr>
        <p:spPr>
          <a:xfrm>
            <a:off x="1024128" y="3794760"/>
            <a:ext cx="2743200" cy="384048"/>
          </a:xfrm>
          <a:prstGeom prst="rect">
            <a:avLst/>
          </a:prstGeom>
          <a:noFill/>
          <a:ln/>
        </p:spPr>
        <p:txBody>
          <a:bodyPr wrap="square" lIns="0" tIns="0" rIns="0" bIns="0" rtlCol="0" anchor="ctr"/>
          <a:lstStyle/>
          <a:p>
            <a:pPr marL="0" indent="0">
              <a:buNone/>
            </a:pPr>
            <a:r>
              <a:rPr lang="en-US" sz="1200" b="1" dirty="0">
                <a:solidFill>
                  <a:srgbClr val="123F34"/>
                </a:solidFill>
                <a:latin typeface="Malgun Gothic" pitchFamily="34" charset="0"/>
                <a:ea typeface="Malgun Gothic" pitchFamily="34" charset="-122"/>
                <a:cs typeface="Malgun Gothic" pitchFamily="34" charset="-120"/>
              </a:rPr>
              <a:t>→  15:30–24:00 운영 시간</a:t>
            </a:r>
            <a:endParaRPr lang="en-US" sz="1200" dirty="0"/>
          </a:p>
        </p:txBody>
      </p:sp>
      <p:sp>
        <p:nvSpPr>
          <p:cNvPr id="13" name="Shape 11"/>
          <p:cNvSpPr/>
          <p:nvPr/>
        </p:nvSpPr>
        <p:spPr>
          <a:xfrm>
            <a:off x="4361688" y="1828800"/>
            <a:ext cx="3474720" cy="2606040"/>
          </a:xfrm>
          <a:prstGeom prst="roundRect">
            <a:avLst>
              <a:gd name="adj" fmla="val 4211"/>
            </a:avLst>
          </a:prstGeom>
          <a:solidFill>
            <a:srgbClr val="FFFFFF"/>
          </a:solidFill>
          <a:ln/>
          <a:effectLst>
            <a:outerShdw blurRad="101600" dist="25400" dir="5400000" algn="bl" rotWithShape="0">
              <a:srgbClr val="123F34">
                <a:alpha val="12000"/>
              </a:srgbClr>
            </a:outerShdw>
          </a:effectLst>
        </p:spPr>
      </p:sp>
      <p:sp>
        <p:nvSpPr>
          <p:cNvPr id="14" name="Text 12"/>
          <p:cNvSpPr txBox="1"/>
          <p:nvPr/>
        </p:nvSpPr>
        <p:spPr>
          <a:xfrm>
            <a:off x="4636008" y="2084832"/>
            <a:ext cx="2926080" cy="274320"/>
          </a:xfrm>
          <a:prstGeom prst="rect">
            <a:avLst/>
          </a:prstGeom>
          <a:noFill/>
          <a:ln/>
        </p:spPr>
        <p:txBody>
          <a:bodyPr wrap="square" lIns="0" tIns="0" rIns="0" bIns="0" rtlCol="0" anchor="t"/>
          <a:lstStyle/>
          <a:p>
            <a:pPr marL="0" indent="0">
              <a:buNone/>
            </a:pPr>
            <a:r>
              <a:rPr lang="en-US" sz="1200" b="1" dirty="0">
                <a:solidFill>
                  <a:srgbClr val="7A8F86"/>
                </a:solidFill>
                <a:latin typeface="Malgun Gothic" pitchFamily="34" charset="0"/>
                <a:ea typeface="Malgun Gothic" pitchFamily="34" charset="-122"/>
                <a:cs typeface="Malgun Gothic" pitchFamily="34" charset="-120"/>
              </a:rPr>
              <a:t>반복 방문 동기 부족</a:t>
            </a:r>
            <a:endParaRPr lang="en-US" sz="1200" dirty="0"/>
          </a:p>
        </p:txBody>
      </p:sp>
      <p:sp>
        <p:nvSpPr>
          <p:cNvPr id="15" name="Text 13"/>
          <p:cNvSpPr txBox="1"/>
          <p:nvPr/>
        </p:nvSpPr>
        <p:spPr>
          <a:xfrm>
            <a:off x="4636008" y="2395728"/>
            <a:ext cx="2926080" cy="731520"/>
          </a:xfrm>
          <a:prstGeom prst="rect">
            <a:avLst/>
          </a:prstGeom>
          <a:noFill/>
          <a:ln/>
        </p:spPr>
        <p:txBody>
          <a:bodyPr wrap="square" lIns="0" tIns="0" rIns="0" bIns="0" rtlCol="0" anchor="ctr"/>
          <a:lstStyle/>
          <a:p>
            <a:pPr marL="0" indent="0">
              <a:buNone/>
            </a:pPr>
            <a:r>
              <a:rPr lang="en-US" sz="3200" b="1" dirty="0">
                <a:solidFill>
                  <a:srgbClr val="123F34"/>
                </a:solidFill>
                <a:latin typeface="Malgun Gothic" pitchFamily="34" charset="0"/>
                <a:ea typeface="Malgun Gothic" pitchFamily="34" charset="-122"/>
                <a:cs typeface="Malgun Gothic" pitchFamily="34" charset="-120"/>
              </a:rPr>
              <a:t>평일 중심</a:t>
            </a:r>
            <a:endParaRPr lang="en-US" sz="3200" dirty="0"/>
          </a:p>
        </p:txBody>
      </p:sp>
      <p:sp>
        <p:nvSpPr>
          <p:cNvPr id="16" name="Text 14"/>
          <p:cNvSpPr txBox="1"/>
          <p:nvPr/>
        </p:nvSpPr>
        <p:spPr>
          <a:xfrm>
            <a:off x="4636008" y="3200400"/>
            <a:ext cx="2926080" cy="45720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방문 이유가 루틴이 되지 못했습니다</a:t>
            </a:r>
            <a:endParaRPr lang="en-US" sz="1250" dirty="0"/>
          </a:p>
        </p:txBody>
      </p:sp>
      <p:sp>
        <p:nvSpPr>
          <p:cNvPr id="17" name="Shape 15"/>
          <p:cNvSpPr/>
          <p:nvPr/>
        </p:nvSpPr>
        <p:spPr>
          <a:xfrm>
            <a:off x="4636008" y="3794760"/>
            <a:ext cx="2926080" cy="384048"/>
          </a:xfrm>
          <a:prstGeom prst="roundRect">
            <a:avLst>
              <a:gd name="adj" fmla="val 23810"/>
            </a:avLst>
          </a:prstGeom>
          <a:solidFill>
            <a:srgbClr val="DDEAE2"/>
          </a:solidFill>
          <a:ln/>
        </p:spPr>
      </p:sp>
      <p:sp>
        <p:nvSpPr>
          <p:cNvPr id="18" name="Text 16"/>
          <p:cNvSpPr txBox="1"/>
          <p:nvPr/>
        </p:nvSpPr>
        <p:spPr>
          <a:xfrm>
            <a:off x="4773168" y="3794760"/>
            <a:ext cx="2743200" cy="384048"/>
          </a:xfrm>
          <a:prstGeom prst="rect">
            <a:avLst/>
          </a:prstGeom>
          <a:noFill/>
          <a:ln/>
        </p:spPr>
        <p:txBody>
          <a:bodyPr wrap="square" lIns="0" tIns="0" rIns="0" bIns="0" rtlCol="0" anchor="ctr"/>
          <a:lstStyle/>
          <a:p>
            <a:pPr marL="0" indent="0">
              <a:buNone/>
            </a:pPr>
            <a:r>
              <a:rPr lang="en-US" sz="1200" b="1" dirty="0">
                <a:solidFill>
                  <a:srgbClr val="123F34"/>
                </a:solidFill>
                <a:latin typeface="Malgun Gothic" pitchFamily="34" charset="0"/>
                <a:ea typeface="Malgun Gothic" pitchFamily="34" charset="-122"/>
                <a:cs typeface="Malgun Gothic" pitchFamily="34" charset="-120"/>
              </a:rPr>
              <a:t>→  거래일마다 바뀌는 가격</a:t>
            </a:r>
            <a:endParaRPr lang="en-US" sz="1200" dirty="0"/>
          </a:p>
        </p:txBody>
      </p:sp>
      <p:sp>
        <p:nvSpPr>
          <p:cNvPr id="19" name="Shape 17"/>
          <p:cNvSpPr/>
          <p:nvPr/>
        </p:nvSpPr>
        <p:spPr>
          <a:xfrm>
            <a:off x="8110728" y="1828800"/>
            <a:ext cx="3474720" cy="2606040"/>
          </a:xfrm>
          <a:prstGeom prst="roundRect">
            <a:avLst>
              <a:gd name="adj" fmla="val 4211"/>
            </a:avLst>
          </a:prstGeom>
          <a:solidFill>
            <a:srgbClr val="FFFFFF"/>
          </a:solidFill>
          <a:ln/>
          <a:effectLst>
            <a:outerShdw blurRad="101600" dist="25400" dir="5400000" algn="bl" rotWithShape="0">
              <a:srgbClr val="123F34">
                <a:alpha val="12000"/>
              </a:srgbClr>
            </a:outerShdw>
          </a:effectLst>
        </p:spPr>
      </p:sp>
      <p:sp>
        <p:nvSpPr>
          <p:cNvPr id="20" name="Text 18"/>
          <p:cNvSpPr txBox="1"/>
          <p:nvPr/>
        </p:nvSpPr>
        <p:spPr>
          <a:xfrm>
            <a:off x="8385048" y="2084832"/>
            <a:ext cx="2926080" cy="274320"/>
          </a:xfrm>
          <a:prstGeom prst="rect">
            <a:avLst/>
          </a:prstGeom>
          <a:noFill/>
          <a:ln/>
        </p:spPr>
        <p:txBody>
          <a:bodyPr wrap="square" lIns="0" tIns="0" rIns="0" bIns="0" rtlCol="0" anchor="t"/>
          <a:lstStyle/>
          <a:p>
            <a:pPr marL="0" indent="0">
              <a:buNone/>
            </a:pPr>
            <a:r>
              <a:rPr lang="en-US" sz="1200" b="1" dirty="0">
                <a:solidFill>
                  <a:srgbClr val="7A8F86"/>
                </a:solidFill>
                <a:latin typeface="Malgun Gothic" pitchFamily="34" charset="0"/>
                <a:ea typeface="Malgun Gothic" pitchFamily="34" charset="-122"/>
                <a:cs typeface="Malgun Gothic" pitchFamily="34" charset="-120"/>
              </a:rPr>
              <a:t>휴장일 방문 동기 약함</a:t>
            </a:r>
            <a:endParaRPr lang="en-US" sz="1200" dirty="0"/>
          </a:p>
        </p:txBody>
      </p:sp>
      <p:sp>
        <p:nvSpPr>
          <p:cNvPr id="21" name="Text 19"/>
          <p:cNvSpPr txBox="1"/>
          <p:nvPr/>
        </p:nvSpPr>
        <p:spPr>
          <a:xfrm>
            <a:off x="8385048" y="2395728"/>
            <a:ext cx="2926080" cy="731520"/>
          </a:xfrm>
          <a:prstGeom prst="rect">
            <a:avLst/>
          </a:prstGeom>
          <a:noFill/>
          <a:ln/>
        </p:spPr>
        <p:txBody>
          <a:bodyPr wrap="square" lIns="0" tIns="0" rIns="0" bIns="0" rtlCol="0" anchor="ctr"/>
          <a:lstStyle/>
          <a:p>
            <a:pPr marL="0" indent="0">
              <a:buNone/>
            </a:pPr>
            <a:r>
              <a:rPr lang="en-US" sz="3200" b="1" dirty="0">
                <a:solidFill>
                  <a:srgbClr val="123F34"/>
                </a:solidFill>
                <a:latin typeface="Malgun Gothic" pitchFamily="34" charset="0"/>
                <a:ea typeface="Malgun Gothic" pitchFamily="34" charset="-122"/>
                <a:cs typeface="Malgun Gothic" pitchFamily="34" charset="-120"/>
              </a:rPr>
              <a:t>주말 공백</a:t>
            </a:r>
            <a:endParaRPr lang="en-US" sz="3200" dirty="0"/>
          </a:p>
        </p:txBody>
      </p:sp>
      <p:sp>
        <p:nvSpPr>
          <p:cNvPr id="22" name="Text 20"/>
          <p:cNvSpPr txBox="1"/>
          <p:nvPr/>
        </p:nvSpPr>
        <p:spPr>
          <a:xfrm>
            <a:off x="8385048" y="3200400"/>
            <a:ext cx="2926080" cy="45720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평일 할인만으로는 주말 재방문이 어렵습니다</a:t>
            </a:r>
            <a:endParaRPr lang="en-US" sz="1250" dirty="0"/>
          </a:p>
        </p:txBody>
      </p:sp>
      <p:sp>
        <p:nvSpPr>
          <p:cNvPr id="23" name="Shape 21"/>
          <p:cNvSpPr/>
          <p:nvPr/>
        </p:nvSpPr>
        <p:spPr>
          <a:xfrm>
            <a:off x="8385048" y="3794760"/>
            <a:ext cx="2926080" cy="384048"/>
          </a:xfrm>
          <a:prstGeom prst="roundRect">
            <a:avLst>
              <a:gd name="adj" fmla="val 23810"/>
            </a:avLst>
          </a:prstGeom>
          <a:solidFill>
            <a:srgbClr val="DDEAE2"/>
          </a:solidFill>
          <a:ln/>
        </p:spPr>
      </p:sp>
      <p:sp>
        <p:nvSpPr>
          <p:cNvPr id="24" name="Text 22"/>
          <p:cNvSpPr txBox="1"/>
          <p:nvPr/>
        </p:nvSpPr>
        <p:spPr>
          <a:xfrm>
            <a:off x="8522208" y="3794760"/>
            <a:ext cx="2743200" cy="384048"/>
          </a:xfrm>
          <a:prstGeom prst="rect">
            <a:avLst/>
          </a:prstGeom>
          <a:noFill/>
          <a:ln/>
        </p:spPr>
        <p:txBody>
          <a:bodyPr wrap="square" lIns="0" tIns="0" rIns="0" bIns="0" rtlCol="0" anchor="ctr"/>
          <a:lstStyle/>
          <a:p>
            <a:pPr marL="0" indent="0">
              <a:buNone/>
            </a:pPr>
            <a:r>
              <a:rPr lang="en-US" sz="1200" b="1" dirty="0">
                <a:solidFill>
                  <a:srgbClr val="123F34"/>
                </a:solidFill>
                <a:latin typeface="Malgun Gothic" pitchFamily="34" charset="0"/>
                <a:ea typeface="Malgun Gothic" pitchFamily="34" charset="-122"/>
                <a:cs typeface="Malgun Gothic" pitchFamily="34" charset="-120"/>
              </a:rPr>
              <a:t>→  주말엔 가격 대신 보상</a:t>
            </a:r>
            <a:endParaRPr lang="en-US" sz="1200" dirty="0"/>
          </a:p>
        </p:txBody>
      </p:sp>
      <p:sp>
        <p:nvSpPr>
          <p:cNvPr id="25" name="Shape 23"/>
          <p:cNvSpPr/>
          <p:nvPr/>
        </p:nvSpPr>
        <p:spPr>
          <a:xfrm>
            <a:off x="612648" y="4709160"/>
            <a:ext cx="10972800" cy="1463040"/>
          </a:xfrm>
          <a:prstGeom prst="roundRect">
            <a:avLst>
              <a:gd name="adj" fmla="val 7500"/>
            </a:avLst>
          </a:prstGeom>
          <a:solidFill>
            <a:srgbClr val="123F34"/>
          </a:solidFill>
          <a:ln/>
        </p:spPr>
      </p:sp>
      <p:sp>
        <p:nvSpPr>
          <p:cNvPr id="26" name="Text 24"/>
          <p:cNvSpPr txBox="1"/>
          <p:nvPr/>
        </p:nvSpPr>
        <p:spPr>
          <a:xfrm>
            <a:off x="932688" y="4892040"/>
            <a:ext cx="914400" cy="274320"/>
          </a:xfrm>
          <a:prstGeom prst="rect">
            <a:avLst/>
          </a:prstGeom>
          <a:noFill/>
          <a:ln/>
        </p:spPr>
        <p:txBody>
          <a:bodyPr wrap="square" lIns="0" tIns="0" rIns="0" bIns="0" rtlCol="0" anchor="t"/>
          <a:lstStyle/>
          <a:p>
            <a:pPr marL="0" indent="0">
              <a:buNone/>
            </a:pPr>
            <a:r>
              <a:rPr lang="en-US" sz="1100" b="1" dirty="0">
                <a:solidFill>
                  <a:srgbClr val="F0A583"/>
                </a:solidFill>
                <a:latin typeface="Malgun Gothic" pitchFamily="34" charset="0"/>
                <a:ea typeface="Malgun Gothic" pitchFamily="34" charset="-122"/>
                <a:cs typeface="Malgun Gothic" pitchFamily="34" charset="-120"/>
              </a:rPr>
              <a:t>문제</a:t>
            </a:r>
            <a:endParaRPr lang="en-US" sz="1100" dirty="0"/>
          </a:p>
        </p:txBody>
      </p:sp>
      <p:sp>
        <p:nvSpPr>
          <p:cNvPr id="27" name="Text 25"/>
          <p:cNvSpPr txBox="1"/>
          <p:nvPr/>
        </p:nvSpPr>
        <p:spPr>
          <a:xfrm>
            <a:off x="932688" y="5193792"/>
            <a:ext cx="5029200" cy="822960"/>
          </a:xfrm>
          <a:prstGeom prst="rect">
            <a:avLst/>
          </a:prstGeom>
          <a:noFill/>
          <a:ln/>
        </p:spPr>
        <p:txBody>
          <a:bodyPr wrap="square" lIns="0" tIns="0" rIns="0" bIns="0" rtlCol="0" anchor="t"/>
          <a:lstStyle/>
          <a:p>
            <a:pPr marL="0" indent="0">
              <a:lnSpc>
                <a:spcPct val="120000"/>
              </a:lnSpc>
              <a:buNone/>
            </a:pPr>
            <a:r>
              <a:rPr lang="en-US" sz="1300" dirty="0">
                <a:solidFill>
                  <a:srgbClr val="D5E2DC"/>
                </a:solidFill>
                <a:latin typeface="Malgun Gothic" pitchFamily="34" charset="0"/>
                <a:ea typeface="Malgun Gothic" pitchFamily="34" charset="-122"/>
                <a:cs typeface="Malgun Gothic" pitchFamily="34" charset="-120"/>
              </a:rPr>
              <a:t>시장 데이터가 구매로 이어지지 않으면 이벤트성 콘텐츠로 끝나고,</a:t>
            </a:r>
            <a:endParaRPr lang="en-US" sz="1300" dirty="0"/>
          </a:p>
          <a:p>
            <a:pPr marL="0" indent="0">
              <a:lnSpc>
                <a:spcPct val="120000"/>
              </a:lnSpc>
              <a:buNone/>
            </a:pPr>
            <a:r>
              <a:rPr lang="en-US" sz="1300" dirty="0">
                <a:solidFill>
                  <a:srgbClr val="D5E2DC"/>
                </a:solidFill>
                <a:latin typeface="Malgun Gothic" pitchFamily="34" charset="0"/>
                <a:ea typeface="Malgun Gothic" pitchFamily="34" charset="-122"/>
                <a:cs typeface="Malgun Gothic" pitchFamily="34" charset="-120"/>
              </a:rPr>
              <a:t>주말에 이유가 없으면 평일에 만든 방문 루프도 끊깁니다.</a:t>
            </a:r>
            <a:endParaRPr lang="en-US" sz="1300" dirty="0"/>
          </a:p>
        </p:txBody>
      </p:sp>
      <p:sp>
        <p:nvSpPr>
          <p:cNvPr id="28" name="Shape 26"/>
          <p:cNvSpPr/>
          <p:nvPr/>
        </p:nvSpPr>
        <p:spPr>
          <a:xfrm>
            <a:off x="6099048" y="4937760"/>
            <a:ext cx="0" cy="1005840"/>
          </a:xfrm>
          <a:prstGeom prst="line">
            <a:avLst/>
          </a:prstGeom>
          <a:noFill/>
          <a:ln w="12700">
            <a:solidFill>
              <a:srgbClr val="3D6B5E"/>
            </a:solidFill>
            <a:prstDash val="solid"/>
          </a:ln>
        </p:spPr>
      </p:sp>
      <p:sp>
        <p:nvSpPr>
          <p:cNvPr id="29" name="Text 27"/>
          <p:cNvSpPr txBox="1"/>
          <p:nvPr/>
        </p:nvSpPr>
        <p:spPr>
          <a:xfrm>
            <a:off x="6355080" y="4892040"/>
            <a:ext cx="1828800" cy="274320"/>
          </a:xfrm>
          <a:prstGeom prst="rect">
            <a:avLst/>
          </a:prstGeom>
          <a:noFill/>
          <a:ln/>
        </p:spPr>
        <p:txBody>
          <a:bodyPr wrap="square" lIns="0" tIns="0" rIns="0" bIns="0" rtlCol="0" anchor="t"/>
          <a:lstStyle/>
          <a:p>
            <a:pPr marL="0" indent="0">
              <a:buNone/>
            </a:pPr>
            <a:r>
              <a:rPr lang="en-US" sz="1100" b="1" dirty="0">
                <a:solidFill>
                  <a:srgbClr val="F0A583"/>
                </a:solidFill>
                <a:latin typeface="Malgun Gothic" pitchFamily="34" charset="0"/>
                <a:ea typeface="Malgun Gothic" pitchFamily="34" charset="-122"/>
                <a:cs typeface="Malgun Gothic" pitchFamily="34" charset="-120"/>
              </a:rPr>
              <a:t>우리의 해법</a:t>
            </a:r>
            <a:endParaRPr lang="en-US" sz="1100" dirty="0"/>
          </a:p>
        </p:txBody>
      </p:sp>
      <p:sp>
        <p:nvSpPr>
          <p:cNvPr id="30" name="Text 28"/>
          <p:cNvSpPr txBox="1"/>
          <p:nvPr/>
        </p:nvSpPr>
        <p:spPr>
          <a:xfrm>
            <a:off x="6355080" y="5193792"/>
            <a:ext cx="5029200" cy="822960"/>
          </a:xfrm>
          <a:prstGeom prst="rect">
            <a:avLst/>
          </a:prstGeom>
          <a:noFill/>
          <a:ln/>
        </p:spPr>
        <p:txBody>
          <a:bodyPr wrap="square" lIns="0" tIns="0" rIns="0" bIns="0" rtlCol="0" anchor="t"/>
          <a:lstStyle/>
          <a:p>
            <a:pPr marL="0" indent="0">
              <a:lnSpc>
                <a:spcPct val="120000"/>
              </a:lnSpc>
              <a:buNone/>
            </a:pPr>
            <a:r>
              <a:rPr lang="en-US" sz="1300" b="1" dirty="0">
                <a:solidFill>
                  <a:srgbClr val="F6F0E6"/>
                </a:solidFill>
                <a:latin typeface="Malgun Gothic" pitchFamily="34" charset="0"/>
                <a:ea typeface="Malgun Gothic" pitchFamily="34" charset="-122"/>
                <a:cs typeface="Malgun Gothic" pitchFamily="34" charset="-120"/>
              </a:rPr>
              <a:t>평일엔 가격 이벤트, 주말엔 보상 이벤트.</a:t>
            </a:r>
            <a:endParaRPr lang="en-US" sz="1300" dirty="0"/>
          </a:p>
          <a:p>
            <a:pPr marL="0" indent="0">
              <a:lnSpc>
                <a:spcPct val="120000"/>
              </a:lnSpc>
              <a:buNone/>
            </a:pPr>
            <a:r>
              <a:rPr lang="en-US" sz="1300" dirty="0">
                <a:solidFill>
                  <a:srgbClr val="D5E2DC"/>
                </a:solidFill>
                <a:latin typeface="Malgun Gothic" pitchFamily="34" charset="0"/>
                <a:ea typeface="Malgun Gothic" pitchFamily="34" charset="-122"/>
                <a:cs typeface="Malgun Gothic" pitchFamily="34" charset="-120"/>
              </a:rPr>
              <a:t>가격·보상·데이터를 한 서비스 문법으로 묶습니다.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해법</a:t>
            </a:r>
            <a:endParaRPr lang="en-US" sz="1050" dirty="0"/>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03</a:t>
            </a:r>
            <a:endParaRPr lang="en-US" sz="1050" dirty="0"/>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고객이 다시 오고, 사고 싶게 만드는 세 가지 장치</a:t>
            </a:r>
            <a:endParaRPr lang="en-US" sz="2600" dirty="0"/>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RFP의 세 가지 </a:t>
            </a:r>
            <a:r>
              <a:rPr lang="en-US" sz="1350" dirty="0" err="1">
                <a:solidFill>
                  <a:srgbClr val="3D5A50"/>
                </a:solidFill>
                <a:latin typeface="Malgun Gothic" pitchFamily="34" charset="0"/>
                <a:ea typeface="Malgun Gothic" pitchFamily="34" charset="-122"/>
                <a:cs typeface="Malgun Gothic" pitchFamily="34" charset="-120"/>
              </a:rPr>
              <a:t>요구를</a:t>
            </a:r>
            <a:r>
              <a:rPr lang="en-US" sz="1350" dirty="0">
                <a:solidFill>
                  <a:srgbClr val="3D5A50"/>
                </a:solidFill>
                <a:latin typeface="Malgun Gothic" pitchFamily="34" charset="0"/>
                <a:ea typeface="Malgun Gothic" pitchFamily="34" charset="-122"/>
                <a:cs typeface="Malgun Gothic" pitchFamily="34" charset="-120"/>
              </a:rPr>
              <a:t> </a:t>
            </a:r>
            <a:r>
              <a:rPr lang="ko-KR" altLang="en-US" sz="1350" dirty="0">
                <a:solidFill>
                  <a:srgbClr val="3D5A50"/>
                </a:solidFill>
                <a:latin typeface="Malgun Gothic" pitchFamily="34" charset="0"/>
                <a:ea typeface="Malgun Gothic" pitchFamily="34" charset="-122"/>
                <a:cs typeface="Malgun Gothic" pitchFamily="34" charset="-120"/>
              </a:rPr>
              <a:t>각 기능</a:t>
            </a:r>
            <a:r>
              <a:rPr lang="en-US" sz="1350" dirty="0">
                <a:solidFill>
                  <a:srgbClr val="3D5A50"/>
                </a:solidFill>
                <a:latin typeface="Malgun Gothic" pitchFamily="34" charset="0"/>
                <a:ea typeface="Malgun Gothic" pitchFamily="34" charset="-122"/>
                <a:cs typeface="Malgun Gothic" pitchFamily="34" charset="-120"/>
              </a:rPr>
              <a:t>이 맡고, 모두 구매로 이어지게 설계했습니다.</a:t>
            </a:r>
            <a:endParaRPr lang="en-US" sz="1350" dirty="0"/>
          </a:p>
        </p:txBody>
      </p:sp>
      <p:sp>
        <p:nvSpPr>
          <p:cNvPr id="7" name="Shape 5"/>
          <p:cNvSpPr/>
          <p:nvPr/>
        </p:nvSpPr>
        <p:spPr>
          <a:xfrm>
            <a:off x="612648" y="1783080"/>
            <a:ext cx="3474720" cy="3520440"/>
          </a:xfrm>
          <a:prstGeom prst="roundRect">
            <a:avLst>
              <a:gd name="adj" fmla="val 3158"/>
            </a:avLst>
          </a:prstGeom>
          <a:solidFill>
            <a:srgbClr val="FFFFFF"/>
          </a:solidFill>
          <a:ln/>
          <a:effectLst>
            <a:outerShdw blurRad="101600" dist="25400" dir="5400000" algn="bl" rotWithShape="0">
              <a:srgbClr val="123F34">
                <a:alpha val="12000"/>
              </a:srgbClr>
            </a:outerShdw>
          </a:effectLst>
        </p:spPr>
      </p:sp>
      <p:sp>
        <p:nvSpPr>
          <p:cNvPr id="8" name="Text 6"/>
          <p:cNvSpPr txBox="1"/>
          <p:nvPr/>
        </p:nvSpPr>
        <p:spPr>
          <a:xfrm>
            <a:off x="886968" y="2039112"/>
            <a:ext cx="1097280" cy="256032"/>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RFP 01</a:t>
            </a:r>
            <a:endParaRPr lang="en-US" sz="1050" dirty="0"/>
          </a:p>
        </p:txBody>
      </p:sp>
      <p:sp>
        <p:nvSpPr>
          <p:cNvPr id="9" name="Text 7"/>
          <p:cNvSpPr txBox="1"/>
          <p:nvPr/>
        </p:nvSpPr>
        <p:spPr>
          <a:xfrm>
            <a:off x="886968" y="2295144"/>
            <a:ext cx="2926080" cy="457200"/>
          </a:xfrm>
          <a:prstGeom prst="rect">
            <a:avLst/>
          </a:prstGeom>
          <a:noFill/>
          <a:ln/>
        </p:spPr>
        <p:txBody>
          <a:bodyPr wrap="square" lIns="0" tIns="0" rIns="0" bIns="0" rtlCol="0" anchor="ctr"/>
          <a:lstStyle/>
          <a:p>
            <a:pPr marL="0" indent="0">
              <a:buNone/>
            </a:pPr>
            <a:r>
              <a:rPr lang="en-US" sz="2100" b="1" dirty="0">
                <a:solidFill>
                  <a:srgbClr val="123F34"/>
                </a:solidFill>
                <a:latin typeface="Malgun Gothic" pitchFamily="34" charset="0"/>
                <a:ea typeface="Malgun Gothic" pitchFamily="34" charset="-122"/>
                <a:cs typeface="Malgun Gothic" pitchFamily="34" charset="-120"/>
              </a:rPr>
              <a:t>자사몰 재방문</a:t>
            </a:r>
            <a:endParaRPr lang="en-US" sz="2100" dirty="0"/>
          </a:p>
        </p:txBody>
      </p:sp>
      <p:sp>
        <p:nvSpPr>
          <p:cNvPr id="10" name="Shape 8"/>
          <p:cNvSpPr/>
          <p:nvPr/>
        </p:nvSpPr>
        <p:spPr>
          <a:xfrm>
            <a:off x="3264408" y="2057400"/>
            <a:ext cx="548640" cy="548640"/>
          </a:xfrm>
          <a:prstGeom prst="ellipse">
            <a:avLst/>
          </a:prstGeom>
          <a:solidFill>
            <a:srgbClr val="123F34"/>
          </a:solidFill>
          <a:ln/>
        </p:spPr>
      </p:sp>
      <p:pic>
        <p:nvPicPr>
          <p:cNvPr id="11" name="Image 0" descr="preencoded.png"/>
          <p:cNvPicPr>
            <a:picLocks noChangeAspect="1"/>
          </p:cNvPicPr>
          <p:nvPr/>
        </p:nvPicPr>
        <p:blipFill>
          <a:blip r:embed="rId3"/>
          <a:stretch>
            <a:fillRect/>
          </a:stretch>
        </p:blipFill>
        <p:spPr>
          <a:xfrm>
            <a:off x="3412541" y="2205533"/>
            <a:ext cx="252374" cy="252374"/>
          </a:xfrm>
          <a:prstGeom prst="rect">
            <a:avLst/>
          </a:prstGeom>
        </p:spPr>
      </p:pic>
      <p:sp>
        <p:nvSpPr>
          <p:cNvPr id="12" name="Shape 9"/>
          <p:cNvSpPr/>
          <p:nvPr/>
        </p:nvSpPr>
        <p:spPr>
          <a:xfrm>
            <a:off x="886968" y="2862072"/>
            <a:ext cx="2926080" cy="329184"/>
          </a:xfrm>
          <a:prstGeom prst="roundRect">
            <a:avLst>
              <a:gd name="adj" fmla="val 22222"/>
            </a:avLst>
          </a:prstGeom>
          <a:solidFill>
            <a:srgbClr val="DDEAE2"/>
          </a:solidFill>
          <a:ln/>
        </p:spPr>
      </p:sp>
      <p:sp>
        <p:nvSpPr>
          <p:cNvPr id="13" name="Text 10"/>
          <p:cNvSpPr txBox="1"/>
          <p:nvPr/>
        </p:nvSpPr>
        <p:spPr>
          <a:xfrm>
            <a:off x="886968" y="2862072"/>
            <a:ext cx="2926080" cy="329184"/>
          </a:xfrm>
          <a:prstGeom prst="rect">
            <a:avLst/>
          </a:prstGeom>
          <a:noFill/>
          <a:ln/>
        </p:spPr>
        <p:txBody>
          <a:bodyPr wrap="square" lIns="0" tIns="0" rIns="0" bIns="0" rtlCol="0" anchor="ctr"/>
          <a:lstStyle/>
          <a:p>
            <a:pPr marL="0" indent="0" algn="ctr">
              <a:buNone/>
            </a:pPr>
            <a:r>
              <a:rPr lang="en-US" sz="1100" b="1" kern="0" spc="50" dirty="0">
                <a:solidFill>
                  <a:srgbClr val="123F34"/>
                </a:solidFill>
                <a:latin typeface="Malgun Gothic" pitchFamily="34" charset="0"/>
                <a:ea typeface="Malgun Gothic" pitchFamily="34" charset="-122"/>
                <a:cs typeface="Malgun Gothic" pitchFamily="34" charset="-120"/>
              </a:rPr>
              <a:t>평일 BREAD MARKET</a:t>
            </a:r>
            <a:endParaRPr lang="en-US" sz="1100" dirty="0"/>
          </a:p>
        </p:txBody>
      </p:sp>
      <p:sp>
        <p:nvSpPr>
          <p:cNvPr id="14" name="Text 11"/>
          <p:cNvSpPr txBox="1"/>
          <p:nvPr/>
        </p:nvSpPr>
        <p:spPr>
          <a:xfrm>
            <a:off x="886968" y="3319272"/>
            <a:ext cx="2926080" cy="685800"/>
          </a:xfrm>
          <a:prstGeom prst="rect">
            <a:avLst/>
          </a:prstGeom>
          <a:noFill/>
          <a:ln/>
        </p:spPr>
        <p:txBody>
          <a:bodyPr wrap="square" lIns="0" tIns="0" rIns="0" bIns="0" rtlCol="0" anchor="t"/>
          <a:lstStyle/>
          <a:p>
            <a:pPr marL="0" indent="0">
              <a:lnSpc>
                <a:spcPct val="120000"/>
              </a:lnSpc>
              <a:buNone/>
            </a:pPr>
            <a:r>
              <a:rPr lang="en-US" sz="1250" dirty="0">
                <a:solidFill>
                  <a:srgbClr val="3D5A50"/>
                </a:solidFill>
                <a:latin typeface="Malgun Gothic" pitchFamily="34" charset="0"/>
                <a:ea typeface="Malgun Gothic" pitchFamily="34" charset="-122"/>
                <a:cs typeface="Malgun Gothic" pitchFamily="34" charset="-120"/>
              </a:rPr>
              <a:t>시장 데이터와 할인율을 연결해</a:t>
            </a:r>
            <a:endParaRPr lang="en-US" sz="1250" dirty="0"/>
          </a:p>
          <a:p>
            <a:pPr marL="0" indent="0">
              <a:lnSpc>
                <a:spcPct val="120000"/>
              </a:lnSpc>
              <a:buNone/>
            </a:pPr>
            <a:r>
              <a:rPr lang="en-US" sz="1250" dirty="0">
                <a:solidFill>
                  <a:srgbClr val="3D5A50"/>
                </a:solidFill>
                <a:latin typeface="Malgun Gothic" pitchFamily="34" charset="0"/>
                <a:ea typeface="Malgun Gothic" pitchFamily="34" charset="-122"/>
                <a:cs typeface="Malgun Gothic" pitchFamily="34" charset="-120"/>
              </a:rPr>
              <a:t>매일 방문할 이유를 만듭니다</a:t>
            </a:r>
            <a:endParaRPr lang="en-US" sz="1250" dirty="0"/>
          </a:p>
        </p:txBody>
      </p:sp>
      <p:sp>
        <p:nvSpPr>
          <p:cNvPr id="15" name="Shape 12"/>
          <p:cNvSpPr/>
          <p:nvPr/>
        </p:nvSpPr>
        <p:spPr>
          <a:xfrm>
            <a:off x="612648" y="4160520"/>
            <a:ext cx="3474720" cy="1143000"/>
          </a:xfrm>
          <a:prstGeom prst="roundRect">
            <a:avLst>
              <a:gd name="adj" fmla="val 9600"/>
            </a:avLst>
          </a:prstGeom>
          <a:solidFill>
            <a:srgbClr val="123F34"/>
          </a:solidFill>
          <a:ln/>
        </p:spPr>
      </p:sp>
      <p:sp>
        <p:nvSpPr>
          <p:cNvPr id="16" name="Shape 13"/>
          <p:cNvSpPr/>
          <p:nvPr/>
        </p:nvSpPr>
        <p:spPr>
          <a:xfrm>
            <a:off x="612648" y="4160520"/>
            <a:ext cx="3474720" cy="182880"/>
          </a:xfrm>
          <a:prstGeom prst="rect">
            <a:avLst/>
          </a:prstGeom>
          <a:solidFill>
            <a:srgbClr val="123F34"/>
          </a:solidFill>
          <a:ln/>
        </p:spPr>
      </p:sp>
      <p:sp>
        <p:nvSpPr>
          <p:cNvPr id="17" name="Text 14"/>
          <p:cNvSpPr txBox="1"/>
          <p:nvPr/>
        </p:nvSpPr>
        <p:spPr>
          <a:xfrm>
            <a:off x="886968" y="4270248"/>
            <a:ext cx="2926080" cy="256032"/>
          </a:xfrm>
          <a:prstGeom prst="rect">
            <a:avLst/>
          </a:prstGeom>
          <a:noFill/>
          <a:ln/>
        </p:spPr>
        <p:txBody>
          <a:bodyPr wrap="square" lIns="0" tIns="0" rIns="0" bIns="0" rtlCol="0" anchor="t"/>
          <a:lstStyle/>
          <a:p>
            <a:pPr marL="0" indent="0">
              <a:buNone/>
            </a:pPr>
            <a:r>
              <a:rPr lang="en-US" sz="1000" b="1" dirty="0">
                <a:solidFill>
                  <a:srgbClr val="F0A583"/>
                </a:solidFill>
                <a:latin typeface="Malgun Gothic" pitchFamily="34" charset="0"/>
                <a:ea typeface="Malgun Gothic" pitchFamily="34" charset="-122"/>
                <a:cs typeface="Malgun Gothic" pitchFamily="34" charset="-120"/>
              </a:rPr>
              <a:t>고객은 이렇게 움직입니다</a:t>
            </a:r>
            <a:endParaRPr lang="en-US" sz="1000" dirty="0"/>
          </a:p>
        </p:txBody>
      </p:sp>
      <p:sp>
        <p:nvSpPr>
          <p:cNvPr id="18" name="Text 15"/>
          <p:cNvSpPr txBox="1"/>
          <p:nvPr/>
        </p:nvSpPr>
        <p:spPr>
          <a:xfrm>
            <a:off x="886968" y="4526280"/>
            <a:ext cx="2926080" cy="658368"/>
          </a:xfrm>
          <a:prstGeom prst="rect">
            <a:avLst/>
          </a:prstGeom>
          <a:noFill/>
          <a:ln/>
        </p:spPr>
        <p:txBody>
          <a:bodyPr wrap="square" lIns="0" tIns="0" rIns="0" bIns="0" rtlCol="0" anchor="ctr"/>
          <a:lstStyle/>
          <a:p>
            <a:pPr marL="0" indent="0">
              <a:lnSpc>
                <a:spcPct val="115000"/>
              </a:lnSpc>
              <a:buNone/>
            </a:pPr>
            <a:r>
              <a:rPr lang="en-US" sz="1400" b="1" dirty="0">
                <a:solidFill>
                  <a:srgbClr val="F6F0E6"/>
                </a:solidFill>
                <a:latin typeface="Malgun Gothic" pitchFamily="34" charset="0"/>
                <a:ea typeface="Malgun Gothic" pitchFamily="34" charset="-122"/>
                <a:cs typeface="Malgun Gothic" pitchFamily="34" charset="-120"/>
              </a:rPr>
              <a:t>오늘의 가격을 확인하러</a:t>
            </a:r>
            <a:endParaRPr lang="en-US" sz="1400" dirty="0"/>
          </a:p>
          <a:p>
            <a:pPr marL="0" indent="0">
              <a:lnSpc>
                <a:spcPct val="115000"/>
              </a:lnSpc>
              <a:buNone/>
            </a:pPr>
            <a:r>
              <a:rPr lang="en-US" sz="1400" b="1" dirty="0">
                <a:solidFill>
                  <a:srgbClr val="F6F0E6"/>
                </a:solidFill>
                <a:latin typeface="Malgun Gothic" pitchFamily="34" charset="0"/>
                <a:ea typeface="Malgun Gothic" pitchFamily="34" charset="-122"/>
                <a:cs typeface="Malgun Gothic" pitchFamily="34" charset="-120"/>
              </a:rPr>
              <a:t>매일 들어온다</a:t>
            </a:r>
            <a:endParaRPr lang="en-US" sz="1400" dirty="0"/>
          </a:p>
        </p:txBody>
      </p:sp>
      <p:sp>
        <p:nvSpPr>
          <p:cNvPr id="19" name="Shape 16"/>
          <p:cNvSpPr/>
          <p:nvPr/>
        </p:nvSpPr>
        <p:spPr>
          <a:xfrm>
            <a:off x="4361688" y="1783080"/>
            <a:ext cx="3474720" cy="3520440"/>
          </a:xfrm>
          <a:prstGeom prst="roundRect">
            <a:avLst>
              <a:gd name="adj" fmla="val 3158"/>
            </a:avLst>
          </a:prstGeom>
          <a:solidFill>
            <a:srgbClr val="FFFFFF"/>
          </a:solidFill>
          <a:ln/>
          <a:effectLst>
            <a:outerShdw blurRad="101600" dist="25400" dir="5400000" algn="bl" rotWithShape="0">
              <a:srgbClr val="123F34">
                <a:alpha val="12000"/>
              </a:srgbClr>
            </a:outerShdw>
          </a:effectLst>
        </p:spPr>
      </p:sp>
      <p:sp>
        <p:nvSpPr>
          <p:cNvPr id="20" name="Text 17"/>
          <p:cNvSpPr txBox="1"/>
          <p:nvPr/>
        </p:nvSpPr>
        <p:spPr>
          <a:xfrm>
            <a:off x="4636008" y="2039112"/>
            <a:ext cx="1097280" cy="256032"/>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RFP 02</a:t>
            </a:r>
            <a:endParaRPr lang="en-US" sz="1050" dirty="0"/>
          </a:p>
        </p:txBody>
      </p:sp>
      <p:sp>
        <p:nvSpPr>
          <p:cNvPr id="21" name="Text 18"/>
          <p:cNvSpPr txBox="1"/>
          <p:nvPr/>
        </p:nvSpPr>
        <p:spPr>
          <a:xfrm>
            <a:off x="4636008" y="2295144"/>
            <a:ext cx="2926080" cy="457200"/>
          </a:xfrm>
          <a:prstGeom prst="rect">
            <a:avLst/>
          </a:prstGeom>
          <a:noFill/>
          <a:ln/>
        </p:spPr>
        <p:txBody>
          <a:bodyPr wrap="square" lIns="0" tIns="0" rIns="0" bIns="0" rtlCol="0" anchor="ctr"/>
          <a:lstStyle/>
          <a:p>
            <a:pPr marL="0" indent="0">
              <a:buNone/>
            </a:pPr>
            <a:r>
              <a:rPr lang="en-US" sz="2100" b="1" dirty="0">
                <a:solidFill>
                  <a:srgbClr val="123F34"/>
                </a:solidFill>
                <a:latin typeface="Malgun Gothic" pitchFamily="34" charset="0"/>
                <a:ea typeface="Malgun Gothic" pitchFamily="34" charset="-122"/>
                <a:cs typeface="Malgun Gothic" pitchFamily="34" charset="-120"/>
              </a:rPr>
              <a:t>개인화 추천</a:t>
            </a:r>
            <a:endParaRPr lang="en-US" sz="2100" dirty="0"/>
          </a:p>
        </p:txBody>
      </p:sp>
      <p:sp>
        <p:nvSpPr>
          <p:cNvPr id="22" name="Shape 19"/>
          <p:cNvSpPr/>
          <p:nvPr/>
        </p:nvSpPr>
        <p:spPr>
          <a:xfrm>
            <a:off x="7013448" y="2057400"/>
            <a:ext cx="548640" cy="548640"/>
          </a:xfrm>
          <a:prstGeom prst="ellipse">
            <a:avLst/>
          </a:prstGeom>
          <a:solidFill>
            <a:srgbClr val="C85B35"/>
          </a:solidFill>
          <a:ln/>
        </p:spPr>
      </p:sp>
      <p:pic>
        <p:nvPicPr>
          <p:cNvPr id="23" name="Image 1" descr="preencoded.png"/>
          <p:cNvPicPr>
            <a:picLocks noChangeAspect="1"/>
          </p:cNvPicPr>
          <p:nvPr/>
        </p:nvPicPr>
        <p:blipFill>
          <a:blip r:embed="rId4"/>
          <a:stretch>
            <a:fillRect/>
          </a:stretch>
        </p:blipFill>
        <p:spPr>
          <a:xfrm>
            <a:off x="7161581" y="2205533"/>
            <a:ext cx="252374" cy="252374"/>
          </a:xfrm>
          <a:prstGeom prst="rect">
            <a:avLst/>
          </a:prstGeom>
        </p:spPr>
      </p:pic>
      <p:sp>
        <p:nvSpPr>
          <p:cNvPr id="24" name="Shape 20"/>
          <p:cNvSpPr/>
          <p:nvPr/>
        </p:nvSpPr>
        <p:spPr>
          <a:xfrm>
            <a:off x="4636008" y="2862072"/>
            <a:ext cx="2926080" cy="329184"/>
          </a:xfrm>
          <a:prstGeom prst="roundRect">
            <a:avLst>
              <a:gd name="adj" fmla="val 22222"/>
            </a:avLst>
          </a:prstGeom>
          <a:solidFill>
            <a:srgbClr val="DDEAE2"/>
          </a:solidFill>
          <a:ln/>
        </p:spPr>
      </p:sp>
      <p:sp>
        <p:nvSpPr>
          <p:cNvPr id="25" name="Text 21"/>
          <p:cNvSpPr txBox="1"/>
          <p:nvPr/>
        </p:nvSpPr>
        <p:spPr>
          <a:xfrm>
            <a:off x="4636008" y="2862072"/>
            <a:ext cx="2926080" cy="329184"/>
          </a:xfrm>
          <a:prstGeom prst="rect">
            <a:avLst/>
          </a:prstGeom>
          <a:noFill/>
          <a:ln/>
        </p:spPr>
        <p:txBody>
          <a:bodyPr wrap="square" lIns="0" tIns="0" rIns="0" bIns="0" rtlCol="0" anchor="ctr"/>
          <a:lstStyle/>
          <a:p>
            <a:pPr marL="0" indent="0" algn="ctr">
              <a:buNone/>
            </a:pPr>
            <a:r>
              <a:rPr lang="en-US" sz="1100" b="1" kern="0" spc="50" dirty="0">
                <a:solidFill>
                  <a:srgbClr val="123F34"/>
                </a:solidFill>
                <a:latin typeface="Malgun Gothic" pitchFamily="34" charset="0"/>
                <a:ea typeface="Malgun Gothic" pitchFamily="34" charset="-122"/>
                <a:cs typeface="Malgun Gothic" pitchFamily="34" charset="-120"/>
              </a:rPr>
              <a:t>MY BREAD PORTFOLIO</a:t>
            </a:r>
            <a:endParaRPr lang="en-US" sz="1100" dirty="0"/>
          </a:p>
        </p:txBody>
      </p:sp>
      <p:sp>
        <p:nvSpPr>
          <p:cNvPr id="26" name="Text 22"/>
          <p:cNvSpPr txBox="1"/>
          <p:nvPr/>
        </p:nvSpPr>
        <p:spPr>
          <a:xfrm>
            <a:off x="4636008" y="3319272"/>
            <a:ext cx="2926080" cy="685800"/>
          </a:xfrm>
          <a:prstGeom prst="rect">
            <a:avLst/>
          </a:prstGeom>
          <a:noFill/>
          <a:ln/>
        </p:spPr>
        <p:txBody>
          <a:bodyPr wrap="square" lIns="0" tIns="0" rIns="0" bIns="0" rtlCol="0" anchor="t"/>
          <a:lstStyle/>
          <a:p>
            <a:pPr marL="0" indent="0">
              <a:lnSpc>
                <a:spcPct val="120000"/>
              </a:lnSpc>
              <a:buNone/>
            </a:pPr>
            <a:r>
              <a:rPr lang="en-US" sz="1250" dirty="0" err="1">
                <a:solidFill>
                  <a:srgbClr val="3D5A50"/>
                </a:solidFill>
                <a:latin typeface="Malgun Gothic" pitchFamily="34" charset="0"/>
                <a:ea typeface="Malgun Gothic" pitchFamily="34" charset="-122"/>
                <a:cs typeface="Malgun Gothic" pitchFamily="34" charset="-120"/>
              </a:rPr>
              <a:t>관심</a:t>
            </a:r>
            <a:r>
              <a:rPr lang="en-US" sz="1250" dirty="0">
                <a:solidFill>
                  <a:srgbClr val="3D5A50"/>
                </a:solidFill>
                <a:latin typeface="Malgun Gothic" pitchFamily="34" charset="0"/>
                <a:ea typeface="Malgun Gothic" pitchFamily="34" charset="-122"/>
                <a:cs typeface="Malgun Gothic" pitchFamily="34" charset="-120"/>
              </a:rPr>
              <a:t> </a:t>
            </a:r>
            <a:r>
              <a:rPr lang="en-US" sz="1250" dirty="0" err="1">
                <a:solidFill>
                  <a:srgbClr val="3D5A50"/>
                </a:solidFill>
                <a:latin typeface="Malgun Gothic" pitchFamily="34" charset="0"/>
                <a:ea typeface="Malgun Gothic" pitchFamily="34" charset="-122"/>
                <a:cs typeface="Malgun Gothic" pitchFamily="34" charset="-120"/>
              </a:rPr>
              <a:t>이력으로</a:t>
            </a:r>
            <a:r>
              <a:rPr lang="en-US" sz="1250" dirty="0">
                <a:solidFill>
                  <a:srgbClr val="3D5A50"/>
                </a:solidFill>
                <a:latin typeface="Malgun Gothic" pitchFamily="34" charset="0"/>
                <a:ea typeface="Malgun Gothic" pitchFamily="34" charset="-122"/>
                <a:cs typeface="Malgun Gothic" pitchFamily="34" charset="-120"/>
              </a:rPr>
              <a:t> 알림을 보내고</a:t>
            </a:r>
            <a:endParaRPr lang="en-US" sz="1250" dirty="0"/>
          </a:p>
          <a:p>
            <a:pPr marL="0" indent="0">
              <a:lnSpc>
                <a:spcPct val="120000"/>
              </a:lnSpc>
              <a:buNone/>
            </a:pPr>
            <a:r>
              <a:rPr lang="en-US" sz="1250" dirty="0">
                <a:solidFill>
                  <a:srgbClr val="3D5A50"/>
                </a:solidFill>
                <a:latin typeface="Malgun Gothic" pitchFamily="34" charset="0"/>
                <a:ea typeface="Malgun Gothic" pitchFamily="34" charset="-122"/>
                <a:cs typeface="Malgun Gothic" pitchFamily="34" charset="-120"/>
              </a:rPr>
              <a:t>상품을 제안할 데이터를 모읍니다</a:t>
            </a:r>
            <a:endParaRPr lang="en-US" sz="1250" dirty="0"/>
          </a:p>
        </p:txBody>
      </p:sp>
      <p:sp>
        <p:nvSpPr>
          <p:cNvPr id="27" name="Shape 23"/>
          <p:cNvSpPr/>
          <p:nvPr/>
        </p:nvSpPr>
        <p:spPr>
          <a:xfrm>
            <a:off x="4361688" y="4160520"/>
            <a:ext cx="3474720" cy="1143000"/>
          </a:xfrm>
          <a:prstGeom prst="roundRect">
            <a:avLst>
              <a:gd name="adj" fmla="val 9600"/>
            </a:avLst>
          </a:prstGeom>
          <a:solidFill>
            <a:srgbClr val="123F34"/>
          </a:solidFill>
          <a:ln/>
        </p:spPr>
      </p:sp>
      <p:sp>
        <p:nvSpPr>
          <p:cNvPr id="28" name="Shape 24"/>
          <p:cNvSpPr/>
          <p:nvPr/>
        </p:nvSpPr>
        <p:spPr>
          <a:xfrm>
            <a:off x="4361688" y="4160520"/>
            <a:ext cx="3474720" cy="182880"/>
          </a:xfrm>
          <a:prstGeom prst="rect">
            <a:avLst/>
          </a:prstGeom>
          <a:solidFill>
            <a:srgbClr val="123F34"/>
          </a:solidFill>
          <a:ln/>
        </p:spPr>
      </p:sp>
      <p:sp>
        <p:nvSpPr>
          <p:cNvPr id="29" name="Text 25"/>
          <p:cNvSpPr txBox="1"/>
          <p:nvPr/>
        </p:nvSpPr>
        <p:spPr>
          <a:xfrm>
            <a:off x="4636008" y="4270248"/>
            <a:ext cx="2926080" cy="256032"/>
          </a:xfrm>
          <a:prstGeom prst="rect">
            <a:avLst/>
          </a:prstGeom>
          <a:noFill/>
          <a:ln/>
        </p:spPr>
        <p:txBody>
          <a:bodyPr wrap="square" lIns="0" tIns="0" rIns="0" bIns="0" rtlCol="0" anchor="t"/>
          <a:lstStyle/>
          <a:p>
            <a:pPr marL="0" indent="0">
              <a:buNone/>
            </a:pPr>
            <a:r>
              <a:rPr lang="en-US" sz="1000" b="1" dirty="0">
                <a:solidFill>
                  <a:srgbClr val="F0A583"/>
                </a:solidFill>
                <a:latin typeface="Malgun Gothic" pitchFamily="34" charset="0"/>
                <a:ea typeface="Malgun Gothic" pitchFamily="34" charset="-122"/>
                <a:cs typeface="Malgun Gothic" pitchFamily="34" charset="-120"/>
              </a:rPr>
              <a:t>고객은 이렇게 움직입니다</a:t>
            </a:r>
            <a:endParaRPr lang="en-US" sz="1000" dirty="0"/>
          </a:p>
        </p:txBody>
      </p:sp>
      <p:sp>
        <p:nvSpPr>
          <p:cNvPr id="30" name="Text 26"/>
          <p:cNvSpPr txBox="1"/>
          <p:nvPr/>
        </p:nvSpPr>
        <p:spPr>
          <a:xfrm>
            <a:off x="4636008" y="4526280"/>
            <a:ext cx="2926080" cy="658368"/>
          </a:xfrm>
          <a:prstGeom prst="rect">
            <a:avLst/>
          </a:prstGeom>
          <a:noFill/>
          <a:ln/>
        </p:spPr>
        <p:txBody>
          <a:bodyPr wrap="square" lIns="0" tIns="0" rIns="0" bIns="0" rtlCol="0" anchor="ctr"/>
          <a:lstStyle/>
          <a:p>
            <a:pPr marL="0" indent="0">
              <a:lnSpc>
                <a:spcPct val="115000"/>
              </a:lnSpc>
              <a:buNone/>
            </a:pPr>
            <a:r>
              <a:rPr lang="en-US" sz="1400" b="1" dirty="0" err="1">
                <a:solidFill>
                  <a:srgbClr val="F6F0E6"/>
                </a:solidFill>
                <a:latin typeface="Malgun Gothic" pitchFamily="34" charset="0"/>
                <a:ea typeface="Malgun Gothic" pitchFamily="34" charset="-122"/>
                <a:cs typeface="Malgun Gothic" pitchFamily="34" charset="-120"/>
              </a:rPr>
              <a:t>관심빵이</a:t>
            </a:r>
            <a:r>
              <a:rPr lang="en-US" sz="1400" b="1" dirty="0">
                <a:solidFill>
                  <a:srgbClr val="F6F0E6"/>
                </a:solidFill>
                <a:latin typeface="Malgun Gothic" pitchFamily="34" charset="0"/>
                <a:ea typeface="Malgun Gothic" pitchFamily="34" charset="-122"/>
                <a:cs typeface="Malgun Gothic" pitchFamily="34" charset="-120"/>
              </a:rPr>
              <a:t> 할인되면</a:t>
            </a:r>
            <a:endParaRPr lang="en-US" sz="1400" dirty="0"/>
          </a:p>
          <a:p>
            <a:pPr marL="0" indent="0">
              <a:lnSpc>
                <a:spcPct val="115000"/>
              </a:lnSpc>
              <a:buNone/>
            </a:pPr>
            <a:r>
              <a:rPr lang="en-US" sz="1400" b="1" dirty="0">
                <a:solidFill>
                  <a:srgbClr val="F6F0E6"/>
                </a:solidFill>
                <a:latin typeface="Malgun Gothic" pitchFamily="34" charset="0"/>
                <a:ea typeface="Malgun Gothic" pitchFamily="34" charset="-122"/>
                <a:cs typeface="Malgun Gothic" pitchFamily="34" charset="-120"/>
              </a:rPr>
              <a:t>알림을 받고 산다</a:t>
            </a:r>
            <a:endParaRPr lang="en-US" sz="1400" dirty="0"/>
          </a:p>
        </p:txBody>
      </p:sp>
      <p:sp>
        <p:nvSpPr>
          <p:cNvPr id="31" name="Shape 27"/>
          <p:cNvSpPr/>
          <p:nvPr/>
        </p:nvSpPr>
        <p:spPr>
          <a:xfrm>
            <a:off x="8110728" y="1783080"/>
            <a:ext cx="3474720" cy="3520440"/>
          </a:xfrm>
          <a:prstGeom prst="roundRect">
            <a:avLst>
              <a:gd name="adj" fmla="val 3158"/>
            </a:avLst>
          </a:prstGeom>
          <a:solidFill>
            <a:srgbClr val="FFFFFF"/>
          </a:solidFill>
          <a:ln/>
          <a:effectLst>
            <a:outerShdw blurRad="101600" dist="25400" dir="5400000" algn="bl" rotWithShape="0">
              <a:srgbClr val="123F34">
                <a:alpha val="12000"/>
              </a:srgbClr>
            </a:outerShdw>
          </a:effectLst>
        </p:spPr>
      </p:sp>
      <p:sp>
        <p:nvSpPr>
          <p:cNvPr id="32" name="Text 28"/>
          <p:cNvSpPr txBox="1"/>
          <p:nvPr/>
        </p:nvSpPr>
        <p:spPr>
          <a:xfrm>
            <a:off x="8385048" y="2039112"/>
            <a:ext cx="1097280" cy="256032"/>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RFP 03</a:t>
            </a:r>
            <a:endParaRPr lang="en-US" sz="1050" dirty="0"/>
          </a:p>
        </p:txBody>
      </p:sp>
      <p:sp>
        <p:nvSpPr>
          <p:cNvPr id="33" name="Text 29"/>
          <p:cNvSpPr txBox="1"/>
          <p:nvPr/>
        </p:nvSpPr>
        <p:spPr>
          <a:xfrm>
            <a:off x="8385048" y="2295144"/>
            <a:ext cx="2926080" cy="457200"/>
          </a:xfrm>
          <a:prstGeom prst="rect">
            <a:avLst/>
          </a:prstGeom>
          <a:noFill/>
          <a:ln/>
        </p:spPr>
        <p:txBody>
          <a:bodyPr wrap="square" lIns="0" tIns="0" rIns="0" bIns="0" rtlCol="0" anchor="ctr"/>
          <a:lstStyle/>
          <a:p>
            <a:pPr marL="0" indent="0">
              <a:buNone/>
            </a:pPr>
            <a:r>
              <a:rPr lang="en-US" sz="2100" b="1" dirty="0">
                <a:solidFill>
                  <a:srgbClr val="123F34"/>
                </a:solidFill>
                <a:latin typeface="Malgun Gothic" pitchFamily="34" charset="0"/>
                <a:ea typeface="Malgun Gothic" pitchFamily="34" charset="-122"/>
                <a:cs typeface="Malgun Gothic" pitchFamily="34" charset="-120"/>
              </a:rPr>
              <a:t>자발적 참여</a:t>
            </a:r>
            <a:endParaRPr lang="en-US" sz="2100" dirty="0"/>
          </a:p>
        </p:txBody>
      </p:sp>
      <p:sp>
        <p:nvSpPr>
          <p:cNvPr id="34" name="Shape 30"/>
          <p:cNvSpPr/>
          <p:nvPr/>
        </p:nvSpPr>
        <p:spPr>
          <a:xfrm>
            <a:off x="10762488" y="2057400"/>
            <a:ext cx="548640" cy="548640"/>
          </a:xfrm>
          <a:prstGeom prst="ellipse">
            <a:avLst/>
          </a:prstGeom>
          <a:solidFill>
            <a:srgbClr val="123F34"/>
          </a:solidFill>
          <a:ln/>
        </p:spPr>
      </p:sp>
      <p:pic>
        <p:nvPicPr>
          <p:cNvPr id="35" name="Image 2" descr="preencoded.png"/>
          <p:cNvPicPr>
            <a:picLocks noChangeAspect="1"/>
          </p:cNvPicPr>
          <p:nvPr/>
        </p:nvPicPr>
        <p:blipFill>
          <a:blip r:embed="rId5"/>
          <a:stretch>
            <a:fillRect/>
          </a:stretch>
        </p:blipFill>
        <p:spPr>
          <a:xfrm>
            <a:off x="10910621" y="2205533"/>
            <a:ext cx="252374" cy="252374"/>
          </a:xfrm>
          <a:prstGeom prst="rect">
            <a:avLst/>
          </a:prstGeom>
        </p:spPr>
      </p:pic>
      <p:sp>
        <p:nvSpPr>
          <p:cNvPr id="36" name="Shape 31"/>
          <p:cNvSpPr/>
          <p:nvPr/>
        </p:nvSpPr>
        <p:spPr>
          <a:xfrm>
            <a:off x="8385048" y="2862072"/>
            <a:ext cx="2926080" cy="329184"/>
          </a:xfrm>
          <a:prstGeom prst="roundRect">
            <a:avLst>
              <a:gd name="adj" fmla="val 22222"/>
            </a:avLst>
          </a:prstGeom>
          <a:solidFill>
            <a:srgbClr val="DDEAE2"/>
          </a:solidFill>
          <a:ln/>
        </p:spPr>
      </p:sp>
      <p:sp>
        <p:nvSpPr>
          <p:cNvPr id="37" name="Text 32"/>
          <p:cNvSpPr txBox="1"/>
          <p:nvPr/>
        </p:nvSpPr>
        <p:spPr>
          <a:xfrm>
            <a:off x="8385048" y="2862072"/>
            <a:ext cx="2926080" cy="329184"/>
          </a:xfrm>
          <a:prstGeom prst="rect">
            <a:avLst/>
          </a:prstGeom>
          <a:noFill/>
          <a:ln/>
        </p:spPr>
        <p:txBody>
          <a:bodyPr wrap="square" lIns="0" tIns="0" rIns="0" bIns="0" rtlCol="0" anchor="ctr"/>
          <a:lstStyle/>
          <a:p>
            <a:pPr marL="0" indent="0" algn="ctr">
              <a:buNone/>
            </a:pPr>
            <a:r>
              <a:rPr lang="en-US" sz="1100" b="1" kern="0" spc="50" dirty="0">
                <a:solidFill>
                  <a:srgbClr val="123F34"/>
                </a:solidFill>
                <a:latin typeface="Malgun Gothic" pitchFamily="34" charset="0"/>
                <a:ea typeface="Malgun Gothic" pitchFamily="34" charset="-122"/>
                <a:cs typeface="Malgun Gothic" pitchFamily="34" charset="-120"/>
              </a:rPr>
              <a:t>WEEKEND DIVIDEND</a:t>
            </a:r>
            <a:endParaRPr lang="en-US" sz="1100" dirty="0"/>
          </a:p>
        </p:txBody>
      </p:sp>
      <p:sp>
        <p:nvSpPr>
          <p:cNvPr id="38" name="Text 33"/>
          <p:cNvSpPr txBox="1"/>
          <p:nvPr/>
        </p:nvSpPr>
        <p:spPr>
          <a:xfrm>
            <a:off x="8385048" y="3319272"/>
            <a:ext cx="2926080" cy="685800"/>
          </a:xfrm>
          <a:prstGeom prst="rect">
            <a:avLst/>
          </a:prstGeom>
          <a:noFill/>
          <a:ln/>
        </p:spPr>
        <p:txBody>
          <a:bodyPr wrap="square" lIns="0" tIns="0" rIns="0" bIns="0" rtlCol="0" anchor="t"/>
          <a:lstStyle/>
          <a:p>
            <a:pPr marL="0" indent="0">
              <a:lnSpc>
                <a:spcPct val="120000"/>
              </a:lnSpc>
              <a:buNone/>
            </a:pPr>
            <a:r>
              <a:rPr lang="en-US" sz="1250" dirty="0">
                <a:solidFill>
                  <a:srgbClr val="3D5A50"/>
                </a:solidFill>
                <a:latin typeface="Malgun Gothic" pitchFamily="34" charset="0"/>
                <a:ea typeface="Malgun Gothic" pitchFamily="34" charset="-122"/>
                <a:cs typeface="Malgun Gothic" pitchFamily="34" charset="-120"/>
              </a:rPr>
              <a:t>활동을 기록해 보상하고</a:t>
            </a:r>
            <a:endParaRPr lang="en-US" sz="1250" dirty="0"/>
          </a:p>
          <a:p>
            <a:pPr marL="0" indent="0">
              <a:lnSpc>
                <a:spcPct val="120000"/>
              </a:lnSpc>
              <a:buNone/>
            </a:pPr>
            <a:r>
              <a:rPr lang="en-US" sz="1250" dirty="0">
                <a:solidFill>
                  <a:srgbClr val="3D5A50"/>
                </a:solidFill>
                <a:latin typeface="Malgun Gothic" pitchFamily="34" charset="0"/>
                <a:ea typeface="Malgun Gothic" pitchFamily="34" charset="-122"/>
                <a:cs typeface="Malgun Gothic" pitchFamily="34" charset="-120"/>
              </a:rPr>
              <a:t>구매까지 이어지게 합니다</a:t>
            </a:r>
            <a:endParaRPr lang="en-US" sz="1250" dirty="0"/>
          </a:p>
        </p:txBody>
      </p:sp>
      <p:sp>
        <p:nvSpPr>
          <p:cNvPr id="39" name="Shape 34"/>
          <p:cNvSpPr/>
          <p:nvPr/>
        </p:nvSpPr>
        <p:spPr>
          <a:xfrm>
            <a:off x="8110728" y="4160520"/>
            <a:ext cx="3474720" cy="1143000"/>
          </a:xfrm>
          <a:prstGeom prst="roundRect">
            <a:avLst>
              <a:gd name="adj" fmla="val 9600"/>
            </a:avLst>
          </a:prstGeom>
          <a:solidFill>
            <a:srgbClr val="123F34"/>
          </a:solidFill>
          <a:ln/>
        </p:spPr>
      </p:sp>
      <p:sp>
        <p:nvSpPr>
          <p:cNvPr id="40" name="Shape 35"/>
          <p:cNvSpPr/>
          <p:nvPr/>
        </p:nvSpPr>
        <p:spPr>
          <a:xfrm>
            <a:off x="8110728" y="4160520"/>
            <a:ext cx="3474720" cy="182880"/>
          </a:xfrm>
          <a:prstGeom prst="rect">
            <a:avLst/>
          </a:prstGeom>
          <a:solidFill>
            <a:srgbClr val="123F34"/>
          </a:solidFill>
          <a:ln/>
        </p:spPr>
      </p:sp>
      <p:sp>
        <p:nvSpPr>
          <p:cNvPr id="41" name="Text 36"/>
          <p:cNvSpPr txBox="1"/>
          <p:nvPr/>
        </p:nvSpPr>
        <p:spPr>
          <a:xfrm>
            <a:off x="8385048" y="4270248"/>
            <a:ext cx="2926080" cy="256032"/>
          </a:xfrm>
          <a:prstGeom prst="rect">
            <a:avLst/>
          </a:prstGeom>
          <a:noFill/>
          <a:ln/>
        </p:spPr>
        <p:txBody>
          <a:bodyPr wrap="square" lIns="0" tIns="0" rIns="0" bIns="0" rtlCol="0" anchor="t"/>
          <a:lstStyle/>
          <a:p>
            <a:pPr marL="0" indent="0">
              <a:buNone/>
            </a:pPr>
            <a:r>
              <a:rPr lang="en-US" sz="1000" b="1" dirty="0">
                <a:solidFill>
                  <a:srgbClr val="F0A583"/>
                </a:solidFill>
                <a:latin typeface="Malgun Gothic" pitchFamily="34" charset="0"/>
                <a:ea typeface="Malgun Gothic" pitchFamily="34" charset="-122"/>
                <a:cs typeface="Malgun Gothic" pitchFamily="34" charset="-120"/>
              </a:rPr>
              <a:t>고객은 이렇게 움직입니다</a:t>
            </a:r>
            <a:endParaRPr lang="en-US" sz="1000" dirty="0"/>
          </a:p>
        </p:txBody>
      </p:sp>
      <p:sp>
        <p:nvSpPr>
          <p:cNvPr id="42" name="Text 37"/>
          <p:cNvSpPr txBox="1"/>
          <p:nvPr/>
        </p:nvSpPr>
        <p:spPr>
          <a:xfrm>
            <a:off x="8385048" y="4526280"/>
            <a:ext cx="2926080" cy="658368"/>
          </a:xfrm>
          <a:prstGeom prst="rect">
            <a:avLst/>
          </a:prstGeom>
          <a:noFill/>
          <a:ln/>
        </p:spPr>
        <p:txBody>
          <a:bodyPr wrap="square" lIns="0" tIns="0" rIns="0" bIns="0" rtlCol="0" anchor="ctr"/>
          <a:lstStyle/>
          <a:p>
            <a:pPr marL="0" indent="0">
              <a:lnSpc>
                <a:spcPct val="115000"/>
              </a:lnSpc>
              <a:buNone/>
            </a:pPr>
            <a:r>
              <a:rPr lang="en-US" sz="1400" b="1" dirty="0">
                <a:solidFill>
                  <a:srgbClr val="F6F0E6"/>
                </a:solidFill>
                <a:latin typeface="Malgun Gothic" pitchFamily="34" charset="0"/>
                <a:ea typeface="Malgun Gothic" pitchFamily="34" charset="-122"/>
                <a:cs typeface="Malgun Gothic" pitchFamily="34" charset="-120"/>
              </a:rPr>
              <a:t>쌓인 배당을 쓰러</a:t>
            </a:r>
            <a:endParaRPr lang="en-US" sz="1400" dirty="0"/>
          </a:p>
          <a:p>
            <a:pPr marL="0" indent="0">
              <a:lnSpc>
                <a:spcPct val="115000"/>
              </a:lnSpc>
              <a:buNone/>
            </a:pPr>
            <a:r>
              <a:rPr lang="en-US" sz="1400" b="1" dirty="0">
                <a:solidFill>
                  <a:srgbClr val="F6F0E6"/>
                </a:solidFill>
                <a:latin typeface="Malgun Gothic" pitchFamily="34" charset="0"/>
                <a:ea typeface="Malgun Gothic" pitchFamily="34" charset="-122"/>
                <a:cs typeface="Malgun Gothic" pitchFamily="34" charset="-120"/>
              </a:rPr>
              <a:t>주말에도 산다</a:t>
            </a:r>
            <a:endParaRPr lang="en-US" sz="1400" dirty="0"/>
          </a:p>
        </p:txBody>
      </p:sp>
      <p:sp>
        <p:nvSpPr>
          <p:cNvPr id="43" name="Shape 38"/>
          <p:cNvSpPr/>
          <p:nvPr/>
        </p:nvSpPr>
        <p:spPr>
          <a:xfrm>
            <a:off x="612648" y="5532120"/>
            <a:ext cx="10972800" cy="621792"/>
          </a:xfrm>
          <a:prstGeom prst="roundRect">
            <a:avLst>
              <a:gd name="adj" fmla="val 17647"/>
            </a:avLst>
          </a:prstGeom>
          <a:solidFill>
            <a:srgbClr val="1B4F42"/>
          </a:solidFill>
          <a:ln/>
        </p:spPr>
      </p:sp>
      <p:sp>
        <p:nvSpPr>
          <p:cNvPr id="44" name="Text 39"/>
          <p:cNvSpPr txBox="1"/>
          <p:nvPr/>
        </p:nvSpPr>
        <p:spPr>
          <a:xfrm>
            <a:off x="886968" y="5532120"/>
            <a:ext cx="10424160" cy="621792"/>
          </a:xfrm>
          <a:prstGeom prst="rect">
            <a:avLst/>
          </a:prstGeom>
          <a:noFill/>
          <a:ln/>
        </p:spPr>
        <p:txBody>
          <a:bodyPr wrap="square" lIns="0" tIns="0" rIns="0" bIns="0" rtlCol="0" anchor="ctr"/>
          <a:lstStyle/>
          <a:p>
            <a:pPr marL="0" indent="0" algn="l">
              <a:buNone/>
            </a:pPr>
            <a:r>
              <a:rPr lang="en-US" sz="1350" b="1" dirty="0">
                <a:solidFill>
                  <a:srgbClr val="F0A583"/>
                </a:solidFill>
                <a:latin typeface="Malgun Gothic" pitchFamily="34" charset="0"/>
                <a:ea typeface="Malgun Gothic" pitchFamily="34" charset="-122"/>
                <a:cs typeface="Malgun Gothic" pitchFamily="34" charset="-120"/>
              </a:rPr>
              <a:t>목표는 하나, 재방문과 구매  </a:t>
            </a:r>
            <a:r>
              <a:rPr lang="en-US" sz="1350" b="1" dirty="0">
                <a:solidFill>
                  <a:srgbClr val="F6F0E6"/>
                </a:solidFill>
                <a:latin typeface="Malgun Gothic" pitchFamily="34" charset="0"/>
                <a:ea typeface="Malgun Gothic" pitchFamily="34" charset="-122"/>
                <a:cs typeface="Malgun Gothic" pitchFamily="34" charset="-120"/>
              </a:rPr>
              <a:t>세 장치 모두 실제 동작하는 </a:t>
            </a:r>
            <a:r>
              <a:rPr lang="en-US" sz="1350" b="1" dirty="0" err="1">
                <a:solidFill>
                  <a:srgbClr val="F6F0E6"/>
                </a:solidFill>
                <a:latin typeface="Malgun Gothic" pitchFamily="34" charset="0"/>
                <a:ea typeface="Malgun Gothic" pitchFamily="34" charset="-122"/>
                <a:cs typeface="Malgun Gothic" pitchFamily="34" charset="-120"/>
              </a:rPr>
              <a:t>MVP로</a:t>
            </a:r>
            <a:r>
              <a:rPr lang="en-US" sz="1350" b="1" dirty="0">
                <a:solidFill>
                  <a:srgbClr val="F6F0E6"/>
                </a:solidFill>
                <a:latin typeface="Malgun Gothic" pitchFamily="34" charset="0"/>
                <a:ea typeface="Malgun Gothic" pitchFamily="34" charset="-122"/>
                <a:cs typeface="Malgun Gothic" pitchFamily="34" charset="-120"/>
              </a:rPr>
              <a:t> </a:t>
            </a:r>
            <a:r>
              <a:rPr lang="en-US" sz="1350" b="1" dirty="0" err="1">
                <a:solidFill>
                  <a:srgbClr val="F6F0E6"/>
                </a:solidFill>
                <a:latin typeface="Malgun Gothic" pitchFamily="34" charset="0"/>
                <a:ea typeface="Malgun Gothic" pitchFamily="34" charset="-122"/>
                <a:cs typeface="Malgun Gothic" pitchFamily="34" charset="-120"/>
              </a:rPr>
              <a:t>구현했습니다</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서비스 구조</a:t>
            </a:r>
            <a:endParaRPr lang="en-US" sz="1050" dirty="0"/>
          </a:p>
        </p:txBody>
      </p:sp>
      <p:sp>
        <p:nvSpPr>
          <p:cNvPr id="4" name="Shape 2"/>
          <p:cNvSpPr/>
          <p:nvPr/>
        </p:nvSpPr>
        <p:spPr>
          <a:xfrm>
            <a:off x="7818120" y="301752"/>
            <a:ext cx="987552" cy="265176"/>
          </a:xfrm>
          <a:prstGeom prst="roundRect">
            <a:avLst>
              <a:gd name="adj" fmla="val 48276"/>
            </a:avLst>
          </a:prstGeom>
          <a:solidFill>
            <a:srgbClr val="123F34"/>
          </a:solidFill>
          <a:ln w="12700">
            <a:solidFill>
              <a:srgbClr val="123F34"/>
            </a:solidFill>
            <a:prstDash val="solid"/>
          </a:ln>
        </p:spPr>
      </p:sp>
      <p:sp>
        <p:nvSpPr>
          <p:cNvPr id="5" name="Text 3"/>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빵시장</a:t>
            </a:r>
            <a:endParaRPr lang="en-US" sz="900" dirty="0"/>
          </a:p>
        </p:txBody>
      </p:sp>
      <p:sp>
        <p:nvSpPr>
          <p:cNvPr id="6" name="Text 4"/>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7" name="Shape 5"/>
          <p:cNvSpPr/>
          <p:nvPr/>
        </p:nvSpPr>
        <p:spPr>
          <a:xfrm>
            <a:off x="8988552" y="301752"/>
            <a:ext cx="987552" cy="265176"/>
          </a:xfrm>
          <a:prstGeom prst="roundRect">
            <a:avLst>
              <a:gd name="adj" fmla="val 48276"/>
            </a:avLst>
          </a:prstGeom>
          <a:solidFill>
            <a:srgbClr val="123F34"/>
          </a:solidFill>
          <a:ln w="12700">
            <a:solidFill>
              <a:srgbClr val="123F34"/>
            </a:solidFill>
            <a:prstDash val="solid"/>
          </a:ln>
        </p:spPr>
      </p:sp>
      <p:sp>
        <p:nvSpPr>
          <p:cNvPr id="8" name="Text 6"/>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포트폴리오</a:t>
            </a:r>
            <a:endParaRPr lang="en-US" sz="900" dirty="0"/>
          </a:p>
        </p:txBody>
      </p:sp>
      <p:sp>
        <p:nvSpPr>
          <p:cNvPr id="9" name="Text 7"/>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0" name="Shape 8"/>
          <p:cNvSpPr/>
          <p:nvPr/>
        </p:nvSpPr>
        <p:spPr>
          <a:xfrm>
            <a:off x="10158984" y="301752"/>
            <a:ext cx="987552" cy="265176"/>
          </a:xfrm>
          <a:prstGeom prst="roundRect">
            <a:avLst>
              <a:gd name="adj" fmla="val 48276"/>
            </a:avLst>
          </a:prstGeom>
          <a:solidFill>
            <a:srgbClr val="123F34"/>
          </a:solidFill>
          <a:ln w="12700">
            <a:solidFill>
              <a:srgbClr val="123F34"/>
            </a:solidFill>
            <a:prstDash val="solid"/>
          </a:ln>
        </p:spPr>
      </p:sp>
      <p:sp>
        <p:nvSpPr>
          <p:cNvPr id="11" name="Text 9"/>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주말배당</a:t>
            </a:r>
            <a:endParaRPr lang="en-US" sz="900" dirty="0"/>
          </a:p>
        </p:txBody>
      </p:sp>
      <p:sp>
        <p:nvSpPr>
          <p:cNvPr id="12" name="Text 10"/>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04</a:t>
            </a:r>
            <a:endParaRPr lang="en-US" sz="1050" dirty="0"/>
          </a:p>
        </p:txBody>
      </p:sp>
      <p:sp>
        <p:nvSpPr>
          <p:cNvPr id="13" name="Text 11"/>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평일엔 시장이, 주말엔 배당이 방문 이유를 만듭니다</a:t>
            </a:r>
            <a:endParaRPr lang="en-US" sz="2600" dirty="0"/>
          </a:p>
        </p:txBody>
      </p:sp>
      <p:sp>
        <p:nvSpPr>
          <p:cNvPr id="14" name="Text 12"/>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세 기능이 한 주 단위로 맞물려 도는 순환 구조입니다.</a:t>
            </a:r>
            <a:endParaRPr lang="en-US" sz="1350" dirty="0"/>
          </a:p>
        </p:txBody>
      </p:sp>
      <p:sp>
        <p:nvSpPr>
          <p:cNvPr id="15" name="Shape 13"/>
          <p:cNvSpPr/>
          <p:nvPr/>
        </p:nvSpPr>
        <p:spPr>
          <a:xfrm>
            <a:off x="612648" y="1828800"/>
            <a:ext cx="3401568" cy="2697480"/>
          </a:xfrm>
          <a:prstGeom prst="roundRect">
            <a:avLst>
              <a:gd name="adj" fmla="val 4068"/>
            </a:avLst>
          </a:prstGeom>
          <a:solidFill>
            <a:srgbClr val="123F34"/>
          </a:solidFill>
          <a:ln/>
        </p:spPr>
      </p:sp>
      <p:sp>
        <p:nvSpPr>
          <p:cNvPr id="16" name="Shape 14"/>
          <p:cNvSpPr/>
          <p:nvPr/>
        </p:nvSpPr>
        <p:spPr>
          <a:xfrm>
            <a:off x="886968" y="2103120"/>
            <a:ext cx="566928" cy="566928"/>
          </a:xfrm>
          <a:prstGeom prst="ellipse">
            <a:avLst/>
          </a:prstGeom>
          <a:solidFill>
            <a:srgbClr val="C85B35"/>
          </a:solidFill>
          <a:ln/>
        </p:spPr>
      </p:sp>
      <p:pic>
        <p:nvPicPr>
          <p:cNvPr id="17" name="Image 0" descr="preencoded.png"/>
          <p:cNvPicPr>
            <a:picLocks noChangeAspect="1"/>
          </p:cNvPicPr>
          <p:nvPr/>
        </p:nvPicPr>
        <p:blipFill>
          <a:blip r:embed="rId3"/>
          <a:stretch>
            <a:fillRect/>
          </a:stretch>
        </p:blipFill>
        <p:spPr>
          <a:xfrm>
            <a:off x="1040039" y="2256191"/>
            <a:ext cx="260787" cy="260787"/>
          </a:xfrm>
          <a:prstGeom prst="rect">
            <a:avLst/>
          </a:prstGeom>
        </p:spPr>
      </p:pic>
      <p:sp>
        <p:nvSpPr>
          <p:cNvPr id="18" name="Text 15"/>
          <p:cNvSpPr txBox="1"/>
          <p:nvPr/>
        </p:nvSpPr>
        <p:spPr>
          <a:xfrm>
            <a:off x="3191256" y="2103120"/>
            <a:ext cx="548640" cy="365760"/>
          </a:xfrm>
          <a:prstGeom prst="rect">
            <a:avLst/>
          </a:prstGeom>
          <a:noFill/>
          <a:ln/>
        </p:spPr>
        <p:txBody>
          <a:bodyPr wrap="square" lIns="0" tIns="0" rIns="0" bIns="0" rtlCol="0" anchor="t"/>
          <a:lstStyle/>
          <a:p>
            <a:pPr marL="0" indent="0" algn="r">
              <a:buNone/>
            </a:pPr>
            <a:r>
              <a:rPr lang="en-US" sz="2000" b="1" dirty="0">
                <a:solidFill>
                  <a:srgbClr val="3D6B5E"/>
                </a:solidFill>
                <a:latin typeface="Malgun Gothic" pitchFamily="34" charset="0"/>
                <a:ea typeface="Malgun Gothic" pitchFamily="34" charset="-122"/>
                <a:cs typeface="Malgun Gothic" pitchFamily="34" charset="-120"/>
              </a:rPr>
              <a:t>01</a:t>
            </a:r>
            <a:endParaRPr lang="en-US" sz="2000" dirty="0"/>
          </a:p>
        </p:txBody>
      </p:sp>
      <p:sp>
        <p:nvSpPr>
          <p:cNvPr id="19" name="Text 16"/>
          <p:cNvSpPr txBox="1"/>
          <p:nvPr/>
        </p:nvSpPr>
        <p:spPr>
          <a:xfrm>
            <a:off x="886968" y="2834640"/>
            <a:ext cx="2852928" cy="292608"/>
          </a:xfrm>
          <a:prstGeom prst="rect">
            <a:avLst/>
          </a:prstGeom>
          <a:noFill/>
          <a:ln/>
        </p:spPr>
        <p:txBody>
          <a:bodyPr wrap="square" lIns="0" tIns="0" rIns="0" bIns="0" rtlCol="0" anchor="t"/>
          <a:lstStyle/>
          <a:p>
            <a:pPr marL="0" indent="0">
              <a:buNone/>
            </a:pPr>
            <a:r>
              <a:rPr lang="en-US" sz="1100" b="1" kern="0" spc="100" dirty="0">
                <a:solidFill>
                  <a:srgbClr val="F0A583"/>
                </a:solidFill>
                <a:latin typeface="Malgun Gothic" pitchFamily="34" charset="0"/>
                <a:ea typeface="Malgun Gothic" pitchFamily="34" charset="-122"/>
                <a:cs typeface="Malgun Gothic" pitchFamily="34" charset="-120"/>
              </a:rPr>
              <a:t>BREAD MARKET</a:t>
            </a:r>
            <a:endParaRPr lang="en-US" sz="1100" dirty="0"/>
          </a:p>
        </p:txBody>
      </p:sp>
      <p:sp>
        <p:nvSpPr>
          <p:cNvPr id="20" name="Text 17"/>
          <p:cNvSpPr txBox="1"/>
          <p:nvPr/>
        </p:nvSpPr>
        <p:spPr>
          <a:xfrm>
            <a:off x="886968" y="3108960"/>
            <a:ext cx="2852928" cy="411480"/>
          </a:xfrm>
          <a:prstGeom prst="rect">
            <a:avLst/>
          </a:prstGeom>
          <a:noFill/>
          <a:ln/>
        </p:spPr>
        <p:txBody>
          <a:bodyPr wrap="square" lIns="0" tIns="0" rIns="0" bIns="0" rtlCol="0" anchor="t"/>
          <a:lstStyle/>
          <a:p>
            <a:pPr marL="0" indent="0">
              <a:buNone/>
            </a:pPr>
            <a:r>
              <a:rPr lang="en-US" sz="2000" b="1" dirty="0">
                <a:solidFill>
                  <a:srgbClr val="F6F0E6"/>
                </a:solidFill>
                <a:latin typeface="Malgun Gothic" pitchFamily="34" charset="0"/>
                <a:ea typeface="Malgun Gothic" pitchFamily="34" charset="-122"/>
                <a:cs typeface="Malgun Gothic" pitchFamily="34" charset="-120"/>
              </a:rPr>
              <a:t>빵시장</a:t>
            </a:r>
            <a:endParaRPr lang="en-US" sz="2000" dirty="0"/>
          </a:p>
        </p:txBody>
      </p:sp>
      <p:sp>
        <p:nvSpPr>
          <p:cNvPr id="21" name="Text 18"/>
          <p:cNvSpPr txBox="1"/>
          <p:nvPr/>
        </p:nvSpPr>
        <p:spPr>
          <a:xfrm>
            <a:off x="886968" y="3566160"/>
            <a:ext cx="2852928" cy="548640"/>
          </a:xfrm>
          <a:prstGeom prst="rect">
            <a:avLst/>
          </a:prstGeom>
          <a:noFill/>
          <a:ln/>
        </p:spPr>
        <p:txBody>
          <a:bodyPr wrap="square" lIns="0" tIns="0" rIns="0" bIns="0" rtlCol="0" anchor="t"/>
          <a:lstStyle/>
          <a:p>
            <a:pPr marL="0" indent="0">
              <a:lnSpc>
                <a:spcPct val="115000"/>
              </a:lnSpc>
              <a:buNone/>
            </a:pPr>
            <a:r>
              <a:rPr lang="en-US" sz="1250" dirty="0">
                <a:solidFill>
                  <a:srgbClr val="D5E2DC"/>
                </a:solidFill>
                <a:latin typeface="Malgun Gothic" pitchFamily="34" charset="0"/>
                <a:ea typeface="Malgun Gothic" pitchFamily="34" charset="-122"/>
                <a:cs typeface="Malgun Gothic" pitchFamily="34" charset="-120"/>
              </a:rPr>
              <a:t>오늘의 시장 변화로</a:t>
            </a:r>
            <a:endParaRPr lang="en-US" sz="1250" dirty="0"/>
          </a:p>
          <a:p>
            <a:pPr marL="0" indent="0">
              <a:lnSpc>
                <a:spcPct val="115000"/>
              </a:lnSpc>
              <a:buNone/>
            </a:pPr>
            <a:r>
              <a:rPr lang="en-US" sz="1250" dirty="0">
                <a:solidFill>
                  <a:srgbClr val="D5E2DC"/>
                </a:solidFill>
                <a:latin typeface="Malgun Gothic" pitchFamily="34" charset="0"/>
                <a:ea typeface="Malgun Gothic" pitchFamily="34" charset="-122"/>
                <a:cs typeface="Malgun Gothic" pitchFamily="34" charset="-120"/>
              </a:rPr>
              <a:t>오늘 살 이유를 만듭니다</a:t>
            </a:r>
            <a:endParaRPr lang="en-US" sz="1250" dirty="0"/>
          </a:p>
        </p:txBody>
      </p:sp>
      <p:sp>
        <p:nvSpPr>
          <p:cNvPr id="22" name="Text 19"/>
          <p:cNvSpPr txBox="1"/>
          <p:nvPr/>
        </p:nvSpPr>
        <p:spPr>
          <a:xfrm>
            <a:off x="886968" y="4133088"/>
            <a:ext cx="2852928" cy="256032"/>
          </a:xfrm>
          <a:prstGeom prst="rect">
            <a:avLst/>
          </a:prstGeom>
          <a:noFill/>
          <a:ln/>
        </p:spPr>
        <p:txBody>
          <a:bodyPr wrap="square" lIns="0" tIns="0" rIns="0" bIns="0" rtlCol="0" anchor="t"/>
          <a:lstStyle/>
          <a:p>
            <a:pPr marL="0" indent="0">
              <a:buNone/>
            </a:pPr>
            <a:r>
              <a:rPr lang="en-US" sz="1050" b="1" dirty="0">
                <a:solidFill>
                  <a:srgbClr val="9DB5AB"/>
                </a:solidFill>
                <a:latin typeface="Malgun Gothic" pitchFamily="34" charset="0"/>
                <a:ea typeface="Malgun Gothic" pitchFamily="34" charset="-122"/>
                <a:cs typeface="Malgun Gothic" pitchFamily="34" charset="-120"/>
              </a:rPr>
              <a:t>평일 거래일 15:30–24:00</a:t>
            </a:r>
            <a:endParaRPr lang="en-US" sz="1050" dirty="0"/>
          </a:p>
        </p:txBody>
      </p:sp>
      <p:sp>
        <p:nvSpPr>
          <p:cNvPr id="23" name="Text 20"/>
          <p:cNvSpPr txBox="1"/>
          <p:nvPr/>
        </p:nvSpPr>
        <p:spPr>
          <a:xfrm>
            <a:off x="4014216" y="1828800"/>
            <a:ext cx="347472" cy="2697480"/>
          </a:xfrm>
          <a:prstGeom prst="rect">
            <a:avLst/>
          </a:prstGeom>
          <a:noFill/>
          <a:ln/>
        </p:spPr>
        <p:txBody>
          <a:bodyPr wrap="square" lIns="0" tIns="0" rIns="0" bIns="0" rtlCol="0" anchor="ctr"/>
          <a:lstStyle/>
          <a:p>
            <a:pPr marL="0" indent="0" algn="ctr">
              <a:buNone/>
            </a:pPr>
            <a:r>
              <a:rPr lang="en-US" sz="2200" b="1" dirty="0">
                <a:solidFill>
                  <a:srgbClr val="C85B35"/>
                </a:solidFill>
                <a:latin typeface="Malgun Gothic" pitchFamily="34" charset="0"/>
                <a:ea typeface="Malgun Gothic" pitchFamily="34" charset="-122"/>
                <a:cs typeface="Malgun Gothic" pitchFamily="34" charset="-120"/>
              </a:rPr>
              <a:t>→</a:t>
            </a:r>
            <a:endParaRPr lang="en-US" sz="2200" dirty="0"/>
          </a:p>
        </p:txBody>
      </p:sp>
      <p:sp>
        <p:nvSpPr>
          <p:cNvPr id="24" name="Shape 21"/>
          <p:cNvSpPr/>
          <p:nvPr/>
        </p:nvSpPr>
        <p:spPr>
          <a:xfrm>
            <a:off x="4361688" y="1828800"/>
            <a:ext cx="3401568" cy="2697480"/>
          </a:xfrm>
          <a:prstGeom prst="roundRect">
            <a:avLst>
              <a:gd name="adj" fmla="val 4068"/>
            </a:avLst>
          </a:prstGeom>
          <a:solidFill>
            <a:srgbClr val="FFFFFF"/>
          </a:solidFill>
          <a:ln/>
          <a:effectLst>
            <a:outerShdw blurRad="101600" dist="25400" dir="5400000" algn="bl" rotWithShape="0">
              <a:srgbClr val="123F34">
                <a:alpha val="12000"/>
              </a:srgbClr>
            </a:outerShdw>
          </a:effectLst>
        </p:spPr>
      </p:sp>
      <p:sp>
        <p:nvSpPr>
          <p:cNvPr id="25" name="Shape 22"/>
          <p:cNvSpPr/>
          <p:nvPr/>
        </p:nvSpPr>
        <p:spPr>
          <a:xfrm>
            <a:off x="4636008" y="2103120"/>
            <a:ext cx="566928" cy="566928"/>
          </a:xfrm>
          <a:prstGeom prst="ellipse">
            <a:avLst/>
          </a:prstGeom>
          <a:solidFill>
            <a:srgbClr val="C85B35"/>
          </a:solidFill>
          <a:ln/>
        </p:spPr>
      </p:sp>
      <p:pic>
        <p:nvPicPr>
          <p:cNvPr id="26" name="Image 1" descr="preencoded.png"/>
          <p:cNvPicPr>
            <a:picLocks noChangeAspect="1"/>
          </p:cNvPicPr>
          <p:nvPr/>
        </p:nvPicPr>
        <p:blipFill>
          <a:blip r:embed="rId4"/>
          <a:stretch>
            <a:fillRect/>
          </a:stretch>
        </p:blipFill>
        <p:spPr>
          <a:xfrm>
            <a:off x="4789079" y="2256191"/>
            <a:ext cx="260787" cy="260787"/>
          </a:xfrm>
          <a:prstGeom prst="rect">
            <a:avLst/>
          </a:prstGeom>
        </p:spPr>
      </p:pic>
      <p:sp>
        <p:nvSpPr>
          <p:cNvPr id="27" name="Text 23"/>
          <p:cNvSpPr txBox="1"/>
          <p:nvPr/>
        </p:nvSpPr>
        <p:spPr>
          <a:xfrm>
            <a:off x="6940296" y="2103120"/>
            <a:ext cx="548640" cy="365760"/>
          </a:xfrm>
          <a:prstGeom prst="rect">
            <a:avLst/>
          </a:prstGeom>
          <a:noFill/>
          <a:ln/>
        </p:spPr>
        <p:txBody>
          <a:bodyPr wrap="square" lIns="0" tIns="0" rIns="0" bIns="0" rtlCol="0" anchor="t"/>
          <a:lstStyle/>
          <a:p>
            <a:pPr marL="0" indent="0" algn="r">
              <a:buNone/>
            </a:pPr>
            <a:r>
              <a:rPr lang="en-US" sz="2000" b="1" dirty="0">
                <a:solidFill>
                  <a:srgbClr val="C9D8CF"/>
                </a:solidFill>
                <a:latin typeface="Malgun Gothic" pitchFamily="34" charset="0"/>
                <a:ea typeface="Malgun Gothic" pitchFamily="34" charset="-122"/>
                <a:cs typeface="Malgun Gothic" pitchFamily="34" charset="-120"/>
              </a:rPr>
              <a:t>02</a:t>
            </a:r>
            <a:endParaRPr lang="en-US" sz="2000" dirty="0"/>
          </a:p>
        </p:txBody>
      </p:sp>
      <p:sp>
        <p:nvSpPr>
          <p:cNvPr id="28" name="Text 24"/>
          <p:cNvSpPr txBox="1"/>
          <p:nvPr/>
        </p:nvSpPr>
        <p:spPr>
          <a:xfrm>
            <a:off x="4636008" y="2834640"/>
            <a:ext cx="2852928" cy="292608"/>
          </a:xfrm>
          <a:prstGeom prst="rect">
            <a:avLst/>
          </a:prstGeom>
          <a:noFill/>
          <a:ln/>
        </p:spPr>
        <p:txBody>
          <a:bodyPr wrap="square" lIns="0" tIns="0" rIns="0" bIns="0" rtlCol="0" anchor="t"/>
          <a:lstStyle/>
          <a:p>
            <a:pPr marL="0" indent="0">
              <a:buNone/>
            </a:pPr>
            <a:r>
              <a:rPr lang="en-US" sz="1100" b="1" kern="0" spc="100" dirty="0">
                <a:solidFill>
                  <a:srgbClr val="C85B35"/>
                </a:solidFill>
                <a:latin typeface="Malgun Gothic" pitchFamily="34" charset="0"/>
                <a:ea typeface="Malgun Gothic" pitchFamily="34" charset="-122"/>
                <a:cs typeface="Malgun Gothic" pitchFamily="34" charset="-120"/>
              </a:rPr>
              <a:t>MY BREAD PORTFOLIO</a:t>
            </a:r>
            <a:endParaRPr lang="en-US" sz="1100" dirty="0"/>
          </a:p>
        </p:txBody>
      </p:sp>
      <p:sp>
        <p:nvSpPr>
          <p:cNvPr id="29" name="Text 25"/>
          <p:cNvSpPr txBox="1"/>
          <p:nvPr/>
        </p:nvSpPr>
        <p:spPr>
          <a:xfrm>
            <a:off x="4636008" y="3108960"/>
            <a:ext cx="2852928" cy="411480"/>
          </a:xfrm>
          <a:prstGeom prst="rect">
            <a:avLst/>
          </a:prstGeom>
          <a:noFill/>
          <a:ln/>
        </p:spPr>
        <p:txBody>
          <a:bodyPr wrap="square" lIns="0" tIns="0" rIns="0" bIns="0" rtlCol="0" anchor="t"/>
          <a:lstStyle/>
          <a:p>
            <a:pPr marL="0" indent="0">
              <a:buNone/>
            </a:pPr>
            <a:r>
              <a:rPr lang="en-US" sz="2000" b="1" dirty="0">
                <a:solidFill>
                  <a:srgbClr val="123F34"/>
                </a:solidFill>
                <a:latin typeface="Malgun Gothic" pitchFamily="34" charset="0"/>
                <a:ea typeface="Malgun Gothic" pitchFamily="34" charset="-122"/>
                <a:cs typeface="Malgun Gothic" pitchFamily="34" charset="-120"/>
              </a:rPr>
              <a:t>빵 포트폴리오</a:t>
            </a:r>
            <a:endParaRPr lang="en-US" sz="2000" dirty="0"/>
          </a:p>
        </p:txBody>
      </p:sp>
      <p:sp>
        <p:nvSpPr>
          <p:cNvPr id="30" name="Text 26"/>
          <p:cNvSpPr txBox="1"/>
          <p:nvPr/>
        </p:nvSpPr>
        <p:spPr>
          <a:xfrm>
            <a:off x="4636008" y="3566160"/>
            <a:ext cx="2852928" cy="548640"/>
          </a:xfrm>
          <a:prstGeom prst="rect">
            <a:avLst/>
          </a:prstGeom>
          <a:noFill/>
          <a:ln/>
        </p:spPr>
        <p:txBody>
          <a:bodyPr wrap="square" lIns="0" tIns="0" rIns="0" bIns="0" rtlCol="0" anchor="t"/>
          <a:lstStyle/>
          <a:p>
            <a:pPr marL="0" indent="0">
              <a:lnSpc>
                <a:spcPct val="115000"/>
              </a:lnSpc>
              <a:buNone/>
            </a:pPr>
            <a:r>
              <a:rPr lang="en-US" sz="1250" dirty="0">
                <a:solidFill>
                  <a:srgbClr val="3D5A50"/>
                </a:solidFill>
                <a:latin typeface="Malgun Gothic" pitchFamily="34" charset="0"/>
                <a:ea typeface="Malgun Gothic" pitchFamily="34" charset="-122"/>
                <a:cs typeface="Malgun Gothic" pitchFamily="34" charset="-120"/>
              </a:rPr>
              <a:t>관심·장바구니·구매를</a:t>
            </a:r>
            <a:endParaRPr lang="en-US" sz="1250" dirty="0"/>
          </a:p>
          <a:p>
            <a:pPr marL="0" indent="0">
              <a:lnSpc>
                <a:spcPct val="115000"/>
              </a:lnSpc>
              <a:buNone/>
            </a:pPr>
            <a:r>
              <a:rPr lang="en-US" sz="1250" dirty="0">
                <a:solidFill>
                  <a:srgbClr val="3D5A50"/>
                </a:solidFill>
                <a:latin typeface="Malgun Gothic" pitchFamily="34" charset="0"/>
                <a:ea typeface="Malgun Gothic" pitchFamily="34" charset="-122"/>
                <a:cs typeface="Malgun Gothic" pitchFamily="34" charset="-120"/>
              </a:rPr>
              <a:t>다음 행동의 근거로 저장합니다</a:t>
            </a:r>
            <a:endParaRPr lang="en-US" sz="1250" dirty="0"/>
          </a:p>
        </p:txBody>
      </p:sp>
      <p:sp>
        <p:nvSpPr>
          <p:cNvPr id="31" name="Text 27"/>
          <p:cNvSpPr txBox="1"/>
          <p:nvPr/>
        </p:nvSpPr>
        <p:spPr>
          <a:xfrm>
            <a:off x="4636008" y="4133088"/>
            <a:ext cx="2852928" cy="256032"/>
          </a:xfrm>
          <a:prstGeom prst="rect">
            <a:avLst/>
          </a:prstGeom>
          <a:noFill/>
          <a:ln/>
        </p:spPr>
        <p:txBody>
          <a:bodyPr wrap="square" lIns="0" tIns="0" rIns="0" bIns="0" rtlCol="0" anchor="t"/>
          <a:lstStyle/>
          <a:p>
            <a:pPr marL="0" indent="0">
              <a:buNone/>
            </a:pPr>
            <a:r>
              <a:rPr lang="en-US" sz="1050" b="1" dirty="0">
                <a:solidFill>
                  <a:srgbClr val="7A8F86"/>
                </a:solidFill>
                <a:latin typeface="Malgun Gothic" pitchFamily="34" charset="0"/>
                <a:ea typeface="Malgun Gothic" pitchFamily="34" charset="-122"/>
                <a:cs typeface="Malgun Gothic" pitchFamily="34" charset="-120"/>
              </a:rPr>
              <a:t>매일 누적</a:t>
            </a:r>
            <a:endParaRPr lang="en-US" sz="1050" dirty="0"/>
          </a:p>
        </p:txBody>
      </p:sp>
      <p:sp>
        <p:nvSpPr>
          <p:cNvPr id="32" name="Text 28"/>
          <p:cNvSpPr txBox="1"/>
          <p:nvPr/>
        </p:nvSpPr>
        <p:spPr>
          <a:xfrm>
            <a:off x="7763256" y="1828800"/>
            <a:ext cx="347472" cy="2697480"/>
          </a:xfrm>
          <a:prstGeom prst="rect">
            <a:avLst/>
          </a:prstGeom>
          <a:noFill/>
          <a:ln/>
        </p:spPr>
        <p:txBody>
          <a:bodyPr wrap="square" lIns="0" tIns="0" rIns="0" bIns="0" rtlCol="0" anchor="ctr"/>
          <a:lstStyle/>
          <a:p>
            <a:pPr marL="0" indent="0" algn="ctr">
              <a:buNone/>
            </a:pPr>
            <a:r>
              <a:rPr lang="en-US" sz="2200" b="1" dirty="0">
                <a:solidFill>
                  <a:srgbClr val="C85B35"/>
                </a:solidFill>
                <a:latin typeface="Malgun Gothic" pitchFamily="34" charset="0"/>
                <a:ea typeface="Malgun Gothic" pitchFamily="34" charset="-122"/>
                <a:cs typeface="Malgun Gothic" pitchFamily="34" charset="-120"/>
              </a:rPr>
              <a:t>→</a:t>
            </a:r>
            <a:endParaRPr lang="en-US" sz="2200" dirty="0"/>
          </a:p>
        </p:txBody>
      </p:sp>
      <p:sp>
        <p:nvSpPr>
          <p:cNvPr id="33" name="Shape 29"/>
          <p:cNvSpPr/>
          <p:nvPr/>
        </p:nvSpPr>
        <p:spPr>
          <a:xfrm>
            <a:off x="8110728" y="1828800"/>
            <a:ext cx="3401568" cy="2697480"/>
          </a:xfrm>
          <a:prstGeom prst="roundRect">
            <a:avLst>
              <a:gd name="adj" fmla="val 4068"/>
            </a:avLst>
          </a:prstGeom>
          <a:solidFill>
            <a:srgbClr val="123F34"/>
          </a:solidFill>
          <a:ln/>
        </p:spPr>
      </p:sp>
      <p:sp>
        <p:nvSpPr>
          <p:cNvPr id="34" name="Shape 30"/>
          <p:cNvSpPr/>
          <p:nvPr/>
        </p:nvSpPr>
        <p:spPr>
          <a:xfrm>
            <a:off x="8385048" y="2103120"/>
            <a:ext cx="566928" cy="566928"/>
          </a:xfrm>
          <a:prstGeom prst="ellipse">
            <a:avLst/>
          </a:prstGeom>
          <a:solidFill>
            <a:srgbClr val="C85B35"/>
          </a:solidFill>
          <a:ln/>
        </p:spPr>
      </p:sp>
      <p:pic>
        <p:nvPicPr>
          <p:cNvPr id="35" name="Image 2" descr="preencoded.png"/>
          <p:cNvPicPr>
            <a:picLocks noChangeAspect="1"/>
          </p:cNvPicPr>
          <p:nvPr/>
        </p:nvPicPr>
        <p:blipFill>
          <a:blip r:embed="rId5"/>
          <a:stretch>
            <a:fillRect/>
          </a:stretch>
        </p:blipFill>
        <p:spPr>
          <a:xfrm>
            <a:off x="8538119" y="2256191"/>
            <a:ext cx="260787" cy="260787"/>
          </a:xfrm>
          <a:prstGeom prst="rect">
            <a:avLst/>
          </a:prstGeom>
        </p:spPr>
      </p:pic>
      <p:sp>
        <p:nvSpPr>
          <p:cNvPr id="36" name="Text 31"/>
          <p:cNvSpPr txBox="1"/>
          <p:nvPr/>
        </p:nvSpPr>
        <p:spPr>
          <a:xfrm>
            <a:off x="10689336" y="2103120"/>
            <a:ext cx="548640" cy="365760"/>
          </a:xfrm>
          <a:prstGeom prst="rect">
            <a:avLst/>
          </a:prstGeom>
          <a:noFill/>
          <a:ln/>
        </p:spPr>
        <p:txBody>
          <a:bodyPr wrap="square" lIns="0" tIns="0" rIns="0" bIns="0" rtlCol="0" anchor="t"/>
          <a:lstStyle/>
          <a:p>
            <a:pPr marL="0" indent="0" algn="r">
              <a:buNone/>
            </a:pPr>
            <a:r>
              <a:rPr lang="en-US" sz="2000" b="1" dirty="0">
                <a:solidFill>
                  <a:srgbClr val="3D6B5E"/>
                </a:solidFill>
                <a:latin typeface="Malgun Gothic" pitchFamily="34" charset="0"/>
                <a:ea typeface="Malgun Gothic" pitchFamily="34" charset="-122"/>
                <a:cs typeface="Malgun Gothic" pitchFamily="34" charset="-120"/>
              </a:rPr>
              <a:t>03</a:t>
            </a:r>
            <a:endParaRPr lang="en-US" sz="2000" dirty="0"/>
          </a:p>
        </p:txBody>
      </p:sp>
      <p:sp>
        <p:nvSpPr>
          <p:cNvPr id="37" name="Text 32"/>
          <p:cNvSpPr txBox="1"/>
          <p:nvPr/>
        </p:nvSpPr>
        <p:spPr>
          <a:xfrm>
            <a:off x="8385048" y="2834640"/>
            <a:ext cx="2852928" cy="292608"/>
          </a:xfrm>
          <a:prstGeom prst="rect">
            <a:avLst/>
          </a:prstGeom>
          <a:noFill/>
          <a:ln/>
        </p:spPr>
        <p:txBody>
          <a:bodyPr wrap="square" lIns="0" tIns="0" rIns="0" bIns="0" rtlCol="0" anchor="t"/>
          <a:lstStyle/>
          <a:p>
            <a:pPr marL="0" indent="0">
              <a:buNone/>
            </a:pPr>
            <a:r>
              <a:rPr lang="en-US" sz="1100" b="1" kern="0" spc="100" dirty="0">
                <a:solidFill>
                  <a:srgbClr val="F0A583"/>
                </a:solidFill>
                <a:latin typeface="Malgun Gothic" pitchFamily="34" charset="0"/>
                <a:ea typeface="Malgun Gothic" pitchFamily="34" charset="-122"/>
                <a:cs typeface="Malgun Gothic" pitchFamily="34" charset="-120"/>
              </a:rPr>
              <a:t>WEEKEND DIVIDEND</a:t>
            </a:r>
            <a:endParaRPr lang="en-US" sz="1100" dirty="0"/>
          </a:p>
        </p:txBody>
      </p:sp>
      <p:sp>
        <p:nvSpPr>
          <p:cNvPr id="38" name="Text 33"/>
          <p:cNvSpPr txBox="1"/>
          <p:nvPr/>
        </p:nvSpPr>
        <p:spPr>
          <a:xfrm>
            <a:off x="8385048" y="3108960"/>
            <a:ext cx="2852928" cy="411480"/>
          </a:xfrm>
          <a:prstGeom prst="rect">
            <a:avLst/>
          </a:prstGeom>
          <a:noFill/>
          <a:ln/>
        </p:spPr>
        <p:txBody>
          <a:bodyPr wrap="square" lIns="0" tIns="0" rIns="0" bIns="0" rtlCol="0" anchor="t"/>
          <a:lstStyle/>
          <a:p>
            <a:pPr marL="0" indent="0">
              <a:buNone/>
            </a:pPr>
            <a:r>
              <a:rPr lang="en-US" sz="2000" b="1" dirty="0">
                <a:solidFill>
                  <a:srgbClr val="F6F0E6"/>
                </a:solidFill>
                <a:latin typeface="Malgun Gothic" pitchFamily="34" charset="0"/>
                <a:ea typeface="Malgun Gothic" pitchFamily="34" charset="-122"/>
                <a:cs typeface="Malgun Gothic" pitchFamily="34" charset="-120"/>
              </a:rPr>
              <a:t>주말 배당</a:t>
            </a:r>
            <a:endParaRPr lang="en-US" sz="2000" dirty="0"/>
          </a:p>
        </p:txBody>
      </p:sp>
      <p:sp>
        <p:nvSpPr>
          <p:cNvPr id="39" name="Text 34"/>
          <p:cNvSpPr txBox="1"/>
          <p:nvPr/>
        </p:nvSpPr>
        <p:spPr>
          <a:xfrm>
            <a:off x="8385048" y="3566160"/>
            <a:ext cx="2852928" cy="548640"/>
          </a:xfrm>
          <a:prstGeom prst="rect">
            <a:avLst/>
          </a:prstGeom>
          <a:noFill/>
          <a:ln/>
        </p:spPr>
        <p:txBody>
          <a:bodyPr wrap="square" lIns="0" tIns="0" rIns="0" bIns="0" rtlCol="0" anchor="t"/>
          <a:lstStyle/>
          <a:p>
            <a:pPr marL="0" indent="0">
              <a:lnSpc>
                <a:spcPct val="115000"/>
              </a:lnSpc>
              <a:buNone/>
            </a:pPr>
            <a:r>
              <a:rPr lang="en-US" sz="1250" dirty="0">
                <a:solidFill>
                  <a:srgbClr val="D5E2DC"/>
                </a:solidFill>
                <a:latin typeface="Malgun Gothic" pitchFamily="34" charset="0"/>
                <a:ea typeface="Malgun Gothic" pitchFamily="34" charset="-122"/>
                <a:cs typeface="Malgun Gothic" pitchFamily="34" charset="-120"/>
              </a:rPr>
              <a:t>평일 활동을 배당금 통장으로</a:t>
            </a:r>
            <a:endParaRPr lang="en-US" sz="1250" dirty="0"/>
          </a:p>
          <a:p>
            <a:pPr marL="0" indent="0">
              <a:lnSpc>
                <a:spcPct val="115000"/>
              </a:lnSpc>
              <a:buNone/>
            </a:pPr>
            <a:r>
              <a:rPr lang="en-US" sz="1250" dirty="0">
                <a:solidFill>
                  <a:srgbClr val="D5E2DC"/>
                </a:solidFill>
                <a:latin typeface="Malgun Gothic" pitchFamily="34" charset="0"/>
                <a:ea typeface="Malgun Gothic" pitchFamily="34" charset="-122"/>
                <a:cs typeface="Malgun Gothic" pitchFamily="34" charset="-120"/>
              </a:rPr>
              <a:t>돌려줘 휴장일에도 부릅니다</a:t>
            </a:r>
            <a:endParaRPr lang="en-US" sz="1250" dirty="0"/>
          </a:p>
        </p:txBody>
      </p:sp>
      <p:sp>
        <p:nvSpPr>
          <p:cNvPr id="40" name="Text 35"/>
          <p:cNvSpPr txBox="1"/>
          <p:nvPr/>
        </p:nvSpPr>
        <p:spPr>
          <a:xfrm>
            <a:off x="8385048" y="4133088"/>
            <a:ext cx="2852928" cy="256032"/>
          </a:xfrm>
          <a:prstGeom prst="rect">
            <a:avLst/>
          </a:prstGeom>
          <a:noFill/>
          <a:ln/>
        </p:spPr>
        <p:txBody>
          <a:bodyPr wrap="square" lIns="0" tIns="0" rIns="0" bIns="0" rtlCol="0" anchor="t"/>
          <a:lstStyle/>
          <a:p>
            <a:pPr marL="0" indent="0">
              <a:buNone/>
            </a:pPr>
            <a:r>
              <a:rPr lang="en-US" sz="1050" b="1" dirty="0">
                <a:solidFill>
                  <a:srgbClr val="9DB5AB"/>
                </a:solidFill>
                <a:latin typeface="Malgun Gothic" pitchFamily="34" charset="0"/>
                <a:ea typeface="Malgun Gothic" pitchFamily="34" charset="-122"/>
                <a:cs typeface="Malgun Gothic" pitchFamily="34" charset="-120"/>
              </a:rPr>
              <a:t>주말 · 공휴일</a:t>
            </a:r>
            <a:endParaRPr lang="en-US" sz="1050" dirty="0"/>
          </a:p>
        </p:txBody>
      </p:sp>
      <p:sp>
        <p:nvSpPr>
          <p:cNvPr id="41" name="Shape 36"/>
          <p:cNvSpPr/>
          <p:nvPr/>
        </p:nvSpPr>
        <p:spPr>
          <a:xfrm>
            <a:off x="612648" y="4709160"/>
            <a:ext cx="10972800" cy="502920"/>
          </a:xfrm>
          <a:prstGeom prst="roundRect">
            <a:avLst>
              <a:gd name="adj" fmla="val 49091"/>
            </a:avLst>
          </a:prstGeom>
          <a:solidFill>
            <a:srgbClr val="F6F0E6"/>
          </a:solidFill>
          <a:ln w="15875">
            <a:solidFill>
              <a:srgbClr val="C85B35"/>
            </a:solidFill>
            <a:prstDash val="solid"/>
          </a:ln>
        </p:spPr>
      </p:sp>
      <p:pic>
        <p:nvPicPr>
          <p:cNvPr id="42" name="Image 3" descr="preencoded.png"/>
          <p:cNvPicPr>
            <a:picLocks noChangeAspect="1"/>
          </p:cNvPicPr>
          <p:nvPr/>
        </p:nvPicPr>
        <p:blipFill>
          <a:blip r:embed="rId6"/>
          <a:stretch>
            <a:fillRect/>
          </a:stretch>
        </p:blipFill>
        <p:spPr>
          <a:xfrm>
            <a:off x="841248" y="4828032"/>
            <a:ext cx="265176" cy="265176"/>
          </a:xfrm>
          <a:prstGeom prst="rect">
            <a:avLst/>
          </a:prstGeom>
        </p:spPr>
      </p:pic>
      <p:sp>
        <p:nvSpPr>
          <p:cNvPr id="43" name="Text 37"/>
          <p:cNvSpPr txBox="1"/>
          <p:nvPr/>
        </p:nvSpPr>
        <p:spPr>
          <a:xfrm>
            <a:off x="1252728" y="4709160"/>
            <a:ext cx="10149840" cy="502920"/>
          </a:xfrm>
          <a:prstGeom prst="rect">
            <a:avLst/>
          </a:prstGeom>
          <a:noFill/>
          <a:ln/>
        </p:spPr>
        <p:txBody>
          <a:bodyPr wrap="square" lIns="0" tIns="0" rIns="0" bIns="0" rtlCol="0" anchor="ctr"/>
          <a:lstStyle/>
          <a:p>
            <a:pPr marL="0" indent="0">
              <a:buNone/>
            </a:pPr>
            <a:r>
              <a:rPr lang="en-US" sz="1250" b="1" dirty="0">
                <a:solidFill>
                  <a:srgbClr val="123F34"/>
                </a:solidFill>
                <a:latin typeface="Malgun Gothic" pitchFamily="34" charset="0"/>
                <a:ea typeface="Malgun Gothic" pitchFamily="34" charset="-122"/>
                <a:cs typeface="Malgun Gothic" pitchFamily="34" charset="-120"/>
              </a:rPr>
              <a:t>배당은 휴장일에만 쓰고, 다음 거래일 15:30이 되면 다시 빵장이 열립니다 — 한 주가 끝나도 루프는 이어집니다</a:t>
            </a:r>
            <a:endParaRPr lang="en-US" sz="1250" dirty="0"/>
          </a:p>
        </p:txBody>
      </p:sp>
      <p:sp>
        <p:nvSpPr>
          <p:cNvPr id="44" name="Shape 38"/>
          <p:cNvSpPr/>
          <p:nvPr/>
        </p:nvSpPr>
        <p:spPr>
          <a:xfrm>
            <a:off x="612648" y="5440680"/>
            <a:ext cx="10972800" cy="658368"/>
          </a:xfrm>
          <a:prstGeom prst="roundRect">
            <a:avLst>
              <a:gd name="adj" fmla="val 16667"/>
            </a:avLst>
          </a:prstGeom>
          <a:solidFill>
            <a:srgbClr val="123F34"/>
          </a:solidFill>
          <a:ln/>
        </p:spPr>
      </p:sp>
      <p:sp>
        <p:nvSpPr>
          <p:cNvPr id="45" name="Text 39"/>
          <p:cNvSpPr txBox="1"/>
          <p:nvPr/>
        </p:nvSpPr>
        <p:spPr>
          <a:xfrm>
            <a:off x="886968" y="5440680"/>
            <a:ext cx="10424160" cy="658368"/>
          </a:xfrm>
          <a:prstGeom prst="rect">
            <a:avLst/>
          </a:prstGeom>
          <a:noFill/>
          <a:ln/>
        </p:spPr>
        <p:txBody>
          <a:bodyPr wrap="square" lIns="0" tIns="0" rIns="0" bIns="0" rtlCol="0" anchor="ctr"/>
          <a:lstStyle/>
          <a:p>
            <a:pPr marL="0" indent="0" algn="l">
              <a:buNone/>
            </a:pPr>
            <a:r>
              <a:rPr lang="en-US" sz="1450" b="1" dirty="0">
                <a:solidFill>
                  <a:srgbClr val="F0A583"/>
                </a:solidFill>
                <a:latin typeface="Malgun Gothic" pitchFamily="34" charset="0"/>
                <a:ea typeface="Malgun Gothic" pitchFamily="34" charset="-122"/>
                <a:cs typeface="Malgun Gothic" pitchFamily="34" charset="-120"/>
              </a:rPr>
              <a:t>핵심 가치  </a:t>
            </a:r>
            <a:r>
              <a:rPr lang="en-US" sz="1450" b="1" dirty="0">
                <a:solidFill>
                  <a:srgbClr val="F6F0E6"/>
                </a:solidFill>
                <a:latin typeface="Malgun Gothic" pitchFamily="34" charset="0"/>
                <a:ea typeface="Malgun Gothic" pitchFamily="34" charset="-122"/>
                <a:cs typeface="Malgun Gothic" pitchFamily="34" charset="-120"/>
              </a:rPr>
              <a:t>시장 데이터가 가격을 바꾸고, 고객 행동 데이터가 다음 구매를 만듭니다.</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빵시장 ①</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01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123F34"/>
          </a:solidFill>
          <a:ln w="12700">
            <a:solidFill>
              <a:srgbClr val="123F34"/>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F6F0E6"/>
          </a:solidFill>
          <a:ln w="12700">
            <a:solidFill>
              <a:srgbClr val="C9D8CF"/>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F6F0E6"/>
          </a:solidFill>
          <a:ln w="12700">
            <a:solidFill>
              <a:srgbClr val="C9D8CF"/>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05</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국장이 끝나는 15:30, 오늘의 빵장이 열립니다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코스피 종가가 할인 상품군과 할인율을 정하고, 자정이 지나면 정상가로 돌아갑니다.</a:t>
            </a:r>
            <a:endParaRPr lang="en-US" sz="1350" dirty="0"/>
          </a:p>
        </p:txBody>
      </p:sp>
      <p:sp>
        <p:nvSpPr>
          <p:cNvPr id="17" name="Shape 15"/>
          <p:cNvSpPr/>
          <p:nvPr/>
        </p:nvSpPr>
        <p:spPr>
          <a:xfrm>
            <a:off x="768096" y="2103120"/>
            <a:ext cx="0" cy="3291840"/>
          </a:xfrm>
          <a:prstGeom prst="line">
            <a:avLst/>
          </a:prstGeom>
          <a:noFill/>
          <a:ln w="25400">
            <a:solidFill>
              <a:srgbClr val="C9D8CF"/>
            </a:solidFill>
            <a:prstDash val="solid"/>
          </a:ln>
        </p:spPr>
      </p:sp>
      <p:sp>
        <p:nvSpPr>
          <p:cNvPr id="18" name="Shape 16"/>
          <p:cNvSpPr/>
          <p:nvPr/>
        </p:nvSpPr>
        <p:spPr>
          <a:xfrm>
            <a:off x="612648" y="1965960"/>
            <a:ext cx="310896" cy="310896"/>
          </a:xfrm>
          <a:prstGeom prst="ellipse">
            <a:avLst/>
          </a:prstGeom>
          <a:solidFill>
            <a:srgbClr val="123F34"/>
          </a:solidFill>
          <a:ln/>
        </p:spPr>
      </p:sp>
      <p:sp>
        <p:nvSpPr>
          <p:cNvPr id="19" name="Text 17"/>
          <p:cNvSpPr txBox="1"/>
          <p:nvPr/>
        </p:nvSpPr>
        <p:spPr>
          <a:xfrm>
            <a:off x="1344168" y="1920240"/>
            <a:ext cx="1920240" cy="36576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09:00–15:30</a:t>
            </a:r>
            <a:endParaRPr lang="en-US" sz="1600" dirty="0"/>
          </a:p>
        </p:txBody>
      </p:sp>
      <p:sp>
        <p:nvSpPr>
          <p:cNvPr id="20" name="Text 18"/>
          <p:cNvSpPr txBox="1"/>
          <p:nvPr/>
        </p:nvSpPr>
        <p:spPr>
          <a:xfrm>
            <a:off x="1344168" y="2286000"/>
            <a:ext cx="1920240" cy="320040"/>
          </a:xfrm>
          <a:prstGeom prst="rect">
            <a:avLst/>
          </a:prstGeom>
          <a:noFill/>
          <a:ln/>
        </p:spPr>
        <p:txBody>
          <a:bodyPr wrap="square" lIns="0" tIns="0" rIns="0" bIns="0" rtlCol="0" anchor="t"/>
          <a:lstStyle/>
          <a:p>
            <a:pPr marL="0" indent="0">
              <a:buNone/>
            </a:pPr>
            <a:r>
              <a:rPr lang="en-US" sz="1200" b="1" dirty="0">
                <a:solidFill>
                  <a:srgbClr val="3D5A50"/>
                </a:solidFill>
                <a:latin typeface="Malgun Gothic" pitchFamily="34" charset="0"/>
                <a:ea typeface="Malgun Gothic" pitchFamily="34" charset="-122"/>
                <a:cs typeface="Malgun Gothic" pitchFamily="34" charset="-120"/>
              </a:rPr>
              <a:t>KOSPI LIVE</a:t>
            </a:r>
            <a:endParaRPr lang="en-US" sz="1200" dirty="0"/>
          </a:p>
        </p:txBody>
      </p:sp>
      <p:sp>
        <p:nvSpPr>
          <p:cNvPr id="21" name="Text 19"/>
          <p:cNvSpPr txBox="1"/>
          <p:nvPr/>
        </p:nvSpPr>
        <p:spPr>
          <a:xfrm>
            <a:off x="3355848" y="1947672"/>
            <a:ext cx="3749040" cy="731520"/>
          </a:xfrm>
          <a:prstGeom prst="rect">
            <a:avLst/>
          </a:prstGeom>
          <a:noFill/>
          <a:ln/>
        </p:spPr>
        <p:txBody>
          <a:bodyPr wrap="square" lIns="0" tIns="0" rIns="0" bIns="0" rtlCol="0" anchor="ctr"/>
          <a:lstStyle/>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시장 방향과 변동폭을 관찰하며</a:t>
            </a:r>
            <a:endParaRPr lang="en-US" sz="1200" dirty="0"/>
          </a:p>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오늘 어떤 빵장이 열릴지 기대를 만듭니다</a:t>
            </a:r>
            <a:endParaRPr lang="en-US" sz="1200" dirty="0"/>
          </a:p>
        </p:txBody>
      </p:sp>
      <p:sp>
        <p:nvSpPr>
          <p:cNvPr id="22" name="Shape 20"/>
          <p:cNvSpPr/>
          <p:nvPr/>
        </p:nvSpPr>
        <p:spPr>
          <a:xfrm>
            <a:off x="612648" y="3063240"/>
            <a:ext cx="310896" cy="310896"/>
          </a:xfrm>
          <a:prstGeom prst="ellipse">
            <a:avLst/>
          </a:prstGeom>
          <a:solidFill>
            <a:srgbClr val="C85B35"/>
          </a:solidFill>
          <a:ln/>
        </p:spPr>
      </p:sp>
      <p:sp>
        <p:nvSpPr>
          <p:cNvPr id="23" name="Shape 21"/>
          <p:cNvSpPr/>
          <p:nvPr/>
        </p:nvSpPr>
        <p:spPr>
          <a:xfrm>
            <a:off x="1115568" y="2898648"/>
            <a:ext cx="6035040" cy="987552"/>
          </a:xfrm>
          <a:prstGeom prst="roundRect">
            <a:avLst>
              <a:gd name="adj" fmla="val 11111"/>
            </a:avLst>
          </a:prstGeom>
          <a:solidFill>
            <a:srgbClr val="FFFFFF"/>
          </a:solidFill>
          <a:ln/>
          <a:effectLst>
            <a:outerShdw blurRad="101600" dist="25400" dir="5400000" algn="bl" rotWithShape="0">
              <a:srgbClr val="123F34">
                <a:alpha val="12000"/>
              </a:srgbClr>
            </a:outerShdw>
          </a:effectLst>
        </p:spPr>
      </p:sp>
      <p:sp>
        <p:nvSpPr>
          <p:cNvPr id="24" name="Text 22"/>
          <p:cNvSpPr txBox="1"/>
          <p:nvPr/>
        </p:nvSpPr>
        <p:spPr>
          <a:xfrm>
            <a:off x="1344168" y="3017520"/>
            <a:ext cx="1920240" cy="365760"/>
          </a:xfrm>
          <a:prstGeom prst="rect">
            <a:avLst/>
          </a:prstGeom>
          <a:noFill/>
          <a:ln/>
        </p:spPr>
        <p:txBody>
          <a:bodyPr wrap="square" lIns="0" tIns="0" rIns="0" bIns="0" rtlCol="0" anchor="t"/>
          <a:lstStyle/>
          <a:p>
            <a:pPr marL="0" indent="0">
              <a:buNone/>
            </a:pPr>
            <a:r>
              <a:rPr lang="en-US" sz="1600" b="1" dirty="0">
                <a:solidFill>
                  <a:srgbClr val="C85B35"/>
                </a:solidFill>
                <a:latin typeface="Malgun Gothic" pitchFamily="34" charset="0"/>
                <a:ea typeface="Malgun Gothic" pitchFamily="34" charset="-122"/>
                <a:cs typeface="Malgun Gothic" pitchFamily="34" charset="-120"/>
              </a:rPr>
              <a:t>15:30</a:t>
            </a:r>
            <a:endParaRPr lang="en-US" sz="1600" dirty="0"/>
          </a:p>
        </p:txBody>
      </p:sp>
      <p:sp>
        <p:nvSpPr>
          <p:cNvPr id="25" name="Text 23"/>
          <p:cNvSpPr txBox="1"/>
          <p:nvPr/>
        </p:nvSpPr>
        <p:spPr>
          <a:xfrm>
            <a:off x="1344168" y="3383280"/>
            <a:ext cx="1920240" cy="320040"/>
          </a:xfrm>
          <a:prstGeom prst="rect">
            <a:avLst/>
          </a:prstGeom>
          <a:noFill/>
          <a:ln/>
        </p:spPr>
        <p:txBody>
          <a:bodyPr wrap="square" lIns="0" tIns="0" rIns="0" bIns="0" rtlCol="0" anchor="t"/>
          <a:lstStyle/>
          <a:p>
            <a:pPr marL="0" indent="0">
              <a:buNone/>
            </a:pPr>
            <a:r>
              <a:rPr lang="en-US" sz="1200" b="1" dirty="0">
                <a:solidFill>
                  <a:srgbClr val="3D5A50"/>
                </a:solidFill>
                <a:latin typeface="Malgun Gothic" pitchFamily="34" charset="0"/>
                <a:ea typeface="Malgun Gothic" pitchFamily="34" charset="-122"/>
                <a:cs typeface="Malgun Gothic" pitchFamily="34" charset="-120"/>
              </a:rPr>
              <a:t>빵장 OPEN</a:t>
            </a:r>
            <a:endParaRPr lang="en-US" sz="1200" dirty="0"/>
          </a:p>
        </p:txBody>
      </p:sp>
      <p:sp>
        <p:nvSpPr>
          <p:cNvPr id="26" name="Text 24"/>
          <p:cNvSpPr txBox="1"/>
          <p:nvPr/>
        </p:nvSpPr>
        <p:spPr>
          <a:xfrm>
            <a:off x="3355848" y="3044952"/>
            <a:ext cx="3749040" cy="731520"/>
          </a:xfrm>
          <a:prstGeom prst="rect">
            <a:avLst/>
          </a:prstGeom>
          <a:noFill/>
          <a:ln/>
        </p:spPr>
        <p:txBody>
          <a:bodyPr wrap="square" lIns="0" tIns="0" rIns="0" bIns="0" rtlCol="0" anchor="ctr"/>
          <a:lstStyle/>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종가의 상승·하락 방향으로 할인 상품군을,</a:t>
            </a:r>
            <a:endParaRPr lang="en-US" sz="1200" dirty="0"/>
          </a:p>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변동폭으로 할인율을 확정합니다</a:t>
            </a:r>
            <a:endParaRPr lang="en-US" sz="1200" dirty="0"/>
          </a:p>
        </p:txBody>
      </p:sp>
      <p:sp>
        <p:nvSpPr>
          <p:cNvPr id="27" name="Shape 25"/>
          <p:cNvSpPr/>
          <p:nvPr/>
        </p:nvSpPr>
        <p:spPr>
          <a:xfrm>
            <a:off x="612648" y="4160520"/>
            <a:ext cx="310896" cy="310896"/>
          </a:xfrm>
          <a:prstGeom prst="ellipse">
            <a:avLst/>
          </a:prstGeom>
          <a:solidFill>
            <a:srgbClr val="123F34"/>
          </a:solidFill>
          <a:ln/>
        </p:spPr>
      </p:sp>
      <p:sp>
        <p:nvSpPr>
          <p:cNvPr id="28" name="Text 26"/>
          <p:cNvSpPr txBox="1"/>
          <p:nvPr/>
        </p:nvSpPr>
        <p:spPr>
          <a:xfrm>
            <a:off x="1344168" y="4114800"/>
            <a:ext cx="1920240" cy="36576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15:30–24:00</a:t>
            </a:r>
            <a:endParaRPr lang="en-US" sz="1600" dirty="0"/>
          </a:p>
        </p:txBody>
      </p:sp>
      <p:sp>
        <p:nvSpPr>
          <p:cNvPr id="29" name="Text 27"/>
          <p:cNvSpPr txBox="1"/>
          <p:nvPr/>
        </p:nvSpPr>
        <p:spPr>
          <a:xfrm>
            <a:off x="1344168" y="4480560"/>
            <a:ext cx="1920240" cy="320040"/>
          </a:xfrm>
          <a:prstGeom prst="rect">
            <a:avLst/>
          </a:prstGeom>
          <a:noFill/>
          <a:ln/>
        </p:spPr>
        <p:txBody>
          <a:bodyPr wrap="square" lIns="0" tIns="0" rIns="0" bIns="0" rtlCol="0" anchor="t"/>
          <a:lstStyle/>
          <a:p>
            <a:pPr marL="0" indent="0">
              <a:buNone/>
            </a:pPr>
            <a:r>
              <a:rPr lang="en-US" sz="1200" b="1" dirty="0">
                <a:solidFill>
                  <a:srgbClr val="3D5A50"/>
                </a:solidFill>
                <a:latin typeface="Malgun Gothic" pitchFamily="34" charset="0"/>
                <a:ea typeface="Malgun Gothic" pitchFamily="34" charset="-122"/>
                <a:cs typeface="Malgun Gothic" pitchFamily="34" charset="-120"/>
              </a:rPr>
              <a:t>구매 · 관심 축적</a:t>
            </a:r>
            <a:endParaRPr lang="en-US" sz="1200" dirty="0"/>
          </a:p>
        </p:txBody>
      </p:sp>
      <p:sp>
        <p:nvSpPr>
          <p:cNvPr id="30" name="Text 28"/>
          <p:cNvSpPr txBox="1"/>
          <p:nvPr/>
        </p:nvSpPr>
        <p:spPr>
          <a:xfrm>
            <a:off x="3355848" y="4142232"/>
            <a:ext cx="3749040" cy="731520"/>
          </a:xfrm>
          <a:prstGeom prst="rect">
            <a:avLst/>
          </a:prstGeom>
          <a:noFill/>
          <a:ln/>
        </p:spPr>
        <p:txBody>
          <a:bodyPr wrap="square" lIns="0" tIns="0" rIns="0" bIns="0" rtlCol="0" anchor="ctr"/>
          <a:lstStyle/>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할인 상품 구매, 관심빵 저장 —</a:t>
            </a:r>
            <a:endParaRPr lang="en-US" sz="1200" dirty="0"/>
          </a:p>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모든 행동이 포트폴리오에 쌓입니다</a:t>
            </a:r>
            <a:endParaRPr lang="en-US" sz="1200" dirty="0"/>
          </a:p>
        </p:txBody>
      </p:sp>
      <p:sp>
        <p:nvSpPr>
          <p:cNvPr id="31" name="Shape 29"/>
          <p:cNvSpPr/>
          <p:nvPr/>
        </p:nvSpPr>
        <p:spPr>
          <a:xfrm>
            <a:off x="612648" y="5257800"/>
            <a:ext cx="310896" cy="310896"/>
          </a:xfrm>
          <a:prstGeom prst="ellipse">
            <a:avLst/>
          </a:prstGeom>
          <a:solidFill>
            <a:srgbClr val="123F34"/>
          </a:solidFill>
          <a:ln/>
        </p:spPr>
      </p:sp>
      <p:sp>
        <p:nvSpPr>
          <p:cNvPr id="32" name="Text 30"/>
          <p:cNvSpPr txBox="1"/>
          <p:nvPr/>
        </p:nvSpPr>
        <p:spPr>
          <a:xfrm>
            <a:off x="1344168" y="5212080"/>
            <a:ext cx="1920240" cy="36576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24:00</a:t>
            </a:r>
            <a:endParaRPr lang="en-US" sz="1600" dirty="0"/>
          </a:p>
        </p:txBody>
      </p:sp>
      <p:sp>
        <p:nvSpPr>
          <p:cNvPr id="33" name="Text 31"/>
          <p:cNvSpPr txBox="1"/>
          <p:nvPr/>
        </p:nvSpPr>
        <p:spPr>
          <a:xfrm>
            <a:off x="1344168" y="5577840"/>
            <a:ext cx="1920240" cy="320040"/>
          </a:xfrm>
          <a:prstGeom prst="rect">
            <a:avLst/>
          </a:prstGeom>
          <a:noFill/>
          <a:ln/>
        </p:spPr>
        <p:txBody>
          <a:bodyPr wrap="square" lIns="0" tIns="0" rIns="0" bIns="0" rtlCol="0" anchor="t"/>
          <a:lstStyle/>
          <a:p>
            <a:pPr marL="0" indent="0">
              <a:buNone/>
            </a:pPr>
            <a:r>
              <a:rPr lang="en-US" sz="1200" b="1" dirty="0">
                <a:solidFill>
                  <a:srgbClr val="3D5A50"/>
                </a:solidFill>
                <a:latin typeface="Malgun Gothic" pitchFamily="34" charset="0"/>
                <a:ea typeface="Malgun Gothic" pitchFamily="34" charset="-122"/>
                <a:cs typeface="Malgun Gothic" pitchFamily="34" charset="-120"/>
              </a:rPr>
              <a:t>정상가 복원</a:t>
            </a:r>
            <a:endParaRPr lang="en-US" sz="1200" dirty="0"/>
          </a:p>
        </p:txBody>
      </p:sp>
      <p:sp>
        <p:nvSpPr>
          <p:cNvPr id="34" name="Text 32"/>
          <p:cNvSpPr txBox="1"/>
          <p:nvPr/>
        </p:nvSpPr>
        <p:spPr>
          <a:xfrm>
            <a:off x="3355848" y="5239512"/>
            <a:ext cx="3749040" cy="731520"/>
          </a:xfrm>
          <a:prstGeom prst="rect">
            <a:avLst/>
          </a:prstGeom>
          <a:noFill/>
          <a:ln/>
        </p:spPr>
        <p:txBody>
          <a:bodyPr wrap="square" lIns="0" tIns="0" rIns="0" bIns="0" rtlCol="0" anchor="ctr"/>
          <a:lstStyle/>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하루 이벤트를 마감하고</a:t>
            </a:r>
            <a:endParaRPr lang="en-US" sz="1200" dirty="0"/>
          </a:p>
          <a:p>
            <a:pPr marL="0" indent="0">
              <a:lnSpc>
                <a:spcPct val="115000"/>
              </a:lnSpc>
              <a:buNone/>
            </a:pPr>
            <a:r>
              <a:rPr lang="en-US" sz="1200" dirty="0">
                <a:solidFill>
                  <a:srgbClr val="3D5A50"/>
                </a:solidFill>
                <a:latin typeface="Malgun Gothic" pitchFamily="34" charset="0"/>
                <a:ea typeface="Malgun Gothic" pitchFamily="34" charset="-122"/>
                <a:cs typeface="Malgun Gothic" pitchFamily="34" charset="-120"/>
              </a:rPr>
              <a:t>다음 거래일을 기다립니다</a:t>
            </a:r>
            <a:endParaRPr lang="en-US" sz="1200" dirty="0"/>
          </a:p>
        </p:txBody>
      </p:sp>
      <p:sp>
        <p:nvSpPr>
          <p:cNvPr id="35" name="Shape 33"/>
          <p:cNvSpPr/>
          <p:nvPr/>
        </p:nvSpPr>
        <p:spPr>
          <a:xfrm>
            <a:off x="7406640" y="1783080"/>
            <a:ext cx="4178808" cy="4297680"/>
          </a:xfrm>
          <a:prstGeom prst="roundRect">
            <a:avLst>
              <a:gd name="adj" fmla="val 2626"/>
            </a:avLst>
          </a:prstGeom>
          <a:solidFill>
            <a:srgbClr val="FFFFFF"/>
          </a:solidFill>
          <a:ln/>
          <a:effectLst>
            <a:outerShdw blurRad="101600" dist="25400" dir="5400000" algn="bl" rotWithShape="0">
              <a:srgbClr val="123F34">
                <a:alpha val="12000"/>
              </a:srgbClr>
            </a:outerShdw>
          </a:effectLst>
        </p:spPr>
      </p:sp>
      <p:pic>
        <p:nvPicPr>
          <p:cNvPr id="36" name="Image 0" descr="preencoded.png"/>
          <p:cNvPicPr>
            <a:picLocks noChangeAspect="1"/>
          </p:cNvPicPr>
          <p:nvPr/>
        </p:nvPicPr>
        <p:blipFill>
          <a:blip r:embed="rId3"/>
          <a:stretch>
            <a:fillRect/>
          </a:stretch>
        </p:blipFill>
        <p:spPr>
          <a:xfrm>
            <a:off x="7650672" y="1892808"/>
            <a:ext cx="3690744" cy="40782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빵시장 ③</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01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123F34"/>
          </a:solidFill>
          <a:ln w="12700">
            <a:solidFill>
              <a:srgbClr val="123F34"/>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F6F0E6"/>
          </a:solidFill>
          <a:ln w="12700">
            <a:solidFill>
              <a:srgbClr val="C9D8CF"/>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F6F0E6"/>
          </a:solidFill>
          <a:ln w="12700">
            <a:solidFill>
              <a:srgbClr val="C9D8CF"/>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06</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상승장엔 든든한 식사빵, 하락장엔 달달한 위로</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금융의 주식(株式)과 식생활의 주식(主食)을 잇는 MAKJI만의 브랜드 경험입니다.</a:t>
            </a:r>
            <a:endParaRPr lang="en-US" sz="1350" dirty="0"/>
          </a:p>
        </p:txBody>
      </p:sp>
      <p:sp>
        <p:nvSpPr>
          <p:cNvPr id="17" name="Shape 15"/>
          <p:cNvSpPr/>
          <p:nvPr/>
        </p:nvSpPr>
        <p:spPr>
          <a:xfrm>
            <a:off x="612648" y="1783080"/>
            <a:ext cx="5349240" cy="4251960"/>
          </a:xfrm>
          <a:prstGeom prst="roundRect">
            <a:avLst>
              <a:gd name="adj" fmla="val 2581"/>
            </a:avLst>
          </a:prstGeom>
          <a:solidFill>
            <a:srgbClr val="123F34"/>
          </a:solidFill>
          <a:ln/>
        </p:spPr>
      </p:sp>
      <p:sp>
        <p:nvSpPr>
          <p:cNvPr id="18" name="Text 16"/>
          <p:cNvSpPr txBox="1"/>
          <p:nvPr/>
        </p:nvSpPr>
        <p:spPr>
          <a:xfrm>
            <a:off x="932688" y="2057400"/>
            <a:ext cx="1828800" cy="365760"/>
          </a:xfrm>
          <a:prstGeom prst="rect">
            <a:avLst/>
          </a:prstGeom>
          <a:noFill/>
          <a:ln/>
        </p:spPr>
        <p:txBody>
          <a:bodyPr wrap="square" lIns="0" tIns="0" rIns="0" bIns="0" rtlCol="0" anchor="t"/>
          <a:lstStyle/>
          <a:p>
            <a:pPr marL="0" indent="0">
              <a:buNone/>
            </a:pPr>
            <a:r>
              <a:rPr lang="en-US" sz="1800" b="1" dirty="0">
                <a:solidFill>
                  <a:srgbClr val="F0A583"/>
                </a:solidFill>
                <a:latin typeface="Malgun Gothic" pitchFamily="34" charset="0"/>
                <a:ea typeface="Malgun Gothic" pitchFamily="34" charset="-122"/>
                <a:cs typeface="Malgun Gothic" pitchFamily="34" charset="-120"/>
              </a:rPr>
              <a:t>▲ 상승장</a:t>
            </a:r>
            <a:endParaRPr lang="en-US" sz="1800" dirty="0"/>
          </a:p>
        </p:txBody>
      </p:sp>
      <p:sp>
        <p:nvSpPr>
          <p:cNvPr id="19" name="Text 17"/>
          <p:cNvSpPr txBox="1"/>
          <p:nvPr/>
        </p:nvSpPr>
        <p:spPr>
          <a:xfrm>
            <a:off x="2441448" y="2057400"/>
            <a:ext cx="3200400" cy="365760"/>
          </a:xfrm>
          <a:prstGeom prst="rect">
            <a:avLst/>
          </a:prstGeom>
          <a:noFill/>
          <a:ln/>
        </p:spPr>
        <p:txBody>
          <a:bodyPr wrap="square" lIns="0" tIns="0" rIns="0" bIns="0" rtlCol="0" anchor="ctr"/>
          <a:lstStyle/>
          <a:p>
            <a:pPr marL="0" indent="0" algn="r">
              <a:buNone/>
            </a:pPr>
            <a:r>
              <a:rPr lang="en-US" sz="1250" b="1" dirty="0">
                <a:solidFill>
                  <a:srgbClr val="D5E2DC"/>
                </a:solidFill>
                <a:latin typeface="Malgun Gothic" pitchFamily="34" charset="0"/>
                <a:ea typeface="Malgun Gothic" pitchFamily="34" charset="-122"/>
                <a:cs typeface="Malgun Gothic" pitchFamily="34" charset="-120"/>
              </a:rPr>
              <a:t>주식(主食) · 식사빵 라인</a:t>
            </a:r>
            <a:endParaRPr lang="en-US" sz="1250" dirty="0"/>
          </a:p>
        </p:txBody>
      </p:sp>
      <p:sp>
        <p:nvSpPr>
          <p:cNvPr id="20" name="Text 18"/>
          <p:cNvSpPr txBox="1"/>
          <p:nvPr/>
        </p:nvSpPr>
        <p:spPr>
          <a:xfrm>
            <a:off x="932688" y="2560320"/>
            <a:ext cx="4709160" cy="1005840"/>
          </a:xfrm>
          <a:prstGeom prst="rect">
            <a:avLst/>
          </a:prstGeom>
          <a:noFill/>
          <a:ln/>
        </p:spPr>
        <p:txBody>
          <a:bodyPr wrap="square" lIns="0" tIns="0" rIns="0" bIns="0" rtlCol="0" anchor="t"/>
          <a:lstStyle/>
          <a:p>
            <a:pPr marL="0" indent="0">
              <a:lnSpc>
                <a:spcPct val="115000"/>
              </a:lnSpc>
              <a:buNone/>
            </a:pPr>
            <a:r>
              <a:rPr lang="en-US" sz="2100" b="1" dirty="0">
                <a:solidFill>
                  <a:srgbClr val="F6F0E6"/>
                </a:solidFill>
                <a:latin typeface="Malgun Gothic" pitchFamily="34" charset="0"/>
                <a:ea typeface="Malgun Gothic" pitchFamily="34" charset="-122"/>
                <a:cs typeface="Malgun Gothic" pitchFamily="34" charset="-120"/>
              </a:rPr>
              <a:t>“주식이 오르면,</a:t>
            </a:r>
            <a:endParaRPr lang="en-US" sz="2100" dirty="0"/>
          </a:p>
          <a:p>
            <a:pPr marL="0" indent="0">
              <a:lnSpc>
                <a:spcPct val="115000"/>
              </a:lnSpc>
              <a:buNone/>
            </a:pPr>
            <a:r>
              <a:rPr lang="en-US" sz="2100" b="1" dirty="0">
                <a:solidFill>
                  <a:srgbClr val="F6F0E6"/>
                </a:solidFill>
                <a:latin typeface="Malgun Gothic" pitchFamily="34" charset="0"/>
                <a:ea typeface="Malgun Gothic" pitchFamily="34" charset="-122"/>
                <a:cs typeface="Malgun Gothic" pitchFamily="34" charset="-120"/>
              </a:rPr>
              <a:t>주식으로 즐기는 한 끼”</a:t>
            </a:r>
            <a:endParaRPr lang="en-US" sz="2100" dirty="0"/>
          </a:p>
        </p:txBody>
      </p:sp>
      <p:sp>
        <p:nvSpPr>
          <p:cNvPr id="21" name="Shape 19"/>
          <p:cNvSpPr/>
          <p:nvPr/>
        </p:nvSpPr>
        <p:spPr>
          <a:xfrm>
            <a:off x="932688" y="3794760"/>
            <a:ext cx="2286000" cy="420624"/>
          </a:xfrm>
          <a:prstGeom prst="roundRect">
            <a:avLst>
              <a:gd name="adj" fmla="val 21739"/>
            </a:avLst>
          </a:prstGeom>
          <a:solidFill>
            <a:srgbClr val="1B4F42"/>
          </a:solidFill>
          <a:ln/>
        </p:spPr>
      </p:sp>
      <p:sp>
        <p:nvSpPr>
          <p:cNvPr id="22" name="Text 20"/>
          <p:cNvSpPr txBox="1"/>
          <p:nvPr/>
        </p:nvSpPr>
        <p:spPr>
          <a:xfrm>
            <a:off x="1069848" y="3794760"/>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냉동생지 3종</a:t>
            </a:r>
            <a:endParaRPr lang="en-US" sz="1150" dirty="0"/>
          </a:p>
        </p:txBody>
      </p:sp>
      <p:sp>
        <p:nvSpPr>
          <p:cNvPr id="23" name="Shape 21"/>
          <p:cNvSpPr/>
          <p:nvPr/>
        </p:nvSpPr>
        <p:spPr>
          <a:xfrm>
            <a:off x="3328416" y="3794760"/>
            <a:ext cx="2286000" cy="420624"/>
          </a:xfrm>
          <a:prstGeom prst="roundRect">
            <a:avLst>
              <a:gd name="adj" fmla="val 21739"/>
            </a:avLst>
          </a:prstGeom>
          <a:solidFill>
            <a:srgbClr val="1B4F42"/>
          </a:solidFill>
          <a:ln/>
        </p:spPr>
      </p:sp>
      <p:sp>
        <p:nvSpPr>
          <p:cNvPr id="24" name="Text 22"/>
          <p:cNvSpPr txBox="1"/>
          <p:nvPr/>
        </p:nvSpPr>
        <p:spPr>
          <a:xfrm>
            <a:off x="3465576" y="3794760"/>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테트리스 브레드</a:t>
            </a:r>
            <a:endParaRPr lang="en-US" sz="1150" dirty="0"/>
          </a:p>
        </p:txBody>
      </p:sp>
      <p:sp>
        <p:nvSpPr>
          <p:cNvPr id="25" name="Shape 23"/>
          <p:cNvSpPr/>
          <p:nvPr/>
        </p:nvSpPr>
        <p:spPr>
          <a:xfrm>
            <a:off x="932688" y="4325112"/>
            <a:ext cx="2286000" cy="420624"/>
          </a:xfrm>
          <a:prstGeom prst="roundRect">
            <a:avLst>
              <a:gd name="adj" fmla="val 21739"/>
            </a:avLst>
          </a:prstGeom>
          <a:solidFill>
            <a:srgbClr val="1B4F42"/>
          </a:solidFill>
          <a:ln/>
        </p:spPr>
      </p:sp>
      <p:sp>
        <p:nvSpPr>
          <p:cNvPr id="26" name="Text 24"/>
          <p:cNvSpPr txBox="1"/>
          <p:nvPr/>
        </p:nvSpPr>
        <p:spPr>
          <a:xfrm>
            <a:off x="1069848" y="4325112"/>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제로 무설탕 모닝롤</a:t>
            </a:r>
            <a:endParaRPr lang="en-US" sz="1150" dirty="0"/>
          </a:p>
        </p:txBody>
      </p:sp>
      <p:sp>
        <p:nvSpPr>
          <p:cNvPr id="27" name="Shape 25"/>
          <p:cNvSpPr/>
          <p:nvPr/>
        </p:nvSpPr>
        <p:spPr>
          <a:xfrm>
            <a:off x="3328416" y="4325112"/>
            <a:ext cx="2286000" cy="420624"/>
          </a:xfrm>
          <a:prstGeom prst="roundRect">
            <a:avLst>
              <a:gd name="adj" fmla="val 21739"/>
            </a:avLst>
          </a:prstGeom>
          <a:solidFill>
            <a:srgbClr val="1B4F42"/>
          </a:solidFill>
          <a:ln/>
        </p:spPr>
      </p:sp>
      <p:sp>
        <p:nvSpPr>
          <p:cNvPr id="28" name="Text 26"/>
          <p:cNvSpPr txBox="1"/>
          <p:nvPr/>
        </p:nvSpPr>
        <p:spPr>
          <a:xfrm>
            <a:off x="3465576" y="4325112"/>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비건 잉글리시 머핀</a:t>
            </a:r>
            <a:endParaRPr lang="en-US" sz="1150" dirty="0"/>
          </a:p>
        </p:txBody>
      </p:sp>
      <p:sp>
        <p:nvSpPr>
          <p:cNvPr id="29" name="Shape 27"/>
          <p:cNvSpPr/>
          <p:nvPr/>
        </p:nvSpPr>
        <p:spPr>
          <a:xfrm>
            <a:off x="932688" y="4855464"/>
            <a:ext cx="2286000" cy="420624"/>
          </a:xfrm>
          <a:prstGeom prst="roundRect">
            <a:avLst>
              <a:gd name="adj" fmla="val 21739"/>
            </a:avLst>
          </a:prstGeom>
          <a:solidFill>
            <a:srgbClr val="1B4F42"/>
          </a:solidFill>
          <a:ln/>
        </p:spPr>
      </p:sp>
      <p:sp>
        <p:nvSpPr>
          <p:cNvPr id="30" name="Text 28"/>
          <p:cNvSpPr txBox="1"/>
          <p:nvPr/>
        </p:nvSpPr>
        <p:spPr>
          <a:xfrm>
            <a:off x="1069848" y="4855464"/>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대만식 샌드위치</a:t>
            </a:r>
            <a:endParaRPr lang="en-US" sz="1150" dirty="0"/>
          </a:p>
        </p:txBody>
      </p:sp>
      <p:sp>
        <p:nvSpPr>
          <p:cNvPr id="31" name="Shape 29"/>
          <p:cNvSpPr/>
          <p:nvPr/>
        </p:nvSpPr>
        <p:spPr>
          <a:xfrm>
            <a:off x="3328416" y="4855464"/>
            <a:ext cx="2286000" cy="420624"/>
          </a:xfrm>
          <a:prstGeom prst="roundRect">
            <a:avLst>
              <a:gd name="adj" fmla="val 21739"/>
            </a:avLst>
          </a:prstGeom>
          <a:solidFill>
            <a:srgbClr val="1B4F42"/>
          </a:solidFill>
          <a:ln/>
        </p:spPr>
      </p:sp>
      <p:sp>
        <p:nvSpPr>
          <p:cNvPr id="32" name="Text 30"/>
          <p:cNvSpPr txBox="1"/>
          <p:nvPr/>
        </p:nvSpPr>
        <p:spPr>
          <a:xfrm>
            <a:off x="3465576" y="4855464"/>
            <a:ext cx="2103120" cy="420624"/>
          </a:xfrm>
          <a:prstGeom prst="rect">
            <a:avLst/>
          </a:prstGeom>
          <a:noFill/>
          <a:ln/>
        </p:spPr>
        <p:txBody>
          <a:bodyPr wrap="square" lIns="0" tIns="0" rIns="0" bIns="0" rtlCol="0" anchor="ctr"/>
          <a:lstStyle/>
          <a:p>
            <a:pPr marL="0" indent="0">
              <a:buNone/>
            </a:pPr>
            <a:r>
              <a:rPr lang="en-US" sz="1150" b="1" dirty="0">
                <a:solidFill>
                  <a:srgbClr val="F6F0E6"/>
                </a:solidFill>
                <a:latin typeface="Malgun Gothic" pitchFamily="34" charset="0"/>
                <a:ea typeface="Malgun Gothic" pitchFamily="34" charset="-122"/>
                <a:cs typeface="Malgun Gothic" pitchFamily="34" charset="-120"/>
              </a:rPr>
              <a:t>ZERO 카스테라</a:t>
            </a:r>
            <a:endParaRPr lang="en-US" sz="1150" dirty="0"/>
          </a:p>
        </p:txBody>
      </p:sp>
      <p:sp>
        <p:nvSpPr>
          <p:cNvPr id="33" name="Text 31"/>
          <p:cNvSpPr txBox="1"/>
          <p:nvPr/>
        </p:nvSpPr>
        <p:spPr>
          <a:xfrm>
            <a:off x="932688" y="5532120"/>
            <a:ext cx="4709160" cy="274320"/>
          </a:xfrm>
          <a:prstGeom prst="rect">
            <a:avLst/>
          </a:prstGeom>
          <a:noFill/>
          <a:ln/>
        </p:spPr>
        <p:txBody>
          <a:bodyPr wrap="square" lIns="0" tIns="0" rIns="0" bIns="0" rtlCol="0" anchor="t"/>
          <a:lstStyle/>
          <a:p>
            <a:pPr marL="0" indent="0">
              <a:buNone/>
            </a:pPr>
            <a:r>
              <a:rPr lang="en-US" sz="1100" b="1" dirty="0">
                <a:solidFill>
                  <a:srgbClr val="9DB5AB"/>
                </a:solidFill>
                <a:latin typeface="Malgun Gothic" pitchFamily="34" charset="0"/>
                <a:ea typeface="Malgun Gothic" pitchFamily="34" charset="-122"/>
                <a:cs typeface="Malgun Gothic" pitchFamily="34" charset="-120"/>
              </a:rPr>
              <a:t>식사형 · 데일리 6종</a:t>
            </a:r>
            <a:endParaRPr lang="en-US" sz="1100" dirty="0"/>
          </a:p>
        </p:txBody>
      </p:sp>
      <p:sp>
        <p:nvSpPr>
          <p:cNvPr id="34" name="Shape 32"/>
          <p:cNvSpPr/>
          <p:nvPr/>
        </p:nvSpPr>
        <p:spPr>
          <a:xfrm>
            <a:off x="6236208" y="1783080"/>
            <a:ext cx="5349240" cy="4251960"/>
          </a:xfrm>
          <a:prstGeom prst="roundRect">
            <a:avLst>
              <a:gd name="adj" fmla="val 2581"/>
            </a:avLst>
          </a:prstGeom>
          <a:solidFill>
            <a:srgbClr val="FFFFFF"/>
          </a:solidFill>
          <a:ln/>
          <a:effectLst>
            <a:outerShdw blurRad="101600" dist="25400" dir="5400000" algn="bl" rotWithShape="0">
              <a:srgbClr val="123F34">
                <a:alpha val="12000"/>
              </a:srgbClr>
            </a:outerShdw>
          </a:effectLst>
        </p:spPr>
      </p:sp>
      <p:sp>
        <p:nvSpPr>
          <p:cNvPr id="35" name="Text 33"/>
          <p:cNvSpPr txBox="1"/>
          <p:nvPr/>
        </p:nvSpPr>
        <p:spPr>
          <a:xfrm>
            <a:off x="6556248" y="2057400"/>
            <a:ext cx="1828800" cy="365760"/>
          </a:xfrm>
          <a:prstGeom prst="rect">
            <a:avLst/>
          </a:prstGeom>
          <a:noFill/>
          <a:ln/>
        </p:spPr>
        <p:txBody>
          <a:bodyPr wrap="square" lIns="0" tIns="0" rIns="0" bIns="0" rtlCol="0" anchor="t"/>
          <a:lstStyle/>
          <a:p>
            <a:pPr marL="0" indent="0">
              <a:buNone/>
            </a:pPr>
            <a:r>
              <a:rPr lang="en-US" sz="1800" b="1" dirty="0">
                <a:solidFill>
                  <a:srgbClr val="C85B35"/>
                </a:solidFill>
                <a:latin typeface="Malgun Gothic" pitchFamily="34" charset="0"/>
                <a:ea typeface="Malgun Gothic" pitchFamily="34" charset="-122"/>
                <a:cs typeface="Malgun Gothic" pitchFamily="34" charset="-120"/>
              </a:rPr>
              <a:t>▼ 하락장</a:t>
            </a:r>
            <a:endParaRPr lang="en-US" sz="1800" dirty="0"/>
          </a:p>
        </p:txBody>
      </p:sp>
      <p:sp>
        <p:nvSpPr>
          <p:cNvPr id="36" name="Text 34"/>
          <p:cNvSpPr txBox="1"/>
          <p:nvPr/>
        </p:nvSpPr>
        <p:spPr>
          <a:xfrm>
            <a:off x="8065008" y="2057400"/>
            <a:ext cx="3200400" cy="365760"/>
          </a:xfrm>
          <a:prstGeom prst="rect">
            <a:avLst/>
          </a:prstGeom>
          <a:noFill/>
          <a:ln/>
        </p:spPr>
        <p:txBody>
          <a:bodyPr wrap="square" lIns="0" tIns="0" rIns="0" bIns="0" rtlCol="0" anchor="ctr"/>
          <a:lstStyle/>
          <a:p>
            <a:pPr marL="0" indent="0" algn="r">
              <a:buNone/>
            </a:pPr>
            <a:r>
              <a:rPr lang="en-US" sz="1250" b="1" dirty="0">
                <a:solidFill>
                  <a:srgbClr val="3D5A50"/>
                </a:solidFill>
                <a:latin typeface="Malgun Gothic" pitchFamily="34" charset="0"/>
                <a:ea typeface="Malgun Gothic" pitchFamily="34" charset="-122"/>
                <a:cs typeface="Malgun Gothic" pitchFamily="34" charset="-120"/>
              </a:rPr>
              <a:t>달달한 위로 라인</a:t>
            </a:r>
            <a:endParaRPr lang="en-US" sz="1250" dirty="0"/>
          </a:p>
        </p:txBody>
      </p:sp>
      <p:sp>
        <p:nvSpPr>
          <p:cNvPr id="37" name="Text 35"/>
          <p:cNvSpPr txBox="1"/>
          <p:nvPr/>
        </p:nvSpPr>
        <p:spPr>
          <a:xfrm>
            <a:off x="6556248" y="2560320"/>
            <a:ext cx="4709160" cy="1005840"/>
          </a:xfrm>
          <a:prstGeom prst="rect">
            <a:avLst/>
          </a:prstGeom>
          <a:noFill/>
          <a:ln/>
        </p:spPr>
        <p:txBody>
          <a:bodyPr wrap="square" lIns="0" tIns="0" rIns="0" bIns="0" rtlCol="0" anchor="t"/>
          <a:lstStyle/>
          <a:p>
            <a:pPr marL="0" indent="0">
              <a:lnSpc>
                <a:spcPct val="115000"/>
              </a:lnSpc>
              <a:buNone/>
            </a:pPr>
            <a:r>
              <a:rPr lang="en-US" sz="2100" b="1" dirty="0">
                <a:solidFill>
                  <a:srgbClr val="123F34"/>
                </a:solidFill>
                <a:latin typeface="Malgun Gothic" pitchFamily="34" charset="0"/>
                <a:ea typeface="Malgun Gothic" pitchFamily="34" charset="-122"/>
                <a:cs typeface="Malgun Gothic" pitchFamily="34" charset="-120"/>
              </a:rPr>
              <a:t>“아쉬운 장 마감,</a:t>
            </a:r>
            <a:endParaRPr lang="en-US" sz="2100" dirty="0"/>
          </a:p>
          <a:p>
            <a:pPr marL="0" indent="0">
              <a:lnSpc>
                <a:spcPct val="115000"/>
              </a:lnSpc>
              <a:buNone/>
            </a:pPr>
            <a:r>
              <a:rPr lang="en-US" sz="2100" b="1" dirty="0">
                <a:solidFill>
                  <a:srgbClr val="123F34"/>
                </a:solidFill>
                <a:latin typeface="Malgun Gothic" pitchFamily="34" charset="0"/>
                <a:ea typeface="Malgun Gothic" pitchFamily="34" charset="-122"/>
                <a:cs typeface="Malgun Gothic" pitchFamily="34" charset="-120"/>
              </a:rPr>
              <a:t>달달하게 마무리하세요”</a:t>
            </a:r>
            <a:endParaRPr lang="en-US" sz="2100" dirty="0"/>
          </a:p>
        </p:txBody>
      </p:sp>
      <p:sp>
        <p:nvSpPr>
          <p:cNvPr id="38" name="Shape 36"/>
          <p:cNvSpPr/>
          <p:nvPr/>
        </p:nvSpPr>
        <p:spPr>
          <a:xfrm>
            <a:off x="6556248" y="3794760"/>
            <a:ext cx="2286000" cy="420624"/>
          </a:xfrm>
          <a:prstGeom prst="roundRect">
            <a:avLst>
              <a:gd name="adj" fmla="val 21739"/>
            </a:avLst>
          </a:prstGeom>
          <a:solidFill>
            <a:srgbClr val="DDEAE2"/>
          </a:solidFill>
          <a:ln/>
        </p:spPr>
      </p:sp>
      <p:sp>
        <p:nvSpPr>
          <p:cNvPr id="39" name="Text 37"/>
          <p:cNvSpPr txBox="1"/>
          <p:nvPr/>
        </p:nvSpPr>
        <p:spPr>
          <a:xfrm>
            <a:off x="6693408" y="3794760"/>
            <a:ext cx="2103120" cy="420624"/>
          </a:xfrm>
          <a:prstGeom prst="rect">
            <a:avLst/>
          </a:prstGeom>
          <a:noFill/>
          <a:ln/>
        </p:spPr>
        <p:txBody>
          <a:bodyPr wrap="square" lIns="0" tIns="0" rIns="0" bIns="0" rtlCol="0" anchor="ctr"/>
          <a:lstStyle/>
          <a:p>
            <a:pPr marL="0" indent="0">
              <a:buNone/>
            </a:pPr>
            <a:r>
              <a:rPr lang="en-US" sz="1150" b="1" dirty="0">
                <a:solidFill>
                  <a:srgbClr val="123F34"/>
                </a:solidFill>
                <a:latin typeface="Malgun Gothic" pitchFamily="34" charset="0"/>
                <a:ea typeface="Malgun Gothic" pitchFamily="34" charset="-122"/>
                <a:cs typeface="Malgun Gothic" pitchFamily="34" charset="-120"/>
              </a:rPr>
              <a:t>마틸다 초코케이크</a:t>
            </a:r>
            <a:endParaRPr lang="en-US" sz="1150" dirty="0"/>
          </a:p>
        </p:txBody>
      </p:sp>
      <p:sp>
        <p:nvSpPr>
          <p:cNvPr id="40" name="Shape 38"/>
          <p:cNvSpPr/>
          <p:nvPr/>
        </p:nvSpPr>
        <p:spPr>
          <a:xfrm>
            <a:off x="8951976" y="3794760"/>
            <a:ext cx="2286000" cy="420624"/>
          </a:xfrm>
          <a:prstGeom prst="roundRect">
            <a:avLst>
              <a:gd name="adj" fmla="val 21739"/>
            </a:avLst>
          </a:prstGeom>
          <a:solidFill>
            <a:srgbClr val="DDEAE2"/>
          </a:solidFill>
          <a:ln/>
        </p:spPr>
      </p:sp>
      <p:sp>
        <p:nvSpPr>
          <p:cNvPr id="41" name="Text 39"/>
          <p:cNvSpPr txBox="1"/>
          <p:nvPr/>
        </p:nvSpPr>
        <p:spPr>
          <a:xfrm>
            <a:off x="9089136" y="3794760"/>
            <a:ext cx="2103120" cy="420624"/>
          </a:xfrm>
          <a:prstGeom prst="rect">
            <a:avLst/>
          </a:prstGeom>
          <a:noFill/>
          <a:ln/>
        </p:spPr>
        <p:txBody>
          <a:bodyPr wrap="square" lIns="0" tIns="0" rIns="0" bIns="0" rtlCol="0" anchor="ctr"/>
          <a:lstStyle/>
          <a:p>
            <a:pPr marL="0" indent="0">
              <a:buNone/>
            </a:pPr>
            <a:r>
              <a:rPr lang="en-US" sz="1150" b="1" dirty="0">
                <a:solidFill>
                  <a:srgbClr val="123F34"/>
                </a:solidFill>
                <a:latin typeface="Malgun Gothic" pitchFamily="34" charset="0"/>
                <a:ea typeface="Malgun Gothic" pitchFamily="34" charset="-122"/>
                <a:cs typeface="Malgun Gothic" pitchFamily="34" charset="-120"/>
              </a:rPr>
              <a:t>달항아리 티라미수</a:t>
            </a:r>
            <a:endParaRPr lang="en-US" sz="1150" dirty="0"/>
          </a:p>
        </p:txBody>
      </p:sp>
      <p:sp>
        <p:nvSpPr>
          <p:cNvPr id="42" name="Shape 40"/>
          <p:cNvSpPr/>
          <p:nvPr/>
        </p:nvSpPr>
        <p:spPr>
          <a:xfrm>
            <a:off x="6556248" y="4325112"/>
            <a:ext cx="2286000" cy="420624"/>
          </a:xfrm>
          <a:prstGeom prst="roundRect">
            <a:avLst>
              <a:gd name="adj" fmla="val 21739"/>
            </a:avLst>
          </a:prstGeom>
          <a:solidFill>
            <a:srgbClr val="DDEAE2"/>
          </a:solidFill>
          <a:ln/>
        </p:spPr>
      </p:sp>
      <p:sp>
        <p:nvSpPr>
          <p:cNvPr id="43" name="Text 41"/>
          <p:cNvSpPr txBox="1"/>
          <p:nvPr/>
        </p:nvSpPr>
        <p:spPr>
          <a:xfrm>
            <a:off x="6693408" y="4325112"/>
            <a:ext cx="2103120" cy="420624"/>
          </a:xfrm>
          <a:prstGeom prst="rect">
            <a:avLst/>
          </a:prstGeom>
          <a:noFill/>
          <a:ln/>
        </p:spPr>
        <p:txBody>
          <a:bodyPr wrap="square" lIns="0" tIns="0" rIns="0" bIns="0" rtlCol="0" anchor="ctr"/>
          <a:lstStyle/>
          <a:p>
            <a:pPr marL="0" indent="0">
              <a:buNone/>
            </a:pPr>
            <a:r>
              <a:rPr lang="en-US" sz="1150" b="1" dirty="0">
                <a:solidFill>
                  <a:srgbClr val="123F34"/>
                </a:solidFill>
                <a:latin typeface="Malgun Gothic" pitchFamily="34" charset="0"/>
                <a:ea typeface="Malgun Gothic" pitchFamily="34" charset="-122"/>
                <a:cs typeface="Malgun Gothic" pitchFamily="34" charset="-120"/>
              </a:rPr>
              <a:t>글루텐프리 휘낭시에</a:t>
            </a:r>
            <a:endParaRPr lang="en-US" sz="1150" dirty="0"/>
          </a:p>
        </p:txBody>
      </p:sp>
      <p:sp>
        <p:nvSpPr>
          <p:cNvPr id="44" name="Shape 42"/>
          <p:cNvSpPr/>
          <p:nvPr/>
        </p:nvSpPr>
        <p:spPr>
          <a:xfrm>
            <a:off x="8951976" y="4325112"/>
            <a:ext cx="2286000" cy="420624"/>
          </a:xfrm>
          <a:prstGeom prst="roundRect">
            <a:avLst>
              <a:gd name="adj" fmla="val 21739"/>
            </a:avLst>
          </a:prstGeom>
          <a:solidFill>
            <a:srgbClr val="DDEAE2"/>
          </a:solidFill>
          <a:ln/>
        </p:spPr>
      </p:sp>
      <p:sp>
        <p:nvSpPr>
          <p:cNvPr id="45" name="Text 43"/>
          <p:cNvSpPr txBox="1"/>
          <p:nvPr/>
        </p:nvSpPr>
        <p:spPr>
          <a:xfrm>
            <a:off x="9089136" y="4325112"/>
            <a:ext cx="2103120" cy="420624"/>
          </a:xfrm>
          <a:prstGeom prst="rect">
            <a:avLst/>
          </a:prstGeom>
          <a:noFill/>
          <a:ln/>
        </p:spPr>
        <p:txBody>
          <a:bodyPr wrap="square" lIns="0" tIns="0" rIns="0" bIns="0" rtlCol="0" anchor="ctr"/>
          <a:lstStyle/>
          <a:p>
            <a:pPr marL="0" indent="0">
              <a:buNone/>
            </a:pPr>
            <a:r>
              <a:rPr lang="en-US" sz="1150" b="1" dirty="0">
                <a:solidFill>
                  <a:srgbClr val="123F34"/>
                </a:solidFill>
                <a:latin typeface="Malgun Gothic" pitchFamily="34" charset="0"/>
                <a:ea typeface="Malgun Gothic" pitchFamily="34" charset="-122"/>
                <a:cs typeface="Malgun Gothic" pitchFamily="34" charset="-120"/>
              </a:rPr>
              <a:t>글루텐프리 스콘</a:t>
            </a:r>
            <a:endParaRPr lang="en-US" sz="1150" dirty="0"/>
          </a:p>
        </p:txBody>
      </p:sp>
      <p:sp>
        <p:nvSpPr>
          <p:cNvPr id="46" name="Text 44"/>
          <p:cNvSpPr txBox="1"/>
          <p:nvPr/>
        </p:nvSpPr>
        <p:spPr>
          <a:xfrm>
            <a:off x="6556248" y="5532120"/>
            <a:ext cx="4709160" cy="274320"/>
          </a:xfrm>
          <a:prstGeom prst="rect">
            <a:avLst/>
          </a:prstGeom>
          <a:noFill/>
          <a:ln/>
        </p:spPr>
        <p:txBody>
          <a:bodyPr wrap="square" lIns="0" tIns="0" rIns="0" bIns="0" rtlCol="0" anchor="t"/>
          <a:lstStyle/>
          <a:p>
            <a:pPr marL="0" indent="0">
              <a:buNone/>
            </a:pPr>
            <a:r>
              <a:rPr lang="en-US" sz="1100" b="1" dirty="0">
                <a:solidFill>
                  <a:srgbClr val="C85B35"/>
                </a:solidFill>
                <a:latin typeface="Malgun Gothic" pitchFamily="34" charset="0"/>
                <a:ea typeface="Malgun Gothic" pitchFamily="34" charset="-122"/>
                <a:cs typeface="Malgun Gothic" pitchFamily="34" charset="-120"/>
              </a:rPr>
              <a:t>디저트형 4종  ·  하락장 위로 보정 +3%p로 가격 메리트 강화</a:t>
            </a:r>
            <a:endParaRPr lang="en-US" sz="1100" dirty="0"/>
          </a:p>
        </p:txBody>
      </p:sp>
      <p:sp>
        <p:nvSpPr>
          <p:cNvPr id="47" name="Text 45"/>
          <p:cNvSpPr txBox="1"/>
          <p:nvPr/>
        </p:nvSpPr>
        <p:spPr>
          <a:xfrm>
            <a:off x="612648" y="6217920"/>
            <a:ext cx="10972800" cy="274320"/>
          </a:xfrm>
          <a:prstGeom prst="rect">
            <a:avLst/>
          </a:prstGeom>
          <a:noFill/>
          <a:ln/>
        </p:spPr>
        <p:txBody>
          <a:bodyPr wrap="square" lIns="0" tIns="0" rIns="0" bIns="0" rtlCol="0" anchor="ctr"/>
          <a:lstStyle/>
          <a:p>
            <a:pPr marL="0" indent="0">
              <a:buNone/>
            </a:pPr>
            <a:r>
              <a:rPr lang="en-US" sz="1050" dirty="0">
                <a:solidFill>
                  <a:srgbClr val="7A8F86"/>
                </a:solidFill>
                <a:latin typeface="Malgun Gothic" pitchFamily="34" charset="0"/>
                <a:ea typeface="Malgun Gothic" pitchFamily="34" charset="-122"/>
                <a:cs typeface="Malgun Gothic" pitchFamily="34" charset="-120"/>
              </a:rPr>
              <a:t>등락 ±0.1% 미만 보합일은 라인 구분 없이 전 상품 대상  ·  KOSPI와 상품 간 경제적 인과가 아닌 브랜드 스토리로 해석합니다.</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빵시장 ②</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01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123F34"/>
          </a:solidFill>
          <a:ln w="12700">
            <a:solidFill>
              <a:srgbClr val="123F34"/>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F6F0E6"/>
          </a:solidFill>
          <a:ln w="12700">
            <a:solidFill>
              <a:srgbClr val="C9D8CF"/>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F6F0E6"/>
          </a:solidFill>
          <a:ln w="12700">
            <a:solidFill>
              <a:srgbClr val="C9D8CF"/>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07</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변동폭이 클수록 할인은 커지고, 상한은 </a:t>
            </a:r>
            <a:r>
              <a:rPr lang="en-US" sz="2600" b="1" kern="0" spc="-50" dirty="0" err="1">
                <a:solidFill>
                  <a:srgbClr val="123F34"/>
                </a:solidFill>
                <a:latin typeface="Malgun Gothic" pitchFamily="34" charset="0"/>
                <a:ea typeface="Malgun Gothic" pitchFamily="34" charset="-122"/>
                <a:cs typeface="Malgun Gothic" pitchFamily="34" charset="-120"/>
              </a:rPr>
              <a:t>기업이</a:t>
            </a:r>
            <a:r>
              <a:rPr lang="en-US" sz="2600" b="1" kern="0" spc="-50" dirty="0">
                <a:solidFill>
                  <a:srgbClr val="123F34"/>
                </a:solidFill>
                <a:latin typeface="Malgun Gothic" pitchFamily="34" charset="0"/>
                <a:ea typeface="Malgun Gothic" pitchFamily="34" charset="-122"/>
                <a:cs typeface="Malgun Gothic" pitchFamily="34" charset="-120"/>
              </a:rPr>
              <a:t> </a:t>
            </a:r>
            <a:r>
              <a:rPr lang="ko-KR" altLang="en-US" sz="2600" b="1" kern="0" spc="-50" dirty="0" err="1">
                <a:solidFill>
                  <a:srgbClr val="123F34"/>
                </a:solidFill>
                <a:latin typeface="Malgun Gothic" pitchFamily="34" charset="0"/>
                <a:ea typeface="Malgun Gothic" pitchFamily="34" charset="-122"/>
                <a:cs typeface="Malgun Gothic" pitchFamily="34" charset="-120"/>
              </a:rPr>
              <a:t>설정합</a:t>
            </a:r>
            <a:r>
              <a:rPr lang="en-US" sz="2600" b="1" kern="0" spc="-50" dirty="0" err="1">
                <a:solidFill>
                  <a:srgbClr val="123F34"/>
                </a:solidFill>
                <a:latin typeface="Malgun Gothic" pitchFamily="34" charset="0"/>
                <a:ea typeface="Malgun Gothic" pitchFamily="34" charset="-122"/>
                <a:cs typeface="Malgun Gothic" pitchFamily="34" charset="-120"/>
              </a:rPr>
              <a:t>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고객에게는 오늘의 가격만 선명하게, 기업에게는 할인 상한과 검증 지표를 남깁니다.</a:t>
            </a:r>
            <a:endParaRPr lang="en-US" sz="1350" dirty="0"/>
          </a:p>
        </p:txBody>
      </p:sp>
      <p:sp>
        <p:nvSpPr>
          <p:cNvPr id="17" name="Shape 15"/>
          <p:cNvSpPr/>
          <p:nvPr/>
        </p:nvSpPr>
        <p:spPr>
          <a:xfrm>
            <a:off x="612648" y="1783080"/>
            <a:ext cx="10972800" cy="502920"/>
          </a:xfrm>
          <a:prstGeom prst="roundRect">
            <a:avLst>
              <a:gd name="adj" fmla="val 21818"/>
            </a:avLst>
          </a:prstGeom>
          <a:solidFill>
            <a:srgbClr val="DDEAE2"/>
          </a:solidFill>
          <a:ln/>
        </p:spPr>
      </p:sp>
      <p:sp>
        <p:nvSpPr>
          <p:cNvPr id="18" name="Text 16"/>
          <p:cNvSpPr txBox="1"/>
          <p:nvPr/>
        </p:nvSpPr>
        <p:spPr>
          <a:xfrm>
            <a:off x="886968" y="1783080"/>
            <a:ext cx="10424160" cy="502920"/>
          </a:xfrm>
          <a:prstGeom prst="rect">
            <a:avLst/>
          </a:prstGeom>
          <a:noFill/>
          <a:ln/>
        </p:spPr>
        <p:txBody>
          <a:bodyPr wrap="square" lIns="0" tIns="0" rIns="0" bIns="0" rtlCol="0" anchor="ctr"/>
          <a:lstStyle/>
          <a:p>
            <a:pPr marL="0" indent="0">
              <a:buNone/>
            </a:pPr>
            <a:r>
              <a:rPr lang="en-US" sz="1450" b="1" dirty="0">
                <a:solidFill>
                  <a:srgbClr val="123F34"/>
                </a:solidFill>
                <a:latin typeface="Malgun Gothic" pitchFamily="34" charset="0"/>
                <a:ea typeface="Malgun Gothic" pitchFamily="34" charset="-122"/>
                <a:cs typeface="Malgun Gothic" pitchFamily="34" charset="-120"/>
              </a:rPr>
              <a:t>최종 할인율  =  </a:t>
            </a:r>
            <a:r>
              <a:rPr lang="en-US" sz="1450" b="1" dirty="0">
                <a:solidFill>
                  <a:srgbClr val="C85B35"/>
                </a:solidFill>
                <a:latin typeface="Malgun Gothic" pitchFamily="34" charset="0"/>
                <a:ea typeface="Malgun Gothic" pitchFamily="34" charset="-122"/>
                <a:cs typeface="Malgun Gothic" pitchFamily="34" charset="-120"/>
              </a:rPr>
              <a:t>① 시장 기본 할인</a:t>
            </a:r>
            <a:r>
              <a:rPr lang="en-US" sz="1450" b="1" dirty="0">
                <a:solidFill>
                  <a:srgbClr val="123F34"/>
                </a:solidFill>
                <a:latin typeface="Malgun Gothic" pitchFamily="34" charset="0"/>
                <a:ea typeface="Malgun Gothic" pitchFamily="34" charset="-122"/>
                <a:cs typeface="Malgun Gothic" pitchFamily="34" charset="-120"/>
              </a:rPr>
              <a:t>  +  ② 수요 보정  +  ③ 재고 보정  +  하락장 보정</a:t>
            </a:r>
            <a:endParaRPr lang="en-US" sz="1450" dirty="0"/>
          </a:p>
        </p:txBody>
      </p:sp>
      <p:sp>
        <p:nvSpPr>
          <p:cNvPr id="19" name="Text 17"/>
          <p:cNvSpPr txBox="1"/>
          <p:nvPr/>
        </p:nvSpPr>
        <p:spPr>
          <a:xfrm>
            <a:off x="612648" y="2514600"/>
            <a:ext cx="4572000" cy="274320"/>
          </a:xfrm>
          <a:prstGeom prst="rect">
            <a:avLst/>
          </a:prstGeom>
          <a:noFill/>
          <a:ln/>
        </p:spPr>
        <p:txBody>
          <a:bodyPr wrap="square" lIns="0" tIns="0" rIns="0" bIns="0" rtlCol="0" anchor="t"/>
          <a:lstStyle/>
          <a:p>
            <a:pPr marL="0" indent="0">
              <a:buNone/>
            </a:pPr>
            <a:r>
              <a:rPr lang="en-US" sz="1200" b="1" dirty="0">
                <a:solidFill>
                  <a:srgbClr val="123F34"/>
                </a:solidFill>
                <a:latin typeface="Malgun Gothic" pitchFamily="34" charset="0"/>
                <a:ea typeface="Malgun Gothic" pitchFamily="34" charset="-122"/>
                <a:cs typeface="Malgun Gothic" pitchFamily="34" charset="-120"/>
              </a:rPr>
              <a:t>① KOSPI 절대 등락률 → 기본 할인</a:t>
            </a:r>
            <a:endParaRPr lang="en-US" sz="1200" dirty="0"/>
          </a:p>
        </p:txBody>
      </p:sp>
      <p:sp>
        <p:nvSpPr>
          <p:cNvPr id="20" name="Shape 18"/>
          <p:cNvSpPr/>
          <p:nvPr/>
        </p:nvSpPr>
        <p:spPr>
          <a:xfrm>
            <a:off x="612648" y="2862072"/>
            <a:ext cx="5760720" cy="365760"/>
          </a:xfrm>
          <a:prstGeom prst="roundRect">
            <a:avLst>
              <a:gd name="adj" fmla="val 15000"/>
            </a:avLst>
          </a:prstGeom>
          <a:solidFill>
            <a:srgbClr val="123F34"/>
          </a:solidFill>
          <a:ln/>
        </p:spPr>
      </p:sp>
      <p:sp>
        <p:nvSpPr>
          <p:cNvPr id="21" name="Text 19"/>
          <p:cNvSpPr txBox="1"/>
          <p:nvPr/>
        </p:nvSpPr>
        <p:spPr>
          <a:xfrm>
            <a:off x="795528" y="2862072"/>
            <a:ext cx="1371600" cy="365760"/>
          </a:xfrm>
          <a:prstGeom prst="rect">
            <a:avLst/>
          </a:prstGeom>
          <a:noFill/>
          <a:ln/>
        </p:spPr>
        <p:txBody>
          <a:bodyPr wrap="square" lIns="0" tIns="0" rIns="0" bIns="0" rtlCol="0" anchor="ctr"/>
          <a:lstStyle/>
          <a:p>
            <a:pPr marL="0" indent="0">
              <a:buNone/>
            </a:pPr>
            <a:r>
              <a:rPr lang="en-US" sz="1100" b="1" dirty="0">
                <a:solidFill>
                  <a:srgbClr val="F6F0E6"/>
                </a:solidFill>
                <a:latin typeface="Malgun Gothic" pitchFamily="34" charset="0"/>
                <a:ea typeface="Malgun Gothic" pitchFamily="34" charset="-122"/>
                <a:cs typeface="Malgun Gothic" pitchFamily="34" charset="-120"/>
              </a:rPr>
              <a:t>등락률</a:t>
            </a:r>
            <a:endParaRPr lang="en-US" sz="1100" dirty="0"/>
          </a:p>
        </p:txBody>
      </p:sp>
      <p:sp>
        <p:nvSpPr>
          <p:cNvPr id="22" name="Text 20"/>
          <p:cNvSpPr txBox="1"/>
          <p:nvPr/>
        </p:nvSpPr>
        <p:spPr>
          <a:xfrm>
            <a:off x="2487168" y="2862072"/>
            <a:ext cx="1371600" cy="365760"/>
          </a:xfrm>
          <a:prstGeom prst="rect">
            <a:avLst/>
          </a:prstGeom>
          <a:noFill/>
          <a:ln/>
        </p:spPr>
        <p:txBody>
          <a:bodyPr wrap="square" lIns="0" tIns="0" rIns="0" bIns="0" rtlCol="0" anchor="ctr"/>
          <a:lstStyle/>
          <a:p>
            <a:pPr marL="0" indent="0">
              <a:buNone/>
            </a:pPr>
            <a:r>
              <a:rPr lang="en-US" sz="1100" b="1" dirty="0">
                <a:solidFill>
                  <a:srgbClr val="F6F0E6"/>
                </a:solidFill>
                <a:latin typeface="Malgun Gothic" pitchFamily="34" charset="0"/>
                <a:ea typeface="Malgun Gothic" pitchFamily="34" charset="-122"/>
                <a:cs typeface="Malgun Gothic" pitchFamily="34" charset="-120"/>
              </a:rPr>
              <a:t>기본 할인</a:t>
            </a:r>
            <a:endParaRPr lang="en-US" sz="1100" dirty="0"/>
          </a:p>
        </p:txBody>
      </p:sp>
      <p:sp>
        <p:nvSpPr>
          <p:cNvPr id="23" name="Text 21"/>
          <p:cNvSpPr txBox="1"/>
          <p:nvPr/>
        </p:nvSpPr>
        <p:spPr>
          <a:xfrm>
            <a:off x="3630168" y="2862072"/>
            <a:ext cx="1371600" cy="365760"/>
          </a:xfrm>
          <a:prstGeom prst="rect">
            <a:avLst/>
          </a:prstGeom>
          <a:noFill/>
          <a:ln/>
        </p:spPr>
        <p:txBody>
          <a:bodyPr wrap="square" lIns="0" tIns="0" rIns="0" bIns="0" rtlCol="0" anchor="ctr"/>
          <a:lstStyle/>
          <a:p>
            <a:pPr marL="0" indent="0">
              <a:buNone/>
            </a:pPr>
            <a:r>
              <a:rPr lang="en-US" sz="1100" b="1" dirty="0">
                <a:solidFill>
                  <a:srgbClr val="F6F0E6"/>
                </a:solidFill>
                <a:latin typeface="Malgun Gothic" pitchFamily="34" charset="0"/>
                <a:ea typeface="Malgun Gothic" pitchFamily="34" charset="-122"/>
                <a:cs typeface="Malgun Gothic" pitchFamily="34" charset="-120"/>
              </a:rPr>
              <a:t>발생 빈도</a:t>
            </a:r>
            <a:endParaRPr lang="en-US" sz="1100" dirty="0"/>
          </a:p>
        </p:txBody>
      </p:sp>
      <p:sp>
        <p:nvSpPr>
          <p:cNvPr id="24" name="Shape 22"/>
          <p:cNvSpPr/>
          <p:nvPr/>
        </p:nvSpPr>
        <p:spPr>
          <a:xfrm>
            <a:off x="612648" y="3264408"/>
            <a:ext cx="5760720" cy="420624"/>
          </a:xfrm>
          <a:prstGeom prst="rect">
            <a:avLst/>
          </a:prstGeom>
          <a:solidFill>
            <a:srgbClr val="FFFFFF"/>
          </a:solidFill>
          <a:ln/>
        </p:spPr>
      </p:sp>
      <p:sp>
        <p:nvSpPr>
          <p:cNvPr id="25" name="Text 23"/>
          <p:cNvSpPr txBox="1"/>
          <p:nvPr/>
        </p:nvSpPr>
        <p:spPr>
          <a:xfrm>
            <a:off x="795528" y="3264408"/>
            <a:ext cx="1645920" cy="420624"/>
          </a:xfrm>
          <a:prstGeom prst="rect">
            <a:avLst/>
          </a:prstGeom>
          <a:noFill/>
          <a:ln/>
        </p:spPr>
        <p:txBody>
          <a:bodyPr wrap="square" lIns="0" tIns="0" rIns="0" bIns="0" rtlCol="0" anchor="ctr"/>
          <a:lstStyle/>
          <a:p>
            <a:pPr marL="0" indent="0">
              <a:buNone/>
            </a:pPr>
            <a:r>
              <a:rPr lang="en-US" sz="1250" dirty="0">
                <a:solidFill>
                  <a:srgbClr val="123F34"/>
                </a:solidFill>
                <a:latin typeface="Malgun Gothic" pitchFamily="34" charset="0"/>
                <a:ea typeface="Malgun Gothic" pitchFamily="34" charset="-122"/>
                <a:cs typeface="Malgun Gothic" pitchFamily="34" charset="-120"/>
              </a:rPr>
              <a:t>0 ~ 0.3%</a:t>
            </a:r>
            <a:endParaRPr lang="en-US" sz="1250" dirty="0"/>
          </a:p>
        </p:txBody>
      </p:sp>
      <p:sp>
        <p:nvSpPr>
          <p:cNvPr id="26" name="Text 24"/>
          <p:cNvSpPr txBox="1"/>
          <p:nvPr/>
        </p:nvSpPr>
        <p:spPr>
          <a:xfrm>
            <a:off x="2487168" y="3264408"/>
            <a:ext cx="914400" cy="420624"/>
          </a:xfrm>
          <a:prstGeom prst="rect">
            <a:avLst/>
          </a:prstGeom>
          <a:noFill/>
          <a:ln/>
        </p:spPr>
        <p:txBody>
          <a:bodyPr wrap="square" lIns="0" tIns="0" rIns="0" bIns="0" rtlCol="0" anchor="ctr"/>
          <a:lstStyle/>
          <a:p>
            <a:pPr marL="0" indent="0">
              <a:buNone/>
            </a:pPr>
            <a:r>
              <a:rPr lang="en-US" sz="1500" b="1" dirty="0">
                <a:solidFill>
                  <a:srgbClr val="C85B35"/>
                </a:solidFill>
                <a:latin typeface="Malgun Gothic" pitchFamily="34" charset="0"/>
                <a:ea typeface="Malgun Gothic" pitchFamily="34" charset="-122"/>
                <a:cs typeface="Malgun Gothic" pitchFamily="34" charset="-120"/>
              </a:rPr>
              <a:t>5%</a:t>
            </a:r>
            <a:endParaRPr lang="en-US" sz="1500" dirty="0"/>
          </a:p>
        </p:txBody>
      </p:sp>
      <p:sp>
        <p:nvSpPr>
          <p:cNvPr id="27" name="Shape 25"/>
          <p:cNvSpPr/>
          <p:nvPr/>
        </p:nvSpPr>
        <p:spPr>
          <a:xfrm>
            <a:off x="3630168" y="3383280"/>
            <a:ext cx="1589299" cy="182880"/>
          </a:xfrm>
          <a:prstGeom prst="roundRect">
            <a:avLst>
              <a:gd name="adj" fmla="val 25000"/>
            </a:avLst>
          </a:prstGeom>
          <a:solidFill>
            <a:srgbClr val="123F34"/>
          </a:solidFill>
          <a:ln/>
        </p:spPr>
      </p:sp>
      <p:sp>
        <p:nvSpPr>
          <p:cNvPr id="28" name="Text 26"/>
          <p:cNvSpPr txBox="1"/>
          <p:nvPr/>
        </p:nvSpPr>
        <p:spPr>
          <a:xfrm>
            <a:off x="5310907" y="3264408"/>
            <a:ext cx="731520" cy="420624"/>
          </a:xfrm>
          <a:prstGeom prst="rect">
            <a:avLst/>
          </a:prstGeom>
          <a:noFill/>
          <a:ln/>
        </p:spPr>
        <p:txBody>
          <a:bodyPr wrap="square" lIns="0" tIns="0" rIns="0" bIns="0" rtlCol="0" anchor="ctr"/>
          <a:lstStyle/>
          <a:p>
            <a:pPr marL="0" indent="0">
              <a:buNone/>
            </a:pPr>
            <a:r>
              <a:rPr lang="en-US" sz="1100" dirty="0">
                <a:solidFill>
                  <a:srgbClr val="3D5A50"/>
                </a:solidFill>
                <a:latin typeface="Malgun Gothic" pitchFamily="34" charset="0"/>
                <a:ea typeface="Malgun Gothic" pitchFamily="34" charset="-122"/>
                <a:cs typeface="Malgun Gothic" pitchFamily="34" charset="-120"/>
              </a:rPr>
              <a:t>22.2%</a:t>
            </a:r>
            <a:endParaRPr lang="en-US" sz="1100" dirty="0"/>
          </a:p>
        </p:txBody>
      </p:sp>
      <p:sp>
        <p:nvSpPr>
          <p:cNvPr id="29" name="Text 27"/>
          <p:cNvSpPr txBox="1"/>
          <p:nvPr/>
        </p:nvSpPr>
        <p:spPr>
          <a:xfrm>
            <a:off x="795528" y="3685032"/>
            <a:ext cx="1645920" cy="420624"/>
          </a:xfrm>
          <a:prstGeom prst="rect">
            <a:avLst/>
          </a:prstGeom>
          <a:noFill/>
          <a:ln/>
        </p:spPr>
        <p:txBody>
          <a:bodyPr wrap="square" lIns="0" tIns="0" rIns="0" bIns="0" rtlCol="0" anchor="ctr"/>
          <a:lstStyle/>
          <a:p>
            <a:pPr marL="0" indent="0">
              <a:buNone/>
            </a:pPr>
            <a:r>
              <a:rPr lang="en-US" sz="1250" dirty="0">
                <a:solidFill>
                  <a:srgbClr val="123F34"/>
                </a:solidFill>
                <a:latin typeface="Malgun Gothic" pitchFamily="34" charset="0"/>
                <a:ea typeface="Malgun Gothic" pitchFamily="34" charset="-122"/>
                <a:cs typeface="Malgun Gothic" pitchFamily="34" charset="-120"/>
              </a:rPr>
              <a:t>0.3 ~ 0.8%</a:t>
            </a:r>
            <a:endParaRPr lang="en-US" sz="1250" dirty="0"/>
          </a:p>
        </p:txBody>
      </p:sp>
      <p:sp>
        <p:nvSpPr>
          <p:cNvPr id="30" name="Text 28"/>
          <p:cNvSpPr txBox="1"/>
          <p:nvPr/>
        </p:nvSpPr>
        <p:spPr>
          <a:xfrm>
            <a:off x="2487168" y="3685032"/>
            <a:ext cx="914400" cy="420624"/>
          </a:xfrm>
          <a:prstGeom prst="rect">
            <a:avLst/>
          </a:prstGeom>
          <a:noFill/>
          <a:ln/>
        </p:spPr>
        <p:txBody>
          <a:bodyPr wrap="square" lIns="0" tIns="0" rIns="0" bIns="0" rtlCol="0" anchor="ctr"/>
          <a:lstStyle/>
          <a:p>
            <a:pPr marL="0" indent="0">
              <a:buNone/>
            </a:pPr>
            <a:r>
              <a:rPr lang="en-US" sz="1500" b="1" dirty="0">
                <a:solidFill>
                  <a:srgbClr val="C85B35"/>
                </a:solidFill>
                <a:latin typeface="Malgun Gothic" pitchFamily="34" charset="0"/>
                <a:ea typeface="Malgun Gothic" pitchFamily="34" charset="-122"/>
                <a:cs typeface="Malgun Gothic" pitchFamily="34" charset="-120"/>
              </a:rPr>
              <a:t>10%</a:t>
            </a:r>
            <a:endParaRPr lang="en-US" sz="1500" dirty="0"/>
          </a:p>
        </p:txBody>
      </p:sp>
      <p:sp>
        <p:nvSpPr>
          <p:cNvPr id="31" name="Shape 29"/>
          <p:cNvSpPr/>
          <p:nvPr/>
        </p:nvSpPr>
        <p:spPr>
          <a:xfrm>
            <a:off x="3630168" y="3803904"/>
            <a:ext cx="2011680" cy="182880"/>
          </a:xfrm>
          <a:prstGeom prst="roundRect">
            <a:avLst>
              <a:gd name="adj" fmla="val 25000"/>
            </a:avLst>
          </a:prstGeom>
          <a:solidFill>
            <a:srgbClr val="123F34"/>
          </a:solidFill>
          <a:ln/>
        </p:spPr>
      </p:sp>
      <p:sp>
        <p:nvSpPr>
          <p:cNvPr id="32" name="Text 30"/>
          <p:cNvSpPr txBox="1"/>
          <p:nvPr/>
        </p:nvSpPr>
        <p:spPr>
          <a:xfrm>
            <a:off x="5733288" y="3685032"/>
            <a:ext cx="731520" cy="420624"/>
          </a:xfrm>
          <a:prstGeom prst="rect">
            <a:avLst/>
          </a:prstGeom>
          <a:noFill/>
          <a:ln/>
        </p:spPr>
        <p:txBody>
          <a:bodyPr wrap="square" lIns="0" tIns="0" rIns="0" bIns="0" rtlCol="0" anchor="ctr"/>
          <a:lstStyle/>
          <a:p>
            <a:pPr marL="0" indent="0">
              <a:buNone/>
            </a:pPr>
            <a:r>
              <a:rPr lang="en-US" sz="1100" dirty="0">
                <a:solidFill>
                  <a:srgbClr val="3D5A50"/>
                </a:solidFill>
                <a:latin typeface="Malgun Gothic" pitchFamily="34" charset="0"/>
                <a:ea typeface="Malgun Gothic" pitchFamily="34" charset="-122"/>
                <a:cs typeface="Malgun Gothic" pitchFamily="34" charset="-120"/>
              </a:rPr>
              <a:t>28.1%</a:t>
            </a:r>
            <a:endParaRPr lang="en-US" sz="1100" dirty="0"/>
          </a:p>
        </p:txBody>
      </p:sp>
      <p:sp>
        <p:nvSpPr>
          <p:cNvPr id="33" name="Shape 31"/>
          <p:cNvSpPr/>
          <p:nvPr/>
        </p:nvSpPr>
        <p:spPr>
          <a:xfrm>
            <a:off x="612648" y="4105656"/>
            <a:ext cx="5760720" cy="420624"/>
          </a:xfrm>
          <a:prstGeom prst="rect">
            <a:avLst/>
          </a:prstGeom>
          <a:solidFill>
            <a:srgbClr val="FFFFFF"/>
          </a:solidFill>
          <a:ln/>
        </p:spPr>
      </p:sp>
      <p:sp>
        <p:nvSpPr>
          <p:cNvPr id="34" name="Text 32"/>
          <p:cNvSpPr txBox="1"/>
          <p:nvPr/>
        </p:nvSpPr>
        <p:spPr>
          <a:xfrm>
            <a:off x="795528" y="4105656"/>
            <a:ext cx="1645920" cy="420624"/>
          </a:xfrm>
          <a:prstGeom prst="rect">
            <a:avLst/>
          </a:prstGeom>
          <a:noFill/>
          <a:ln/>
        </p:spPr>
        <p:txBody>
          <a:bodyPr wrap="square" lIns="0" tIns="0" rIns="0" bIns="0" rtlCol="0" anchor="ctr"/>
          <a:lstStyle/>
          <a:p>
            <a:pPr marL="0" indent="0">
              <a:buNone/>
            </a:pPr>
            <a:r>
              <a:rPr lang="en-US" sz="1250" dirty="0">
                <a:solidFill>
                  <a:srgbClr val="123F34"/>
                </a:solidFill>
                <a:latin typeface="Malgun Gothic" pitchFamily="34" charset="0"/>
                <a:ea typeface="Malgun Gothic" pitchFamily="34" charset="-122"/>
                <a:cs typeface="Malgun Gothic" pitchFamily="34" charset="-120"/>
              </a:rPr>
              <a:t>0.8 ~ 1.5%</a:t>
            </a:r>
            <a:endParaRPr lang="en-US" sz="1250" dirty="0"/>
          </a:p>
        </p:txBody>
      </p:sp>
      <p:sp>
        <p:nvSpPr>
          <p:cNvPr id="35" name="Text 33"/>
          <p:cNvSpPr txBox="1"/>
          <p:nvPr/>
        </p:nvSpPr>
        <p:spPr>
          <a:xfrm>
            <a:off x="2487168" y="4105656"/>
            <a:ext cx="914400" cy="420624"/>
          </a:xfrm>
          <a:prstGeom prst="rect">
            <a:avLst/>
          </a:prstGeom>
          <a:noFill/>
          <a:ln/>
        </p:spPr>
        <p:txBody>
          <a:bodyPr wrap="square" lIns="0" tIns="0" rIns="0" bIns="0" rtlCol="0" anchor="ctr"/>
          <a:lstStyle/>
          <a:p>
            <a:pPr marL="0" indent="0">
              <a:buNone/>
            </a:pPr>
            <a:r>
              <a:rPr lang="en-US" sz="1500" b="1" dirty="0">
                <a:solidFill>
                  <a:srgbClr val="C85B35"/>
                </a:solidFill>
                <a:latin typeface="Malgun Gothic" pitchFamily="34" charset="0"/>
                <a:ea typeface="Malgun Gothic" pitchFamily="34" charset="-122"/>
                <a:cs typeface="Malgun Gothic" pitchFamily="34" charset="-120"/>
              </a:rPr>
              <a:t>15%</a:t>
            </a:r>
            <a:endParaRPr lang="en-US" sz="1500" dirty="0"/>
          </a:p>
        </p:txBody>
      </p:sp>
      <p:sp>
        <p:nvSpPr>
          <p:cNvPr id="36" name="Shape 34"/>
          <p:cNvSpPr/>
          <p:nvPr/>
        </p:nvSpPr>
        <p:spPr>
          <a:xfrm>
            <a:off x="3630168" y="4224528"/>
            <a:ext cx="1889977" cy="182880"/>
          </a:xfrm>
          <a:prstGeom prst="roundRect">
            <a:avLst>
              <a:gd name="adj" fmla="val 25000"/>
            </a:avLst>
          </a:prstGeom>
          <a:solidFill>
            <a:srgbClr val="123F34"/>
          </a:solidFill>
          <a:ln/>
        </p:spPr>
      </p:sp>
      <p:sp>
        <p:nvSpPr>
          <p:cNvPr id="37" name="Text 35"/>
          <p:cNvSpPr txBox="1"/>
          <p:nvPr/>
        </p:nvSpPr>
        <p:spPr>
          <a:xfrm>
            <a:off x="5611585" y="4105656"/>
            <a:ext cx="731520" cy="420624"/>
          </a:xfrm>
          <a:prstGeom prst="rect">
            <a:avLst/>
          </a:prstGeom>
          <a:noFill/>
          <a:ln/>
        </p:spPr>
        <p:txBody>
          <a:bodyPr wrap="square" lIns="0" tIns="0" rIns="0" bIns="0" rtlCol="0" anchor="ctr"/>
          <a:lstStyle/>
          <a:p>
            <a:pPr marL="0" indent="0">
              <a:buNone/>
            </a:pPr>
            <a:r>
              <a:rPr lang="en-US" sz="1100" dirty="0">
                <a:solidFill>
                  <a:srgbClr val="3D5A50"/>
                </a:solidFill>
                <a:latin typeface="Malgun Gothic" pitchFamily="34" charset="0"/>
                <a:ea typeface="Malgun Gothic" pitchFamily="34" charset="-122"/>
                <a:cs typeface="Malgun Gothic" pitchFamily="34" charset="-120"/>
              </a:rPr>
              <a:t>26.4%</a:t>
            </a:r>
            <a:endParaRPr lang="en-US" sz="1100" dirty="0"/>
          </a:p>
        </p:txBody>
      </p:sp>
      <p:sp>
        <p:nvSpPr>
          <p:cNvPr id="38" name="Text 36"/>
          <p:cNvSpPr txBox="1"/>
          <p:nvPr/>
        </p:nvSpPr>
        <p:spPr>
          <a:xfrm>
            <a:off x="795528" y="4526280"/>
            <a:ext cx="1645920" cy="420624"/>
          </a:xfrm>
          <a:prstGeom prst="rect">
            <a:avLst/>
          </a:prstGeom>
          <a:noFill/>
          <a:ln/>
        </p:spPr>
        <p:txBody>
          <a:bodyPr wrap="square" lIns="0" tIns="0" rIns="0" bIns="0" rtlCol="0" anchor="ctr"/>
          <a:lstStyle/>
          <a:p>
            <a:pPr marL="0" indent="0">
              <a:buNone/>
            </a:pPr>
            <a:r>
              <a:rPr lang="en-US" sz="1250" dirty="0">
                <a:solidFill>
                  <a:srgbClr val="123F34"/>
                </a:solidFill>
                <a:latin typeface="Malgun Gothic" pitchFamily="34" charset="0"/>
                <a:ea typeface="Malgun Gothic" pitchFamily="34" charset="-122"/>
                <a:cs typeface="Malgun Gothic" pitchFamily="34" charset="-120"/>
              </a:rPr>
              <a:t>1.5 ~ 2.5%</a:t>
            </a:r>
            <a:endParaRPr lang="en-US" sz="1250" dirty="0"/>
          </a:p>
        </p:txBody>
      </p:sp>
      <p:sp>
        <p:nvSpPr>
          <p:cNvPr id="39" name="Text 37"/>
          <p:cNvSpPr txBox="1"/>
          <p:nvPr/>
        </p:nvSpPr>
        <p:spPr>
          <a:xfrm>
            <a:off x="2487168" y="4526280"/>
            <a:ext cx="914400" cy="420624"/>
          </a:xfrm>
          <a:prstGeom prst="rect">
            <a:avLst/>
          </a:prstGeom>
          <a:noFill/>
          <a:ln/>
        </p:spPr>
        <p:txBody>
          <a:bodyPr wrap="square" lIns="0" tIns="0" rIns="0" bIns="0" rtlCol="0" anchor="ctr"/>
          <a:lstStyle/>
          <a:p>
            <a:pPr marL="0" indent="0">
              <a:buNone/>
            </a:pPr>
            <a:r>
              <a:rPr lang="en-US" sz="1500" b="1" dirty="0">
                <a:solidFill>
                  <a:srgbClr val="C85B35"/>
                </a:solidFill>
                <a:latin typeface="Malgun Gothic" pitchFamily="34" charset="0"/>
                <a:ea typeface="Malgun Gothic" pitchFamily="34" charset="-122"/>
                <a:cs typeface="Malgun Gothic" pitchFamily="34" charset="-120"/>
              </a:rPr>
              <a:t>20%</a:t>
            </a:r>
            <a:endParaRPr lang="en-US" sz="1500" dirty="0"/>
          </a:p>
        </p:txBody>
      </p:sp>
      <p:sp>
        <p:nvSpPr>
          <p:cNvPr id="40" name="Shape 38"/>
          <p:cNvSpPr/>
          <p:nvPr/>
        </p:nvSpPr>
        <p:spPr>
          <a:xfrm>
            <a:off x="3630168" y="4645152"/>
            <a:ext cx="1009420" cy="182880"/>
          </a:xfrm>
          <a:prstGeom prst="roundRect">
            <a:avLst>
              <a:gd name="adj" fmla="val 25000"/>
            </a:avLst>
          </a:prstGeom>
          <a:solidFill>
            <a:srgbClr val="123F34"/>
          </a:solidFill>
          <a:ln/>
        </p:spPr>
      </p:sp>
      <p:sp>
        <p:nvSpPr>
          <p:cNvPr id="41" name="Text 39"/>
          <p:cNvSpPr txBox="1"/>
          <p:nvPr/>
        </p:nvSpPr>
        <p:spPr>
          <a:xfrm>
            <a:off x="4731028" y="4526280"/>
            <a:ext cx="731520" cy="420624"/>
          </a:xfrm>
          <a:prstGeom prst="rect">
            <a:avLst/>
          </a:prstGeom>
          <a:noFill/>
          <a:ln/>
        </p:spPr>
        <p:txBody>
          <a:bodyPr wrap="square" lIns="0" tIns="0" rIns="0" bIns="0" rtlCol="0" anchor="ctr"/>
          <a:lstStyle/>
          <a:p>
            <a:pPr marL="0" indent="0">
              <a:buNone/>
            </a:pPr>
            <a:r>
              <a:rPr lang="en-US" sz="1100" dirty="0">
                <a:solidFill>
                  <a:srgbClr val="3D5A50"/>
                </a:solidFill>
                <a:latin typeface="Malgun Gothic" pitchFamily="34" charset="0"/>
                <a:ea typeface="Malgun Gothic" pitchFamily="34" charset="-122"/>
                <a:cs typeface="Malgun Gothic" pitchFamily="34" charset="-120"/>
              </a:rPr>
              <a:t>14.1%</a:t>
            </a:r>
            <a:endParaRPr lang="en-US" sz="1100" dirty="0"/>
          </a:p>
        </p:txBody>
      </p:sp>
      <p:sp>
        <p:nvSpPr>
          <p:cNvPr id="42" name="Shape 40"/>
          <p:cNvSpPr/>
          <p:nvPr/>
        </p:nvSpPr>
        <p:spPr>
          <a:xfrm>
            <a:off x="612648" y="4946904"/>
            <a:ext cx="5760720" cy="420624"/>
          </a:xfrm>
          <a:prstGeom prst="rect">
            <a:avLst/>
          </a:prstGeom>
          <a:solidFill>
            <a:srgbClr val="FFFFFF"/>
          </a:solidFill>
          <a:ln/>
        </p:spPr>
      </p:sp>
      <p:sp>
        <p:nvSpPr>
          <p:cNvPr id="43" name="Text 41"/>
          <p:cNvSpPr txBox="1"/>
          <p:nvPr/>
        </p:nvSpPr>
        <p:spPr>
          <a:xfrm>
            <a:off x="795528" y="4946904"/>
            <a:ext cx="1645920" cy="420624"/>
          </a:xfrm>
          <a:prstGeom prst="rect">
            <a:avLst/>
          </a:prstGeom>
          <a:noFill/>
          <a:ln/>
        </p:spPr>
        <p:txBody>
          <a:bodyPr wrap="square" lIns="0" tIns="0" rIns="0" bIns="0" rtlCol="0" anchor="ctr"/>
          <a:lstStyle/>
          <a:p>
            <a:pPr marL="0" indent="0">
              <a:buNone/>
            </a:pPr>
            <a:r>
              <a:rPr lang="en-US" sz="1250" dirty="0">
                <a:solidFill>
                  <a:srgbClr val="123F34"/>
                </a:solidFill>
                <a:latin typeface="Malgun Gothic" pitchFamily="34" charset="0"/>
                <a:ea typeface="Malgun Gothic" pitchFamily="34" charset="-122"/>
                <a:cs typeface="Malgun Gothic" pitchFamily="34" charset="-120"/>
              </a:rPr>
              <a:t>2.5% 이상</a:t>
            </a:r>
            <a:endParaRPr lang="en-US" sz="1250" dirty="0"/>
          </a:p>
        </p:txBody>
      </p:sp>
      <p:sp>
        <p:nvSpPr>
          <p:cNvPr id="44" name="Text 42"/>
          <p:cNvSpPr txBox="1"/>
          <p:nvPr/>
        </p:nvSpPr>
        <p:spPr>
          <a:xfrm>
            <a:off x="2487168" y="4946904"/>
            <a:ext cx="914400" cy="420624"/>
          </a:xfrm>
          <a:prstGeom prst="rect">
            <a:avLst/>
          </a:prstGeom>
          <a:noFill/>
          <a:ln/>
        </p:spPr>
        <p:txBody>
          <a:bodyPr wrap="square" lIns="0" tIns="0" rIns="0" bIns="0" rtlCol="0" anchor="ctr"/>
          <a:lstStyle/>
          <a:p>
            <a:pPr marL="0" indent="0">
              <a:buNone/>
            </a:pPr>
            <a:r>
              <a:rPr lang="en-US" sz="1500" b="1" dirty="0">
                <a:solidFill>
                  <a:srgbClr val="C85B35"/>
                </a:solidFill>
                <a:latin typeface="Malgun Gothic" pitchFamily="34" charset="0"/>
                <a:ea typeface="Malgun Gothic" pitchFamily="34" charset="-122"/>
                <a:cs typeface="Malgun Gothic" pitchFamily="34" charset="-120"/>
              </a:rPr>
              <a:t>30%</a:t>
            </a:r>
            <a:endParaRPr lang="en-US" sz="1500" dirty="0"/>
          </a:p>
        </p:txBody>
      </p:sp>
      <p:sp>
        <p:nvSpPr>
          <p:cNvPr id="45" name="Shape 43"/>
          <p:cNvSpPr/>
          <p:nvPr/>
        </p:nvSpPr>
        <p:spPr>
          <a:xfrm>
            <a:off x="3630168" y="5065776"/>
            <a:ext cx="658628" cy="182880"/>
          </a:xfrm>
          <a:prstGeom prst="roundRect">
            <a:avLst>
              <a:gd name="adj" fmla="val 25000"/>
            </a:avLst>
          </a:prstGeom>
          <a:solidFill>
            <a:srgbClr val="C85B35"/>
          </a:solidFill>
          <a:ln/>
        </p:spPr>
      </p:sp>
      <p:sp>
        <p:nvSpPr>
          <p:cNvPr id="46" name="Text 44"/>
          <p:cNvSpPr txBox="1"/>
          <p:nvPr/>
        </p:nvSpPr>
        <p:spPr>
          <a:xfrm>
            <a:off x="4380236" y="4946904"/>
            <a:ext cx="731520" cy="420624"/>
          </a:xfrm>
          <a:prstGeom prst="rect">
            <a:avLst/>
          </a:prstGeom>
          <a:noFill/>
          <a:ln/>
        </p:spPr>
        <p:txBody>
          <a:bodyPr wrap="square" lIns="0" tIns="0" rIns="0" bIns="0" rtlCol="0" anchor="ctr"/>
          <a:lstStyle/>
          <a:p>
            <a:pPr marL="0" indent="0">
              <a:buNone/>
            </a:pPr>
            <a:r>
              <a:rPr lang="en-US" sz="1100" dirty="0">
                <a:solidFill>
                  <a:srgbClr val="3D5A50"/>
                </a:solidFill>
                <a:latin typeface="Malgun Gothic" pitchFamily="34" charset="0"/>
                <a:ea typeface="Malgun Gothic" pitchFamily="34" charset="-122"/>
                <a:cs typeface="Malgun Gothic" pitchFamily="34" charset="-120"/>
              </a:rPr>
              <a:t>9.2%</a:t>
            </a:r>
            <a:endParaRPr lang="en-US" sz="1100" dirty="0"/>
          </a:p>
        </p:txBody>
      </p:sp>
      <p:sp>
        <p:nvSpPr>
          <p:cNvPr id="47" name="Text 45"/>
          <p:cNvSpPr txBox="1"/>
          <p:nvPr/>
        </p:nvSpPr>
        <p:spPr>
          <a:xfrm>
            <a:off x="612648" y="5440680"/>
            <a:ext cx="5852160" cy="274320"/>
          </a:xfrm>
          <a:prstGeom prst="rect">
            <a:avLst/>
          </a:prstGeom>
          <a:noFill/>
          <a:ln/>
        </p:spPr>
        <p:txBody>
          <a:bodyPr wrap="square" lIns="0" tIns="0" rIns="0" bIns="0" rtlCol="0" anchor="t"/>
          <a:lstStyle/>
          <a:p>
            <a:pPr marL="0" indent="0">
              <a:buNone/>
            </a:pPr>
            <a:r>
              <a:rPr lang="en-US" sz="1150" b="1" dirty="0">
                <a:solidFill>
                  <a:srgbClr val="123F34"/>
                </a:solidFill>
                <a:latin typeface="Malgun Gothic" pitchFamily="34" charset="0"/>
                <a:ea typeface="Malgun Gothic" pitchFamily="34" charset="-122"/>
                <a:cs typeface="Malgun Gothic" pitchFamily="34" charset="-120"/>
              </a:rPr>
              <a:t>빈도 가중 평균 기본 할인 ≈ 13.5%</a:t>
            </a:r>
            <a:r>
              <a:rPr lang="en-US" sz="1150" dirty="0">
                <a:solidFill>
                  <a:srgbClr val="3D5A50"/>
                </a:solidFill>
                <a:latin typeface="Malgun Gothic" pitchFamily="34" charset="0"/>
                <a:ea typeface="Malgun Gothic" pitchFamily="34" charset="-122"/>
                <a:cs typeface="Malgun Gothic" pitchFamily="34" charset="-120"/>
              </a:rPr>
              <a:t>  ·  30% 구간은 전체 거래일의 9.2%</a:t>
            </a:r>
            <a:endParaRPr lang="en-US" sz="1150" dirty="0"/>
          </a:p>
        </p:txBody>
      </p:sp>
      <p:sp>
        <p:nvSpPr>
          <p:cNvPr id="48" name="Shape 46"/>
          <p:cNvSpPr/>
          <p:nvPr/>
        </p:nvSpPr>
        <p:spPr>
          <a:xfrm>
            <a:off x="6675120" y="2514600"/>
            <a:ext cx="4910328" cy="822960"/>
          </a:xfrm>
          <a:prstGeom prst="roundRect">
            <a:avLst>
              <a:gd name="adj" fmla="val 13333"/>
            </a:avLst>
          </a:prstGeom>
          <a:solidFill>
            <a:srgbClr val="FFFFFF"/>
          </a:solidFill>
          <a:ln/>
          <a:effectLst>
            <a:outerShdw blurRad="101600" dist="25400" dir="5400000" algn="bl" rotWithShape="0">
              <a:srgbClr val="123F34">
                <a:alpha val="12000"/>
              </a:srgbClr>
            </a:outerShdw>
          </a:effectLst>
        </p:spPr>
      </p:sp>
      <p:sp>
        <p:nvSpPr>
          <p:cNvPr id="49" name="Text 47"/>
          <p:cNvSpPr txBox="1"/>
          <p:nvPr/>
        </p:nvSpPr>
        <p:spPr>
          <a:xfrm>
            <a:off x="6903720" y="2642616"/>
            <a:ext cx="2286000" cy="274320"/>
          </a:xfrm>
          <a:prstGeom prst="rect">
            <a:avLst/>
          </a:prstGeom>
          <a:noFill/>
          <a:ln/>
        </p:spPr>
        <p:txBody>
          <a:bodyPr wrap="square" lIns="0" tIns="0" rIns="0" bIns="0" rtlCol="0" anchor="t"/>
          <a:lstStyle/>
          <a:p>
            <a:pPr marL="0" indent="0">
              <a:buNone/>
            </a:pPr>
            <a:r>
              <a:rPr lang="en-US" sz="1300" b="1" dirty="0">
                <a:solidFill>
                  <a:srgbClr val="123F34"/>
                </a:solidFill>
                <a:latin typeface="Malgun Gothic" pitchFamily="34" charset="0"/>
                <a:ea typeface="Malgun Gothic" pitchFamily="34" charset="-122"/>
                <a:cs typeface="Malgun Gothic" pitchFamily="34" charset="-120"/>
              </a:rPr>
              <a:t>② 수요 보정</a:t>
            </a:r>
            <a:endParaRPr lang="en-US" sz="1300" dirty="0"/>
          </a:p>
        </p:txBody>
      </p:sp>
      <p:sp>
        <p:nvSpPr>
          <p:cNvPr id="50" name="Text 48"/>
          <p:cNvSpPr txBox="1"/>
          <p:nvPr/>
        </p:nvSpPr>
        <p:spPr>
          <a:xfrm>
            <a:off x="6903720" y="2944368"/>
            <a:ext cx="3108960" cy="274320"/>
          </a:xfrm>
          <a:prstGeom prst="rect">
            <a:avLst/>
          </a:prstGeom>
          <a:noFill/>
          <a:ln/>
        </p:spPr>
        <p:txBody>
          <a:bodyPr wrap="square" lIns="0" tIns="0" rIns="0" bIns="0" rtlCol="0" anchor="t"/>
          <a:lstStyle/>
          <a:p>
            <a:pPr marL="0" indent="0">
              <a:buNone/>
            </a:pPr>
            <a:r>
              <a:rPr lang="en-US" sz="1100" dirty="0">
                <a:solidFill>
                  <a:srgbClr val="3D5A50"/>
                </a:solidFill>
                <a:latin typeface="Malgun Gothic" pitchFamily="34" charset="0"/>
                <a:ea typeface="Malgun Gothic" pitchFamily="34" charset="-122"/>
                <a:cs typeface="Malgun Gothic" pitchFamily="34" charset="-120"/>
              </a:rPr>
              <a:t>관심은 높지만 구매전환이 낮은 SKU</a:t>
            </a:r>
            <a:endParaRPr lang="en-US" sz="1100" dirty="0"/>
          </a:p>
        </p:txBody>
      </p:sp>
      <p:sp>
        <p:nvSpPr>
          <p:cNvPr id="51" name="Text 49"/>
          <p:cNvSpPr txBox="1"/>
          <p:nvPr/>
        </p:nvSpPr>
        <p:spPr>
          <a:xfrm>
            <a:off x="9509760" y="2514600"/>
            <a:ext cx="1874520" cy="822960"/>
          </a:xfrm>
          <a:prstGeom prst="rect">
            <a:avLst/>
          </a:prstGeom>
          <a:noFill/>
          <a:ln/>
        </p:spPr>
        <p:txBody>
          <a:bodyPr wrap="square" lIns="0" tIns="0" rIns="0" bIns="0" rtlCol="0" anchor="ctr"/>
          <a:lstStyle/>
          <a:p>
            <a:pPr marL="0" indent="0" algn="r">
              <a:buNone/>
            </a:pPr>
            <a:r>
              <a:rPr lang="en-US" sz="1500" b="1" dirty="0">
                <a:solidFill>
                  <a:srgbClr val="C85B35"/>
                </a:solidFill>
                <a:latin typeface="Malgun Gothic" pitchFamily="34" charset="0"/>
                <a:ea typeface="Malgun Gothic" pitchFamily="34" charset="-122"/>
                <a:cs typeface="Malgun Gothic" pitchFamily="34" charset="-120"/>
              </a:rPr>
              <a:t>0 / +2 / +3%p</a:t>
            </a:r>
            <a:endParaRPr lang="en-US" sz="1500" dirty="0"/>
          </a:p>
        </p:txBody>
      </p:sp>
      <p:sp>
        <p:nvSpPr>
          <p:cNvPr id="52" name="Shape 50"/>
          <p:cNvSpPr/>
          <p:nvPr/>
        </p:nvSpPr>
        <p:spPr>
          <a:xfrm>
            <a:off x="6675120" y="3474720"/>
            <a:ext cx="4910328" cy="822960"/>
          </a:xfrm>
          <a:prstGeom prst="roundRect">
            <a:avLst>
              <a:gd name="adj" fmla="val 13333"/>
            </a:avLst>
          </a:prstGeom>
          <a:solidFill>
            <a:srgbClr val="FFFFFF"/>
          </a:solidFill>
          <a:ln/>
          <a:effectLst>
            <a:outerShdw blurRad="101600" dist="25400" dir="5400000" algn="bl" rotWithShape="0">
              <a:srgbClr val="123F34">
                <a:alpha val="12000"/>
              </a:srgbClr>
            </a:outerShdw>
          </a:effectLst>
        </p:spPr>
      </p:sp>
      <p:sp>
        <p:nvSpPr>
          <p:cNvPr id="53" name="Text 51"/>
          <p:cNvSpPr txBox="1"/>
          <p:nvPr/>
        </p:nvSpPr>
        <p:spPr>
          <a:xfrm>
            <a:off x="6903720" y="3602736"/>
            <a:ext cx="2286000" cy="274320"/>
          </a:xfrm>
          <a:prstGeom prst="rect">
            <a:avLst/>
          </a:prstGeom>
          <a:noFill/>
          <a:ln/>
        </p:spPr>
        <p:txBody>
          <a:bodyPr wrap="square" lIns="0" tIns="0" rIns="0" bIns="0" rtlCol="0" anchor="t"/>
          <a:lstStyle/>
          <a:p>
            <a:pPr marL="0" indent="0">
              <a:buNone/>
            </a:pPr>
            <a:r>
              <a:rPr lang="en-US" sz="1300" b="1" dirty="0">
                <a:solidFill>
                  <a:srgbClr val="123F34"/>
                </a:solidFill>
                <a:latin typeface="Malgun Gothic" pitchFamily="34" charset="0"/>
                <a:ea typeface="Malgun Gothic" pitchFamily="34" charset="-122"/>
                <a:cs typeface="Malgun Gothic" pitchFamily="34" charset="-120"/>
              </a:rPr>
              <a:t>③ 재고 보정</a:t>
            </a:r>
            <a:endParaRPr lang="en-US" sz="1300" dirty="0"/>
          </a:p>
        </p:txBody>
      </p:sp>
      <p:sp>
        <p:nvSpPr>
          <p:cNvPr id="54" name="Text 52"/>
          <p:cNvSpPr txBox="1"/>
          <p:nvPr/>
        </p:nvSpPr>
        <p:spPr>
          <a:xfrm>
            <a:off x="6903720" y="3904488"/>
            <a:ext cx="3108960" cy="274320"/>
          </a:xfrm>
          <a:prstGeom prst="rect">
            <a:avLst/>
          </a:prstGeom>
          <a:noFill/>
          <a:ln/>
        </p:spPr>
        <p:txBody>
          <a:bodyPr wrap="square" lIns="0" tIns="0" rIns="0" bIns="0" rtlCol="0" anchor="t"/>
          <a:lstStyle/>
          <a:p>
            <a:pPr marL="0" indent="0">
              <a:buNone/>
            </a:pPr>
            <a:r>
              <a:rPr lang="en-US" sz="1100" dirty="0">
                <a:solidFill>
                  <a:srgbClr val="3D5A50"/>
                </a:solidFill>
                <a:latin typeface="Malgun Gothic" pitchFamily="34" charset="0"/>
                <a:ea typeface="Malgun Gothic" pitchFamily="34" charset="-122"/>
                <a:cs typeface="Malgun Gothic" pitchFamily="34" charset="-120"/>
              </a:rPr>
              <a:t>판매 속도 대비 재고 부담이 큰 SKU</a:t>
            </a:r>
            <a:endParaRPr lang="en-US" sz="1100" dirty="0"/>
          </a:p>
        </p:txBody>
      </p:sp>
      <p:sp>
        <p:nvSpPr>
          <p:cNvPr id="55" name="Text 53"/>
          <p:cNvSpPr txBox="1"/>
          <p:nvPr/>
        </p:nvSpPr>
        <p:spPr>
          <a:xfrm>
            <a:off x="9509760" y="3474720"/>
            <a:ext cx="1874520" cy="822960"/>
          </a:xfrm>
          <a:prstGeom prst="rect">
            <a:avLst/>
          </a:prstGeom>
          <a:noFill/>
          <a:ln/>
        </p:spPr>
        <p:txBody>
          <a:bodyPr wrap="square" lIns="0" tIns="0" rIns="0" bIns="0" rtlCol="0" anchor="ctr"/>
          <a:lstStyle/>
          <a:p>
            <a:pPr marL="0" indent="0" algn="r">
              <a:buNone/>
            </a:pPr>
            <a:r>
              <a:rPr lang="en-US" sz="1500" b="1" dirty="0">
                <a:solidFill>
                  <a:srgbClr val="C85B35"/>
                </a:solidFill>
                <a:latin typeface="Malgun Gothic" pitchFamily="34" charset="0"/>
                <a:ea typeface="Malgun Gothic" pitchFamily="34" charset="-122"/>
                <a:cs typeface="Malgun Gothic" pitchFamily="34" charset="-120"/>
              </a:rPr>
              <a:t>0 / +1 / +2%p</a:t>
            </a:r>
            <a:endParaRPr lang="en-US" sz="1500" dirty="0"/>
          </a:p>
        </p:txBody>
      </p:sp>
      <p:sp>
        <p:nvSpPr>
          <p:cNvPr id="56" name="Shape 54"/>
          <p:cNvSpPr/>
          <p:nvPr/>
        </p:nvSpPr>
        <p:spPr>
          <a:xfrm>
            <a:off x="6675120" y="4434840"/>
            <a:ext cx="4910328" cy="1600200"/>
          </a:xfrm>
          <a:prstGeom prst="roundRect">
            <a:avLst>
              <a:gd name="adj" fmla="val 6857"/>
            </a:avLst>
          </a:prstGeom>
          <a:solidFill>
            <a:srgbClr val="123F34"/>
          </a:solidFill>
          <a:ln/>
        </p:spPr>
      </p:sp>
      <p:sp>
        <p:nvSpPr>
          <p:cNvPr id="57" name="Shape 55"/>
          <p:cNvSpPr/>
          <p:nvPr/>
        </p:nvSpPr>
        <p:spPr>
          <a:xfrm>
            <a:off x="6903720" y="4617720"/>
            <a:ext cx="457200" cy="457200"/>
          </a:xfrm>
          <a:prstGeom prst="ellipse">
            <a:avLst/>
          </a:prstGeom>
          <a:solidFill>
            <a:srgbClr val="C85B35"/>
          </a:solidFill>
          <a:ln/>
        </p:spPr>
      </p:sp>
      <p:pic>
        <p:nvPicPr>
          <p:cNvPr id="58" name="Image 0" descr="preencoded.png"/>
          <p:cNvPicPr>
            <a:picLocks noChangeAspect="1"/>
          </p:cNvPicPr>
          <p:nvPr/>
        </p:nvPicPr>
        <p:blipFill>
          <a:blip r:embed="rId3"/>
          <a:stretch>
            <a:fillRect/>
          </a:stretch>
        </p:blipFill>
        <p:spPr>
          <a:xfrm>
            <a:off x="7027164" y="4741164"/>
            <a:ext cx="210312" cy="210312"/>
          </a:xfrm>
          <a:prstGeom prst="rect">
            <a:avLst/>
          </a:prstGeom>
        </p:spPr>
      </p:pic>
      <p:sp>
        <p:nvSpPr>
          <p:cNvPr id="59" name="Text 56"/>
          <p:cNvSpPr txBox="1"/>
          <p:nvPr/>
        </p:nvSpPr>
        <p:spPr>
          <a:xfrm>
            <a:off x="7498080" y="4617720"/>
            <a:ext cx="2743200" cy="457200"/>
          </a:xfrm>
          <a:prstGeom prst="rect">
            <a:avLst/>
          </a:prstGeom>
          <a:noFill/>
          <a:ln/>
        </p:spPr>
        <p:txBody>
          <a:bodyPr wrap="square" lIns="0" tIns="0" rIns="0" bIns="0" rtlCol="0" anchor="ctr"/>
          <a:lstStyle/>
          <a:p>
            <a:pPr marL="0" indent="0">
              <a:buNone/>
            </a:pPr>
            <a:r>
              <a:rPr lang="en-US" sz="1350" b="1" dirty="0">
                <a:solidFill>
                  <a:srgbClr val="F6F0E6"/>
                </a:solidFill>
                <a:latin typeface="Malgun Gothic" pitchFamily="34" charset="0"/>
                <a:ea typeface="Malgun Gothic" pitchFamily="34" charset="-122"/>
                <a:cs typeface="Malgun Gothic" pitchFamily="34" charset="-120"/>
              </a:rPr>
              <a:t>④ 운영 안전장치</a:t>
            </a:r>
            <a:endParaRPr lang="en-US" sz="1350" dirty="0"/>
          </a:p>
        </p:txBody>
      </p:sp>
      <p:sp>
        <p:nvSpPr>
          <p:cNvPr id="60" name="Text 57"/>
          <p:cNvSpPr txBox="1"/>
          <p:nvPr/>
        </p:nvSpPr>
        <p:spPr>
          <a:xfrm>
            <a:off x="6903720" y="5193792"/>
            <a:ext cx="4572000" cy="731520"/>
          </a:xfrm>
          <a:prstGeom prst="rect">
            <a:avLst/>
          </a:prstGeom>
          <a:noFill/>
          <a:ln/>
        </p:spPr>
        <p:txBody>
          <a:bodyPr wrap="square" lIns="0" tIns="0" rIns="0" bIns="0" rtlCol="0" anchor="t"/>
          <a:lstStyle/>
          <a:p>
            <a:pPr marL="0" indent="0">
              <a:lnSpc>
                <a:spcPct val="130000"/>
              </a:lnSpc>
              <a:buNone/>
            </a:pPr>
            <a:r>
              <a:rPr lang="en-US" sz="1200" dirty="0">
                <a:solidFill>
                  <a:srgbClr val="D5E2DC"/>
                </a:solidFill>
                <a:latin typeface="Malgun Gothic" pitchFamily="34" charset="0"/>
                <a:ea typeface="Malgun Gothic" pitchFamily="34" charset="-122"/>
                <a:cs typeface="Malgun Gothic" pitchFamily="34" charset="-120"/>
              </a:rPr>
              <a:t>전체 할인 최대 </a:t>
            </a:r>
            <a:r>
              <a:rPr lang="en-US" sz="1200" b="1" dirty="0">
                <a:solidFill>
                  <a:srgbClr val="F0A583"/>
                </a:solidFill>
                <a:latin typeface="Malgun Gothic" pitchFamily="34" charset="0"/>
                <a:ea typeface="Malgun Gothic" pitchFamily="34" charset="-122"/>
                <a:cs typeface="Malgun Gothic" pitchFamily="34" charset="-120"/>
              </a:rPr>
              <a:t>38%</a:t>
            </a:r>
            <a:r>
              <a:rPr lang="en-US" sz="1200" dirty="0">
                <a:solidFill>
                  <a:srgbClr val="D5E2DC"/>
                </a:solidFill>
                <a:latin typeface="Malgun Gothic" pitchFamily="34" charset="0"/>
                <a:ea typeface="Malgun Gothic" pitchFamily="34" charset="-122"/>
                <a:cs typeface="Malgun Gothic" pitchFamily="34" charset="-120"/>
              </a:rPr>
              <a:t>  ·  SKU별 마진 상한 우선</a:t>
            </a:r>
            <a:endParaRPr lang="en-US" sz="1200" dirty="0"/>
          </a:p>
          <a:p>
            <a:pPr marL="0" indent="0">
              <a:lnSpc>
                <a:spcPct val="130000"/>
              </a:lnSpc>
              <a:buNone/>
            </a:pPr>
            <a:r>
              <a:rPr lang="en-US" sz="1200" dirty="0">
                <a:solidFill>
                  <a:srgbClr val="D5E2DC"/>
                </a:solidFill>
                <a:latin typeface="Malgun Gothic" pitchFamily="34" charset="0"/>
                <a:ea typeface="Malgun Gothic" pitchFamily="34" charset="-122"/>
                <a:cs typeface="Malgun Gothic" pitchFamily="34" charset="-120"/>
              </a:rPr>
              <a:t>하락장 위로 보정 +3%p  ·  보정은 데이터 확보 후 적용</a:t>
            </a:r>
            <a:endParaRPr lang="en-US" sz="1200" dirty="0"/>
          </a:p>
        </p:txBody>
      </p:sp>
      <p:sp>
        <p:nvSpPr>
          <p:cNvPr id="61" name="Text 58"/>
          <p:cNvSpPr txBox="1"/>
          <p:nvPr/>
        </p:nvSpPr>
        <p:spPr>
          <a:xfrm>
            <a:off x="612648" y="6217920"/>
            <a:ext cx="10972800" cy="274320"/>
          </a:xfrm>
          <a:prstGeom prst="rect">
            <a:avLst/>
          </a:prstGeom>
          <a:noFill/>
          <a:ln/>
        </p:spPr>
        <p:txBody>
          <a:bodyPr wrap="square" lIns="0" tIns="0" rIns="0" bIns="0" rtlCol="0" anchor="ctr"/>
          <a:lstStyle/>
          <a:p>
            <a:pPr marL="0" indent="0">
              <a:buNone/>
            </a:pPr>
            <a:r>
              <a:rPr lang="en-US" sz="1050" dirty="0">
                <a:solidFill>
                  <a:srgbClr val="7A8F86"/>
                </a:solidFill>
                <a:latin typeface="Malgun Gothic" pitchFamily="34" charset="0"/>
                <a:ea typeface="Malgun Gothic" pitchFamily="34" charset="-122"/>
                <a:cs typeface="Malgun Gothic" pitchFamily="34" charset="-120"/>
              </a:rPr>
              <a:t>MVP는 KOSPI 기반 기본 할인부터 검증하고, 수요·재고 보정은 기업 데이터가 쌓인 뒤 고도화합니다.</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포트폴리오</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02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F6F0E6"/>
          </a:solidFill>
          <a:ln w="12700">
            <a:solidFill>
              <a:srgbClr val="C9D8CF"/>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123F34"/>
          </a:solidFill>
          <a:ln w="12700">
            <a:solidFill>
              <a:srgbClr val="123F34"/>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F6F0E6"/>
          </a:solidFill>
          <a:ln w="12700">
            <a:solidFill>
              <a:srgbClr val="C9D8CF"/>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08</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사지 않은 관심까지 기록해, 다음 방문의 근거로 씁니다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주문내역보다 한 단계 앞선 고객 이해 — 빵시장에서 남긴 행동이 상품 단위로 쌓입니다.</a:t>
            </a:r>
            <a:endParaRPr lang="en-US" sz="1350" dirty="0"/>
          </a:p>
        </p:txBody>
      </p:sp>
      <p:sp>
        <p:nvSpPr>
          <p:cNvPr id="17" name="Shape 15"/>
          <p:cNvSpPr/>
          <p:nvPr/>
        </p:nvSpPr>
        <p:spPr>
          <a:xfrm>
            <a:off x="612648" y="1828800"/>
            <a:ext cx="5760720"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18" name="Shape 16"/>
          <p:cNvSpPr/>
          <p:nvPr/>
        </p:nvSpPr>
        <p:spPr>
          <a:xfrm>
            <a:off x="841248" y="2029968"/>
            <a:ext cx="548640" cy="548640"/>
          </a:xfrm>
          <a:prstGeom prst="ellipse">
            <a:avLst/>
          </a:prstGeom>
          <a:solidFill>
            <a:srgbClr val="123F34"/>
          </a:solidFill>
          <a:ln/>
        </p:spPr>
      </p:sp>
      <p:pic>
        <p:nvPicPr>
          <p:cNvPr id="19" name="Image 0" descr="preencoded.png"/>
          <p:cNvPicPr>
            <a:picLocks noChangeAspect="1"/>
          </p:cNvPicPr>
          <p:nvPr/>
        </p:nvPicPr>
        <p:blipFill>
          <a:blip r:embed="rId3"/>
          <a:stretch>
            <a:fillRect/>
          </a:stretch>
        </p:blipFill>
        <p:spPr>
          <a:xfrm>
            <a:off x="989381" y="2178101"/>
            <a:ext cx="252374" cy="252374"/>
          </a:xfrm>
          <a:prstGeom prst="rect">
            <a:avLst/>
          </a:prstGeom>
        </p:spPr>
      </p:pic>
      <p:sp>
        <p:nvSpPr>
          <p:cNvPr id="20" name="Text 17"/>
          <p:cNvSpPr txBox="1"/>
          <p:nvPr/>
        </p:nvSpPr>
        <p:spPr>
          <a:xfrm>
            <a:off x="1572768" y="1984248"/>
            <a:ext cx="1828800" cy="320040"/>
          </a:xfrm>
          <a:prstGeom prst="rect">
            <a:avLst/>
          </a:prstGeom>
          <a:noFill/>
          <a:ln/>
        </p:spPr>
        <p:txBody>
          <a:bodyPr wrap="square" lIns="0" tIns="0" rIns="0" bIns="0" rtlCol="0" anchor="t"/>
          <a:lstStyle/>
          <a:p>
            <a:pPr marL="0" indent="0">
              <a:buNone/>
            </a:pPr>
            <a:r>
              <a:rPr lang="en-US" sz="1400" b="1" dirty="0">
                <a:solidFill>
                  <a:srgbClr val="123F34"/>
                </a:solidFill>
                <a:latin typeface="Malgun Gothic" pitchFamily="34" charset="0"/>
                <a:ea typeface="Malgun Gothic" pitchFamily="34" charset="-122"/>
                <a:cs typeface="Malgun Gothic" pitchFamily="34" charset="-120"/>
              </a:rPr>
              <a:t>기록</a:t>
            </a:r>
            <a:endParaRPr lang="en-US" sz="1400" dirty="0"/>
          </a:p>
        </p:txBody>
      </p:sp>
      <p:sp>
        <p:nvSpPr>
          <p:cNvPr id="21" name="Text 18"/>
          <p:cNvSpPr txBox="1"/>
          <p:nvPr/>
        </p:nvSpPr>
        <p:spPr>
          <a:xfrm>
            <a:off x="1572768" y="2322576"/>
            <a:ext cx="3931920" cy="320040"/>
          </a:xfrm>
          <a:prstGeom prst="rect">
            <a:avLst/>
          </a:prstGeom>
          <a:noFill/>
          <a:ln/>
        </p:spPr>
        <p:txBody>
          <a:bodyPr wrap="square" lIns="0" tIns="0" rIns="0" bIns="0" rtlCol="0" anchor="t"/>
          <a:lstStyle/>
          <a:p>
            <a:pPr marL="0" indent="0">
              <a:buNone/>
            </a:pPr>
            <a:r>
              <a:rPr lang="en-US" sz="1200" dirty="0">
                <a:solidFill>
                  <a:srgbClr val="3D5A50"/>
                </a:solidFill>
                <a:latin typeface="Malgun Gothic" pitchFamily="34" charset="0"/>
                <a:ea typeface="Malgun Gothic" pitchFamily="34" charset="-122"/>
                <a:cs typeface="Malgun Gothic" pitchFamily="34" charset="-120"/>
              </a:rPr>
              <a:t>하트 · 장바구니 · 구매를 상품 단위로 누적</a:t>
            </a:r>
            <a:endParaRPr lang="en-US" sz="1200" dirty="0"/>
          </a:p>
        </p:txBody>
      </p:sp>
      <p:sp>
        <p:nvSpPr>
          <p:cNvPr id="22" name="Shape 19"/>
          <p:cNvSpPr/>
          <p:nvPr/>
        </p:nvSpPr>
        <p:spPr>
          <a:xfrm>
            <a:off x="5321808" y="1993392"/>
            <a:ext cx="868680" cy="274320"/>
          </a:xfrm>
          <a:prstGeom prst="roundRect">
            <a:avLst>
              <a:gd name="adj" fmla="val 50000"/>
            </a:avLst>
          </a:prstGeom>
          <a:solidFill>
            <a:srgbClr val="DDEAE2"/>
          </a:solidFill>
          <a:ln/>
        </p:spPr>
      </p:sp>
      <p:sp>
        <p:nvSpPr>
          <p:cNvPr id="23" name="Text 20"/>
          <p:cNvSpPr txBox="1"/>
          <p:nvPr/>
        </p:nvSpPr>
        <p:spPr>
          <a:xfrm>
            <a:off x="5321808" y="1993392"/>
            <a:ext cx="868680" cy="274320"/>
          </a:xfrm>
          <a:prstGeom prst="rect">
            <a:avLst/>
          </a:prstGeom>
          <a:noFill/>
          <a:ln/>
        </p:spPr>
        <p:txBody>
          <a:bodyPr wrap="square" lIns="0" tIns="0" rIns="0" bIns="0" rtlCol="0" anchor="ctr"/>
          <a:lstStyle/>
          <a:p>
            <a:pPr marL="0" indent="0" algn="ctr">
              <a:buNone/>
            </a:pPr>
            <a:r>
              <a:rPr lang="en-US" sz="900" b="1" dirty="0">
                <a:solidFill>
                  <a:srgbClr val="123F34"/>
                </a:solidFill>
                <a:latin typeface="Malgun Gothic" pitchFamily="34" charset="0"/>
                <a:ea typeface="Malgun Gothic" pitchFamily="34" charset="-122"/>
                <a:cs typeface="Malgun Gothic" pitchFamily="34" charset="-120"/>
              </a:rPr>
              <a:t>고객 · 기업</a:t>
            </a:r>
            <a:endParaRPr lang="en-US" sz="900" dirty="0"/>
          </a:p>
        </p:txBody>
      </p:sp>
      <p:sp>
        <p:nvSpPr>
          <p:cNvPr id="24" name="Shape 21"/>
          <p:cNvSpPr/>
          <p:nvPr/>
        </p:nvSpPr>
        <p:spPr>
          <a:xfrm>
            <a:off x="612648" y="2944368"/>
            <a:ext cx="5760720"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25" name="Shape 22"/>
          <p:cNvSpPr/>
          <p:nvPr/>
        </p:nvSpPr>
        <p:spPr>
          <a:xfrm>
            <a:off x="841248" y="3145536"/>
            <a:ext cx="548640" cy="548640"/>
          </a:xfrm>
          <a:prstGeom prst="ellipse">
            <a:avLst/>
          </a:prstGeom>
          <a:solidFill>
            <a:srgbClr val="123F34"/>
          </a:solidFill>
          <a:ln/>
        </p:spPr>
      </p:sp>
      <p:pic>
        <p:nvPicPr>
          <p:cNvPr id="26" name="Image 1" descr="preencoded.png"/>
          <p:cNvPicPr>
            <a:picLocks noChangeAspect="1"/>
          </p:cNvPicPr>
          <p:nvPr/>
        </p:nvPicPr>
        <p:blipFill>
          <a:blip r:embed="rId4"/>
          <a:stretch>
            <a:fillRect/>
          </a:stretch>
        </p:blipFill>
        <p:spPr>
          <a:xfrm>
            <a:off x="989381" y="3293669"/>
            <a:ext cx="252374" cy="252374"/>
          </a:xfrm>
          <a:prstGeom prst="rect">
            <a:avLst/>
          </a:prstGeom>
        </p:spPr>
      </p:pic>
      <p:sp>
        <p:nvSpPr>
          <p:cNvPr id="27" name="Text 23"/>
          <p:cNvSpPr txBox="1"/>
          <p:nvPr/>
        </p:nvSpPr>
        <p:spPr>
          <a:xfrm>
            <a:off x="1572768" y="3099816"/>
            <a:ext cx="1828800" cy="320040"/>
          </a:xfrm>
          <a:prstGeom prst="rect">
            <a:avLst/>
          </a:prstGeom>
          <a:noFill/>
          <a:ln/>
        </p:spPr>
        <p:txBody>
          <a:bodyPr wrap="square" lIns="0" tIns="0" rIns="0" bIns="0" rtlCol="0" anchor="t"/>
          <a:lstStyle/>
          <a:p>
            <a:pPr marL="0" indent="0">
              <a:buNone/>
            </a:pPr>
            <a:r>
              <a:rPr lang="en-US" sz="1400" b="1" dirty="0">
                <a:solidFill>
                  <a:srgbClr val="123F34"/>
                </a:solidFill>
                <a:latin typeface="Malgun Gothic" pitchFamily="34" charset="0"/>
                <a:ea typeface="Malgun Gothic" pitchFamily="34" charset="-122"/>
                <a:cs typeface="Malgun Gothic" pitchFamily="34" charset="-120"/>
              </a:rPr>
              <a:t>알림</a:t>
            </a:r>
            <a:endParaRPr lang="en-US" sz="1400" dirty="0"/>
          </a:p>
        </p:txBody>
      </p:sp>
      <p:sp>
        <p:nvSpPr>
          <p:cNvPr id="28" name="Text 24"/>
          <p:cNvSpPr txBox="1"/>
          <p:nvPr/>
        </p:nvSpPr>
        <p:spPr>
          <a:xfrm>
            <a:off x="1572768" y="3438144"/>
            <a:ext cx="3931920" cy="320040"/>
          </a:xfrm>
          <a:prstGeom prst="rect">
            <a:avLst/>
          </a:prstGeom>
          <a:noFill/>
          <a:ln/>
        </p:spPr>
        <p:txBody>
          <a:bodyPr wrap="square" lIns="0" tIns="0" rIns="0" bIns="0" rtlCol="0" anchor="t"/>
          <a:lstStyle/>
          <a:p>
            <a:pPr marL="0" indent="0">
              <a:buNone/>
            </a:pPr>
            <a:r>
              <a:rPr lang="en-US" sz="1200" dirty="0">
                <a:solidFill>
                  <a:srgbClr val="3D5A50"/>
                </a:solidFill>
                <a:latin typeface="Malgun Gothic" pitchFamily="34" charset="0"/>
                <a:ea typeface="Malgun Gothic" pitchFamily="34" charset="-122"/>
                <a:cs typeface="Malgun Gothic" pitchFamily="34" charset="-120"/>
              </a:rPr>
              <a:t>관심빵 TOP3와 가격 변동 알림의 기준이 됩니다</a:t>
            </a:r>
            <a:endParaRPr lang="en-US" sz="1200" dirty="0"/>
          </a:p>
        </p:txBody>
      </p:sp>
      <p:sp>
        <p:nvSpPr>
          <p:cNvPr id="29" name="Shape 25"/>
          <p:cNvSpPr/>
          <p:nvPr/>
        </p:nvSpPr>
        <p:spPr>
          <a:xfrm>
            <a:off x="5321808" y="3108960"/>
            <a:ext cx="868680" cy="274320"/>
          </a:xfrm>
          <a:prstGeom prst="roundRect">
            <a:avLst>
              <a:gd name="adj" fmla="val 50000"/>
            </a:avLst>
          </a:prstGeom>
          <a:solidFill>
            <a:srgbClr val="DDEAE2"/>
          </a:solidFill>
          <a:ln/>
        </p:spPr>
      </p:sp>
      <p:sp>
        <p:nvSpPr>
          <p:cNvPr id="30" name="Text 26"/>
          <p:cNvSpPr txBox="1"/>
          <p:nvPr/>
        </p:nvSpPr>
        <p:spPr>
          <a:xfrm>
            <a:off x="5321808" y="3108960"/>
            <a:ext cx="868680" cy="274320"/>
          </a:xfrm>
          <a:prstGeom prst="rect">
            <a:avLst/>
          </a:prstGeom>
          <a:noFill/>
          <a:ln/>
        </p:spPr>
        <p:txBody>
          <a:bodyPr wrap="square" lIns="0" tIns="0" rIns="0" bIns="0" rtlCol="0" anchor="ctr"/>
          <a:lstStyle/>
          <a:p>
            <a:pPr marL="0" indent="0" algn="ctr">
              <a:buNone/>
            </a:pPr>
            <a:r>
              <a:rPr lang="en-US" sz="900" b="1" dirty="0">
                <a:solidFill>
                  <a:srgbClr val="123F34"/>
                </a:solidFill>
                <a:latin typeface="Malgun Gothic" pitchFamily="34" charset="0"/>
                <a:ea typeface="Malgun Gothic" pitchFamily="34" charset="-122"/>
                <a:cs typeface="Malgun Gothic" pitchFamily="34" charset="-120"/>
              </a:rPr>
              <a:t>고객</a:t>
            </a:r>
            <a:endParaRPr lang="en-US" sz="900" dirty="0"/>
          </a:p>
        </p:txBody>
      </p:sp>
      <p:sp>
        <p:nvSpPr>
          <p:cNvPr id="31" name="Shape 27"/>
          <p:cNvSpPr/>
          <p:nvPr/>
        </p:nvSpPr>
        <p:spPr>
          <a:xfrm>
            <a:off x="612648" y="4059936"/>
            <a:ext cx="5760720"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32" name="Shape 28"/>
          <p:cNvSpPr/>
          <p:nvPr/>
        </p:nvSpPr>
        <p:spPr>
          <a:xfrm>
            <a:off x="841248" y="4261104"/>
            <a:ext cx="548640" cy="548640"/>
          </a:xfrm>
          <a:prstGeom prst="ellipse">
            <a:avLst/>
          </a:prstGeom>
          <a:solidFill>
            <a:srgbClr val="C85B35"/>
          </a:solidFill>
          <a:ln/>
        </p:spPr>
      </p:sp>
      <p:pic>
        <p:nvPicPr>
          <p:cNvPr id="33" name="Image 2" descr="preencoded.png"/>
          <p:cNvPicPr>
            <a:picLocks noChangeAspect="1"/>
          </p:cNvPicPr>
          <p:nvPr/>
        </p:nvPicPr>
        <p:blipFill>
          <a:blip r:embed="rId5"/>
          <a:stretch>
            <a:fillRect/>
          </a:stretch>
        </p:blipFill>
        <p:spPr>
          <a:xfrm>
            <a:off x="989381" y="4409237"/>
            <a:ext cx="252374" cy="252374"/>
          </a:xfrm>
          <a:prstGeom prst="rect">
            <a:avLst/>
          </a:prstGeom>
        </p:spPr>
      </p:pic>
      <p:sp>
        <p:nvSpPr>
          <p:cNvPr id="34" name="Text 29"/>
          <p:cNvSpPr txBox="1"/>
          <p:nvPr/>
        </p:nvSpPr>
        <p:spPr>
          <a:xfrm>
            <a:off x="1572768" y="4215384"/>
            <a:ext cx="1828800" cy="320040"/>
          </a:xfrm>
          <a:prstGeom prst="rect">
            <a:avLst/>
          </a:prstGeom>
          <a:noFill/>
          <a:ln/>
        </p:spPr>
        <p:txBody>
          <a:bodyPr wrap="square" lIns="0" tIns="0" rIns="0" bIns="0" rtlCol="0" anchor="t"/>
          <a:lstStyle/>
          <a:p>
            <a:pPr marL="0" indent="0">
              <a:buNone/>
            </a:pPr>
            <a:r>
              <a:rPr lang="en-US" sz="1400" b="1" dirty="0">
                <a:solidFill>
                  <a:srgbClr val="123F34"/>
                </a:solidFill>
                <a:latin typeface="Malgun Gothic" pitchFamily="34" charset="0"/>
                <a:ea typeface="Malgun Gothic" pitchFamily="34" charset="-122"/>
                <a:cs typeface="Malgun Gothic" pitchFamily="34" charset="-120"/>
              </a:rPr>
              <a:t>인사이트</a:t>
            </a:r>
            <a:endParaRPr lang="en-US" sz="1400" dirty="0"/>
          </a:p>
        </p:txBody>
      </p:sp>
      <p:sp>
        <p:nvSpPr>
          <p:cNvPr id="35" name="Text 30"/>
          <p:cNvSpPr txBox="1"/>
          <p:nvPr/>
        </p:nvSpPr>
        <p:spPr>
          <a:xfrm>
            <a:off x="1572768" y="4553712"/>
            <a:ext cx="3931920" cy="320040"/>
          </a:xfrm>
          <a:prstGeom prst="rect">
            <a:avLst/>
          </a:prstGeom>
          <a:noFill/>
          <a:ln/>
        </p:spPr>
        <p:txBody>
          <a:bodyPr wrap="square" lIns="0" tIns="0" rIns="0" bIns="0" rtlCol="0" anchor="t"/>
          <a:lstStyle/>
          <a:p>
            <a:pPr marL="0" indent="0">
              <a:buNone/>
            </a:pPr>
            <a:r>
              <a:rPr lang="en-US" sz="1200" dirty="0">
                <a:solidFill>
                  <a:srgbClr val="3D5A50"/>
                </a:solidFill>
                <a:latin typeface="Malgun Gothic" pitchFamily="34" charset="0"/>
                <a:ea typeface="Malgun Gothic" pitchFamily="34" charset="-122"/>
                <a:cs typeface="Malgun Gothic" pitchFamily="34" charset="-120"/>
              </a:rPr>
              <a:t>관심 대비 구매전환, SKU별 잠재수요를 파악합니다</a:t>
            </a:r>
            <a:endParaRPr lang="en-US" sz="1200" dirty="0"/>
          </a:p>
        </p:txBody>
      </p:sp>
      <p:sp>
        <p:nvSpPr>
          <p:cNvPr id="36" name="Shape 31"/>
          <p:cNvSpPr/>
          <p:nvPr/>
        </p:nvSpPr>
        <p:spPr>
          <a:xfrm>
            <a:off x="5321808" y="4224528"/>
            <a:ext cx="868680" cy="274320"/>
          </a:xfrm>
          <a:prstGeom prst="roundRect">
            <a:avLst>
              <a:gd name="adj" fmla="val 50000"/>
            </a:avLst>
          </a:prstGeom>
          <a:solidFill>
            <a:srgbClr val="DDEAE2"/>
          </a:solidFill>
          <a:ln/>
        </p:spPr>
      </p:sp>
      <p:sp>
        <p:nvSpPr>
          <p:cNvPr id="37" name="Text 32"/>
          <p:cNvSpPr txBox="1"/>
          <p:nvPr/>
        </p:nvSpPr>
        <p:spPr>
          <a:xfrm>
            <a:off x="5321808" y="4224528"/>
            <a:ext cx="868680" cy="274320"/>
          </a:xfrm>
          <a:prstGeom prst="rect">
            <a:avLst/>
          </a:prstGeom>
          <a:noFill/>
          <a:ln/>
        </p:spPr>
        <p:txBody>
          <a:bodyPr wrap="square" lIns="0" tIns="0" rIns="0" bIns="0" rtlCol="0" anchor="ctr"/>
          <a:lstStyle/>
          <a:p>
            <a:pPr marL="0" indent="0" algn="ctr">
              <a:buNone/>
            </a:pPr>
            <a:r>
              <a:rPr lang="en-US" sz="900" b="1" dirty="0">
                <a:solidFill>
                  <a:srgbClr val="123F34"/>
                </a:solidFill>
                <a:latin typeface="Malgun Gothic" pitchFamily="34" charset="0"/>
                <a:ea typeface="Malgun Gothic" pitchFamily="34" charset="-122"/>
                <a:cs typeface="Malgun Gothic" pitchFamily="34" charset="-120"/>
              </a:rPr>
              <a:t>기업</a:t>
            </a:r>
            <a:endParaRPr lang="en-US" sz="900" dirty="0"/>
          </a:p>
        </p:txBody>
      </p:sp>
      <p:sp>
        <p:nvSpPr>
          <p:cNvPr id="38" name="Shape 33"/>
          <p:cNvSpPr/>
          <p:nvPr/>
        </p:nvSpPr>
        <p:spPr>
          <a:xfrm>
            <a:off x="612648" y="5257800"/>
            <a:ext cx="5760720" cy="685800"/>
          </a:xfrm>
          <a:prstGeom prst="roundRect">
            <a:avLst>
              <a:gd name="adj" fmla="val 16000"/>
            </a:avLst>
          </a:prstGeom>
          <a:solidFill>
            <a:srgbClr val="123F34"/>
          </a:solidFill>
          <a:ln/>
        </p:spPr>
      </p:sp>
      <p:sp>
        <p:nvSpPr>
          <p:cNvPr id="39" name="Text 34"/>
          <p:cNvSpPr txBox="1"/>
          <p:nvPr/>
        </p:nvSpPr>
        <p:spPr>
          <a:xfrm>
            <a:off x="886968" y="5257800"/>
            <a:ext cx="5394960" cy="685800"/>
          </a:xfrm>
          <a:prstGeom prst="rect">
            <a:avLst/>
          </a:prstGeom>
          <a:noFill/>
          <a:ln/>
        </p:spPr>
        <p:txBody>
          <a:bodyPr wrap="square" lIns="0" tIns="0" rIns="0" bIns="0" rtlCol="0" anchor="ctr"/>
          <a:lstStyle/>
          <a:p>
            <a:pPr marL="0" indent="0">
              <a:buNone/>
            </a:pPr>
            <a:r>
              <a:rPr lang="en-US" sz="1300" b="1" dirty="0">
                <a:solidFill>
                  <a:srgbClr val="9DB5AB"/>
                </a:solidFill>
                <a:latin typeface="Malgun Gothic" pitchFamily="34" charset="0"/>
                <a:ea typeface="Malgun Gothic" pitchFamily="34" charset="-122"/>
                <a:cs typeface="Malgun Gothic" pitchFamily="34" charset="-120"/>
              </a:rPr>
              <a:t>주문내역: </a:t>
            </a:r>
            <a:r>
              <a:rPr lang="en-US" sz="1300" b="1" dirty="0">
                <a:solidFill>
                  <a:srgbClr val="F6F0E6"/>
                </a:solidFill>
                <a:latin typeface="Malgun Gothic" pitchFamily="34" charset="0"/>
                <a:ea typeface="Malgun Gothic" pitchFamily="34" charset="-122"/>
                <a:cs typeface="Malgun Gothic" pitchFamily="34" charset="-120"/>
              </a:rPr>
              <a:t>무엇이 팔렸나   →   </a:t>
            </a:r>
            <a:r>
              <a:rPr lang="en-US" sz="1300" b="1" dirty="0">
                <a:solidFill>
                  <a:srgbClr val="F0A583"/>
                </a:solidFill>
                <a:latin typeface="Malgun Gothic" pitchFamily="34" charset="0"/>
                <a:ea typeface="Malgun Gothic" pitchFamily="34" charset="-122"/>
                <a:cs typeface="Malgun Gothic" pitchFamily="34" charset="-120"/>
              </a:rPr>
              <a:t>포트폴리오: </a:t>
            </a:r>
            <a:r>
              <a:rPr lang="en-US" sz="1300" b="1" dirty="0">
                <a:solidFill>
                  <a:srgbClr val="F6F0E6"/>
                </a:solidFill>
                <a:latin typeface="Malgun Gothic" pitchFamily="34" charset="0"/>
                <a:ea typeface="Malgun Gothic" pitchFamily="34" charset="-122"/>
                <a:cs typeface="Malgun Gothic" pitchFamily="34" charset="-120"/>
              </a:rPr>
              <a:t>무엇을 원했나</a:t>
            </a:r>
            <a:endParaRPr lang="en-US" sz="1300" dirty="0"/>
          </a:p>
        </p:txBody>
      </p:sp>
      <p:sp>
        <p:nvSpPr>
          <p:cNvPr id="40" name="Shape 35"/>
          <p:cNvSpPr/>
          <p:nvPr/>
        </p:nvSpPr>
        <p:spPr>
          <a:xfrm>
            <a:off x="6675120" y="1783080"/>
            <a:ext cx="4910328" cy="3310128"/>
          </a:xfrm>
          <a:prstGeom prst="roundRect">
            <a:avLst>
              <a:gd name="adj" fmla="val 3315"/>
            </a:avLst>
          </a:prstGeom>
          <a:solidFill>
            <a:srgbClr val="FFFFFF"/>
          </a:solidFill>
          <a:ln/>
          <a:effectLst>
            <a:outerShdw blurRad="101600" dist="25400" dir="5400000" algn="bl" rotWithShape="0">
              <a:srgbClr val="123F34">
                <a:alpha val="12000"/>
              </a:srgbClr>
            </a:outerShdw>
          </a:effectLst>
        </p:spPr>
      </p:sp>
      <p:sp>
        <p:nvSpPr>
          <p:cNvPr id="41" name="Text 36"/>
          <p:cNvSpPr txBox="1"/>
          <p:nvPr/>
        </p:nvSpPr>
        <p:spPr>
          <a:xfrm>
            <a:off x="6903720" y="1938528"/>
            <a:ext cx="2743200" cy="320040"/>
          </a:xfrm>
          <a:prstGeom prst="rect">
            <a:avLst/>
          </a:prstGeom>
          <a:noFill/>
          <a:ln/>
        </p:spPr>
        <p:txBody>
          <a:bodyPr wrap="square" lIns="0" tIns="0" rIns="0" bIns="0" rtlCol="0" anchor="t"/>
          <a:lstStyle/>
          <a:p>
            <a:pPr marL="0" indent="0">
              <a:buNone/>
            </a:pPr>
            <a:r>
              <a:rPr lang="en-US" sz="1350" b="1" dirty="0">
                <a:solidFill>
                  <a:srgbClr val="123F34"/>
                </a:solidFill>
                <a:latin typeface="Malgun Gothic" pitchFamily="34" charset="0"/>
                <a:ea typeface="Malgun Gothic" pitchFamily="34" charset="-122"/>
                <a:cs typeface="Malgun Gothic" pitchFamily="34" charset="-120"/>
              </a:rPr>
              <a:t>내 빵 포트폴리오</a:t>
            </a:r>
            <a:endParaRPr lang="en-US" sz="1350" dirty="0"/>
          </a:p>
        </p:txBody>
      </p:sp>
      <p:sp>
        <p:nvSpPr>
          <p:cNvPr id="42" name="Text 37"/>
          <p:cNvSpPr txBox="1"/>
          <p:nvPr/>
        </p:nvSpPr>
        <p:spPr>
          <a:xfrm>
            <a:off x="9326880" y="1938528"/>
            <a:ext cx="2057400" cy="320040"/>
          </a:xfrm>
          <a:prstGeom prst="rect">
            <a:avLst/>
          </a:prstGeom>
          <a:noFill/>
          <a:ln/>
        </p:spPr>
        <p:txBody>
          <a:bodyPr wrap="square" lIns="0" tIns="0" rIns="0" bIns="0" rtlCol="0" anchor="t"/>
          <a:lstStyle/>
          <a:p>
            <a:pPr marL="0" indent="0" algn="r">
              <a:buNone/>
            </a:pPr>
            <a:r>
              <a:rPr lang="en-US" sz="1000" dirty="0">
                <a:solidFill>
                  <a:srgbClr val="7A8F86"/>
                </a:solidFill>
                <a:latin typeface="Malgun Gothic" pitchFamily="34" charset="0"/>
                <a:ea typeface="Malgun Gothic" pitchFamily="34" charset="-122"/>
                <a:cs typeface="Malgun Gothic" pitchFamily="34" charset="-120"/>
              </a:rPr>
              <a:t>관심 비중 · 화면 예시</a:t>
            </a:r>
            <a:endParaRPr lang="en-US" sz="1000" dirty="0"/>
          </a:p>
        </p:txBody>
      </p:sp>
      <p:graphicFrame>
        <p:nvGraphicFramePr>
          <p:cNvPr id="43" name="Chart 0"/>
          <p:cNvGraphicFramePr/>
          <p:nvPr/>
        </p:nvGraphicFramePr>
        <p:xfrm>
          <a:off x="6812280" y="2286000"/>
          <a:ext cx="2468880" cy="2651760"/>
        </p:xfrm>
        <a:graphic>
          <a:graphicData uri="http://schemas.openxmlformats.org/drawingml/2006/chart">
            <c:chart xmlns:c="http://schemas.openxmlformats.org/drawingml/2006/chart" xmlns:r="http://schemas.openxmlformats.org/officeDocument/2006/relationships" r:id="rId6"/>
          </a:graphicData>
        </a:graphic>
      </p:graphicFrame>
      <p:sp>
        <p:nvSpPr>
          <p:cNvPr id="44" name="Text 38"/>
          <p:cNvSpPr txBox="1"/>
          <p:nvPr/>
        </p:nvSpPr>
        <p:spPr>
          <a:xfrm>
            <a:off x="7498080" y="3291840"/>
            <a:ext cx="1097280" cy="365760"/>
          </a:xfrm>
          <a:prstGeom prst="rect">
            <a:avLst/>
          </a:prstGeom>
          <a:noFill/>
          <a:ln/>
        </p:spPr>
        <p:txBody>
          <a:bodyPr wrap="square" lIns="0" tIns="0" rIns="0" bIns="0" rtlCol="0" anchor="ctr"/>
          <a:lstStyle/>
          <a:p>
            <a:pPr marL="0" indent="0" algn="ctr">
              <a:buNone/>
            </a:pPr>
            <a:r>
              <a:rPr lang="en-US" sz="1800" b="1" dirty="0">
                <a:solidFill>
                  <a:srgbClr val="123F34"/>
                </a:solidFill>
                <a:latin typeface="Malgun Gothic" pitchFamily="34" charset="0"/>
                <a:ea typeface="Malgun Gothic" pitchFamily="34" charset="-122"/>
                <a:cs typeface="Malgun Gothic" pitchFamily="34" charset="-120"/>
              </a:rPr>
              <a:t>36%</a:t>
            </a:r>
            <a:endParaRPr lang="en-US" sz="1800" dirty="0"/>
          </a:p>
        </p:txBody>
      </p:sp>
      <p:sp>
        <p:nvSpPr>
          <p:cNvPr id="45" name="Text 39"/>
          <p:cNvSpPr txBox="1"/>
          <p:nvPr/>
        </p:nvSpPr>
        <p:spPr>
          <a:xfrm>
            <a:off x="7498080" y="3611880"/>
            <a:ext cx="1097280" cy="228600"/>
          </a:xfrm>
          <a:prstGeom prst="rect">
            <a:avLst/>
          </a:prstGeom>
          <a:noFill/>
          <a:ln/>
        </p:spPr>
        <p:txBody>
          <a:bodyPr wrap="square" lIns="0" tIns="0" rIns="0" bIns="0" rtlCol="0" anchor="t"/>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비중 1위</a:t>
            </a:r>
            <a:endParaRPr lang="en-US" sz="900" dirty="0"/>
          </a:p>
        </p:txBody>
      </p:sp>
      <p:sp>
        <p:nvSpPr>
          <p:cNvPr id="46" name="Shape 40"/>
          <p:cNvSpPr/>
          <p:nvPr/>
        </p:nvSpPr>
        <p:spPr>
          <a:xfrm>
            <a:off x="9464040" y="2697480"/>
            <a:ext cx="164592" cy="164592"/>
          </a:xfrm>
          <a:prstGeom prst="ellipse">
            <a:avLst/>
          </a:prstGeom>
          <a:solidFill>
            <a:srgbClr val="123F34"/>
          </a:solidFill>
          <a:ln/>
        </p:spPr>
      </p:sp>
      <p:sp>
        <p:nvSpPr>
          <p:cNvPr id="47" name="Text 41"/>
          <p:cNvSpPr txBox="1"/>
          <p:nvPr/>
        </p:nvSpPr>
        <p:spPr>
          <a:xfrm>
            <a:off x="9738360" y="2606040"/>
            <a:ext cx="1097280" cy="347472"/>
          </a:xfrm>
          <a:prstGeom prst="rect">
            <a:avLst/>
          </a:prstGeom>
          <a:noFill/>
          <a:ln/>
        </p:spPr>
        <p:txBody>
          <a:bodyPr wrap="square" lIns="0" tIns="0" rIns="0" bIns="0" rtlCol="0" anchor="ctr"/>
          <a:lstStyle/>
          <a:p>
            <a:pPr marL="0" indent="0">
              <a:buNone/>
            </a:pPr>
            <a:r>
              <a:rPr lang="ko-KR" altLang="en-US" sz="1200" dirty="0" err="1">
                <a:solidFill>
                  <a:srgbClr val="123F34"/>
                </a:solidFill>
                <a:latin typeface="Malgun Gothic" pitchFamily="34" charset="0"/>
                <a:ea typeface="Malgun Gothic" pitchFamily="34" charset="-122"/>
              </a:rPr>
              <a:t>카스테라</a:t>
            </a:r>
            <a:endParaRPr lang="en-US" sz="1200" dirty="0"/>
          </a:p>
        </p:txBody>
      </p:sp>
      <p:sp>
        <p:nvSpPr>
          <p:cNvPr id="48" name="Text 42"/>
          <p:cNvSpPr txBox="1"/>
          <p:nvPr/>
        </p:nvSpPr>
        <p:spPr>
          <a:xfrm>
            <a:off x="10698480" y="2606040"/>
            <a:ext cx="685800" cy="347472"/>
          </a:xfrm>
          <a:prstGeom prst="rect">
            <a:avLst/>
          </a:prstGeom>
          <a:noFill/>
          <a:ln/>
        </p:spPr>
        <p:txBody>
          <a:bodyPr wrap="square" lIns="0" tIns="0" rIns="0" bIns="0" rtlCol="0" anchor="ctr"/>
          <a:lstStyle/>
          <a:p>
            <a:pPr marL="0" indent="0" algn="r">
              <a:buNone/>
            </a:pPr>
            <a:r>
              <a:rPr lang="en-US" sz="1200" b="1" dirty="0">
                <a:solidFill>
                  <a:srgbClr val="123F34"/>
                </a:solidFill>
                <a:latin typeface="Malgun Gothic" pitchFamily="34" charset="0"/>
                <a:ea typeface="Malgun Gothic" pitchFamily="34" charset="-122"/>
                <a:cs typeface="Malgun Gothic" pitchFamily="34" charset="-120"/>
              </a:rPr>
              <a:t>36%</a:t>
            </a:r>
            <a:endParaRPr lang="en-US" sz="1200" dirty="0"/>
          </a:p>
        </p:txBody>
      </p:sp>
      <p:sp>
        <p:nvSpPr>
          <p:cNvPr id="49" name="Shape 43"/>
          <p:cNvSpPr/>
          <p:nvPr/>
        </p:nvSpPr>
        <p:spPr>
          <a:xfrm>
            <a:off x="9464040" y="3172968"/>
            <a:ext cx="164592" cy="164592"/>
          </a:xfrm>
          <a:prstGeom prst="ellipse">
            <a:avLst/>
          </a:prstGeom>
          <a:solidFill>
            <a:srgbClr val="C85B35"/>
          </a:solidFill>
          <a:ln/>
        </p:spPr>
      </p:sp>
      <p:sp>
        <p:nvSpPr>
          <p:cNvPr id="50" name="Text 44"/>
          <p:cNvSpPr txBox="1"/>
          <p:nvPr/>
        </p:nvSpPr>
        <p:spPr>
          <a:xfrm>
            <a:off x="9738360" y="3081528"/>
            <a:ext cx="1097280" cy="347472"/>
          </a:xfrm>
          <a:prstGeom prst="rect">
            <a:avLst/>
          </a:prstGeom>
          <a:noFill/>
          <a:ln/>
        </p:spPr>
        <p:txBody>
          <a:bodyPr wrap="square" lIns="0" tIns="0" rIns="0" bIns="0" rtlCol="0" anchor="ctr"/>
          <a:lstStyle/>
          <a:p>
            <a:pPr marL="0" indent="0">
              <a:buNone/>
            </a:pPr>
            <a:r>
              <a:rPr lang="en-US" sz="1200" dirty="0">
                <a:solidFill>
                  <a:srgbClr val="123F34"/>
                </a:solidFill>
                <a:latin typeface="Malgun Gothic" pitchFamily="34" charset="0"/>
                <a:ea typeface="Malgun Gothic" pitchFamily="34" charset="-122"/>
                <a:cs typeface="Malgun Gothic" pitchFamily="34" charset="-120"/>
              </a:rPr>
              <a:t>쌀 식빵</a:t>
            </a:r>
            <a:endParaRPr lang="en-US" sz="1200" dirty="0"/>
          </a:p>
        </p:txBody>
      </p:sp>
      <p:sp>
        <p:nvSpPr>
          <p:cNvPr id="51" name="Text 45"/>
          <p:cNvSpPr txBox="1"/>
          <p:nvPr/>
        </p:nvSpPr>
        <p:spPr>
          <a:xfrm>
            <a:off x="10698480" y="3081528"/>
            <a:ext cx="685800" cy="347472"/>
          </a:xfrm>
          <a:prstGeom prst="rect">
            <a:avLst/>
          </a:prstGeom>
          <a:noFill/>
          <a:ln/>
        </p:spPr>
        <p:txBody>
          <a:bodyPr wrap="square" lIns="0" tIns="0" rIns="0" bIns="0" rtlCol="0" anchor="ctr"/>
          <a:lstStyle/>
          <a:p>
            <a:pPr marL="0" indent="0" algn="r">
              <a:buNone/>
            </a:pPr>
            <a:r>
              <a:rPr lang="en-US" sz="1200" b="1" dirty="0">
                <a:solidFill>
                  <a:srgbClr val="123F34"/>
                </a:solidFill>
                <a:latin typeface="Malgun Gothic" pitchFamily="34" charset="0"/>
                <a:ea typeface="Malgun Gothic" pitchFamily="34" charset="-122"/>
                <a:cs typeface="Malgun Gothic" pitchFamily="34" charset="-120"/>
              </a:rPr>
              <a:t>28%</a:t>
            </a:r>
            <a:endParaRPr lang="en-US" sz="1200" dirty="0"/>
          </a:p>
        </p:txBody>
      </p:sp>
      <p:sp>
        <p:nvSpPr>
          <p:cNvPr id="52" name="Shape 46"/>
          <p:cNvSpPr/>
          <p:nvPr/>
        </p:nvSpPr>
        <p:spPr>
          <a:xfrm>
            <a:off x="9464040" y="3648456"/>
            <a:ext cx="164592" cy="164592"/>
          </a:xfrm>
          <a:prstGeom prst="ellipse">
            <a:avLst/>
          </a:prstGeom>
          <a:solidFill>
            <a:srgbClr val="69A297"/>
          </a:solidFill>
          <a:ln/>
        </p:spPr>
      </p:sp>
      <p:sp>
        <p:nvSpPr>
          <p:cNvPr id="53" name="Text 47"/>
          <p:cNvSpPr txBox="1"/>
          <p:nvPr/>
        </p:nvSpPr>
        <p:spPr>
          <a:xfrm>
            <a:off x="9738360" y="3557016"/>
            <a:ext cx="1097280" cy="347472"/>
          </a:xfrm>
          <a:prstGeom prst="rect">
            <a:avLst/>
          </a:prstGeom>
          <a:noFill/>
          <a:ln/>
        </p:spPr>
        <p:txBody>
          <a:bodyPr wrap="square" lIns="0" tIns="0" rIns="0" bIns="0" rtlCol="0" anchor="ctr"/>
          <a:lstStyle/>
          <a:p>
            <a:pPr marL="0" indent="0">
              <a:buNone/>
            </a:pPr>
            <a:r>
              <a:rPr lang="en-US" sz="1200" dirty="0">
                <a:solidFill>
                  <a:srgbClr val="123F34"/>
                </a:solidFill>
                <a:latin typeface="Malgun Gothic" pitchFamily="34" charset="0"/>
                <a:ea typeface="Malgun Gothic" pitchFamily="34" charset="-122"/>
                <a:cs typeface="Malgun Gothic" pitchFamily="34" charset="-120"/>
              </a:rPr>
              <a:t>GF 스콘</a:t>
            </a:r>
            <a:endParaRPr lang="en-US" sz="1200" dirty="0"/>
          </a:p>
        </p:txBody>
      </p:sp>
      <p:sp>
        <p:nvSpPr>
          <p:cNvPr id="54" name="Text 48"/>
          <p:cNvSpPr txBox="1"/>
          <p:nvPr/>
        </p:nvSpPr>
        <p:spPr>
          <a:xfrm>
            <a:off x="10698480" y="3557016"/>
            <a:ext cx="685800" cy="347472"/>
          </a:xfrm>
          <a:prstGeom prst="rect">
            <a:avLst/>
          </a:prstGeom>
          <a:noFill/>
          <a:ln/>
        </p:spPr>
        <p:txBody>
          <a:bodyPr wrap="square" lIns="0" tIns="0" rIns="0" bIns="0" rtlCol="0" anchor="ctr"/>
          <a:lstStyle/>
          <a:p>
            <a:pPr marL="0" indent="0" algn="r">
              <a:buNone/>
            </a:pPr>
            <a:r>
              <a:rPr lang="en-US" sz="1200" b="1" dirty="0">
                <a:solidFill>
                  <a:srgbClr val="123F34"/>
                </a:solidFill>
                <a:latin typeface="Malgun Gothic" pitchFamily="34" charset="0"/>
                <a:ea typeface="Malgun Gothic" pitchFamily="34" charset="-122"/>
                <a:cs typeface="Malgun Gothic" pitchFamily="34" charset="-120"/>
              </a:rPr>
              <a:t>22%</a:t>
            </a:r>
            <a:endParaRPr lang="en-US" sz="1200" dirty="0"/>
          </a:p>
        </p:txBody>
      </p:sp>
      <p:sp>
        <p:nvSpPr>
          <p:cNvPr id="55" name="Shape 49"/>
          <p:cNvSpPr/>
          <p:nvPr/>
        </p:nvSpPr>
        <p:spPr>
          <a:xfrm>
            <a:off x="9464040" y="4123944"/>
            <a:ext cx="164592" cy="164592"/>
          </a:xfrm>
          <a:prstGeom prst="ellipse">
            <a:avLst/>
          </a:prstGeom>
          <a:solidFill>
            <a:srgbClr val="E8B79E"/>
          </a:solidFill>
          <a:ln/>
        </p:spPr>
      </p:sp>
      <p:sp>
        <p:nvSpPr>
          <p:cNvPr id="56" name="Text 50"/>
          <p:cNvSpPr txBox="1"/>
          <p:nvPr/>
        </p:nvSpPr>
        <p:spPr>
          <a:xfrm>
            <a:off x="9738360" y="4032504"/>
            <a:ext cx="1097280" cy="347472"/>
          </a:xfrm>
          <a:prstGeom prst="rect">
            <a:avLst/>
          </a:prstGeom>
          <a:noFill/>
          <a:ln/>
        </p:spPr>
        <p:txBody>
          <a:bodyPr wrap="square" lIns="0" tIns="0" rIns="0" bIns="0" rtlCol="0" anchor="ctr"/>
          <a:lstStyle/>
          <a:p>
            <a:pPr marL="0" indent="0">
              <a:buNone/>
            </a:pPr>
            <a:r>
              <a:rPr lang="en-US" sz="1200" dirty="0">
                <a:solidFill>
                  <a:srgbClr val="123F34"/>
                </a:solidFill>
                <a:latin typeface="Malgun Gothic" pitchFamily="34" charset="0"/>
                <a:ea typeface="Malgun Gothic" pitchFamily="34" charset="-122"/>
                <a:cs typeface="Malgun Gothic" pitchFamily="34" charset="-120"/>
              </a:rPr>
              <a:t>휘낭시에</a:t>
            </a:r>
            <a:endParaRPr lang="en-US" sz="1200" dirty="0"/>
          </a:p>
        </p:txBody>
      </p:sp>
      <p:sp>
        <p:nvSpPr>
          <p:cNvPr id="57" name="Text 51"/>
          <p:cNvSpPr txBox="1"/>
          <p:nvPr/>
        </p:nvSpPr>
        <p:spPr>
          <a:xfrm>
            <a:off x="10698480" y="4032504"/>
            <a:ext cx="685800" cy="347472"/>
          </a:xfrm>
          <a:prstGeom prst="rect">
            <a:avLst/>
          </a:prstGeom>
          <a:noFill/>
          <a:ln/>
        </p:spPr>
        <p:txBody>
          <a:bodyPr wrap="square" lIns="0" tIns="0" rIns="0" bIns="0" rtlCol="0" anchor="ctr"/>
          <a:lstStyle/>
          <a:p>
            <a:pPr marL="0" indent="0" algn="r">
              <a:buNone/>
            </a:pPr>
            <a:r>
              <a:rPr lang="en-US" sz="1200" b="1" dirty="0">
                <a:solidFill>
                  <a:srgbClr val="123F34"/>
                </a:solidFill>
                <a:latin typeface="Malgun Gothic" pitchFamily="34" charset="0"/>
                <a:ea typeface="Malgun Gothic" pitchFamily="34" charset="-122"/>
                <a:cs typeface="Malgun Gothic" pitchFamily="34" charset="-120"/>
              </a:rPr>
              <a:t>14%</a:t>
            </a:r>
            <a:endParaRPr lang="en-US" sz="1200" dirty="0"/>
          </a:p>
        </p:txBody>
      </p:sp>
      <p:sp>
        <p:nvSpPr>
          <p:cNvPr id="58" name="Shape 52"/>
          <p:cNvSpPr/>
          <p:nvPr/>
        </p:nvSpPr>
        <p:spPr>
          <a:xfrm>
            <a:off x="6675120" y="5257800"/>
            <a:ext cx="4910328" cy="685800"/>
          </a:xfrm>
          <a:prstGeom prst="roundRect">
            <a:avLst>
              <a:gd name="adj" fmla="val 16000"/>
            </a:avLst>
          </a:prstGeom>
          <a:solidFill>
            <a:srgbClr val="EFE6D6"/>
          </a:solidFill>
          <a:ln/>
        </p:spPr>
      </p:sp>
      <p:pic>
        <p:nvPicPr>
          <p:cNvPr id="59" name="Image 3" descr="preencoded.png"/>
          <p:cNvPicPr>
            <a:picLocks noChangeAspect="1"/>
          </p:cNvPicPr>
          <p:nvPr/>
        </p:nvPicPr>
        <p:blipFill>
          <a:blip r:embed="rId7"/>
          <a:stretch>
            <a:fillRect/>
          </a:stretch>
        </p:blipFill>
        <p:spPr>
          <a:xfrm>
            <a:off x="6876288" y="5458968"/>
            <a:ext cx="274320" cy="274320"/>
          </a:xfrm>
          <a:prstGeom prst="rect">
            <a:avLst/>
          </a:prstGeom>
        </p:spPr>
      </p:pic>
      <p:sp>
        <p:nvSpPr>
          <p:cNvPr id="60" name="Text 53"/>
          <p:cNvSpPr txBox="1"/>
          <p:nvPr/>
        </p:nvSpPr>
        <p:spPr>
          <a:xfrm>
            <a:off x="7315200" y="5257800"/>
            <a:ext cx="4114800" cy="685800"/>
          </a:xfrm>
          <a:prstGeom prst="rect">
            <a:avLst/>
          </a:prstGeom>
          <a:noFill/>
          <a:ln/>
        </p:spPr>
        <p:txBody>
          <a:bodyPr wrap="square" lIns="0" tIns="0" rIns="0" bIns="0" rtlCol="0" anchor="ctr"/>
          <a:lstStyle/>
          <a:p>
            <a:pPr marL="0" indent="0">
              <a:buNone/>
            </a:pPr>
            <a:r>
              <a:rPr lang="en-US" sz="1250" b="1" dirty="0">
                <a:solidFill>
                  <a:srgbClr val="123F34"/>
                </a:solidFill>
                <a:latin typeface="Malgun Gothic" pitchFamily="34" charset="0"/>
                <a:ea typeface="Malgun Gothic" pitchFamily="34" charset="-122"/>
                <a:cs typeface="Malgun Gothic" pitchFamily="34" charset="-120"/>
              </a:rPr>
              <a:t>내 관심빵 GF 스콘, 오늘 할인!</a:t>
            </a:r>
            <a:endParaRPr lang="en-US" sz="1250" dirty="0"/>
          </a:p>
          <a:p>
            <a:pPr marL="0" indent="0">
              <a:buNone/>
            </a:pPr>
            <a:r>
              <a:rPr lang="en-US" sz="1050" dirty="0">
                <a:solidFill>
                  <a:srgbClr val="3D5A50"/>
                </a:solidFill>
                <a:latin typeface="Malgun Gothic" pitchFamily="34" charset="0"/>
                <a:ea typeface="Malgun Gothic" pitchFamily="34" charset="-122"/>
                <a:cs typeface="Malgun Gothic" pitchFamily="34" charset="-120"/>
              </a:rPr>
              <a:t>“오늘 빵장에서 만나요” 알림으로 재방문 연결</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주말 배당 ①</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03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F6F0E6"/>
          </a:solidFill>
          <a:ln w="12700">
            <a:solidFill>
              <a:srgbClr val="C9D8CF"/>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F6F0E6"/>
          </a:solidFill>
          <a:ln w="12700">
            <a:solidFill>
              <a:srgbClr val="C9D8CF"/>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123F34"/>
          </a:solidFill>
          <a:ln w="12700">
            <a:solidFill>
              <a:srgbClr val="123F34"/>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09</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주말에 아무 일도 없으면, 평일에 만든 루프가 끊깁니다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휴장일에는 상품 가격을 유지하고, 평일 활동의 결산과 배당을 방문 이유로 만듭니다.</a:t>
            </a:r>
            <a:endParaRPr lang="en-US" sz="1350" dirty="0"/>
          </a:p>
        </p:txBody>
      </p:sp>
      <p:sp>
        <p:nvSpPr>
          <p:cNvPr id="17" name="Shape 15"/>
          <p:cNvSpPr/>
          <p:nvPr/>
        </p:nvSpPr>
        <p:spPr>
          <a:xfrm>
            <a:off x="612648" y="1783080"/>
            <a:ext cx="5120640" cy="2331720"/>
          </a:xfrm>
          <a:prstGeom prst="roundRect">
            <a:avLst>
              <a:gd name="adj" fmla="val 4706"/>
            </a:avLst>
          </a:prstGeom>
          <a:solidFill>
            <a:srgbClr val="F6F0E6"/>
          </a:solidFill>
          <a:ln w="19050">
            <a:solidFill>
              <a:srgbClr val="C9D8CF"/>
            </a:solidFill>
            <a:prstDash val="solid"/>
          </a:ln>
        </p:spPr>
      </p:sp>
      <p:sp>
        <p:nvSpPr>
          <p:cNvPr id="18" name="Text 16"/>
          <p:cNvSpPr txBox="1"/>
          <p:nvPr/>
        </p:nvSpPr>
        <p:spPr>
          <a:xfrm>
            <a:off x="886968" y="1965960"/>
            <a:ext cx="4572000" cy="320040"/>
          </a:xfrm>
          <a:prstGeom prst="rect">
            <a:avLst/>
          </a:prstGeom>
          <a:noFill/>
          <a:ln/>
        </p:spPr>
        <p:txBody>
          <a:bodyPr wrap="square" lIns="0" tIns="0" rIns="0" bIns="0" rtlCol="0" anchor="t"/>
          <a:lstStyle/>
          <a:p>
            <a:pPr marL="0" indent="0">
              <a:buNone/>
            </a:pPr>
            <a:r>
              <a:rPr lang="en-US" sz="1450" b="1" dirty="0">
                <a:solidFill>
                  <a:srgbClr val="7A8F86"/>
                </a:solidFill>
                <a:latin typeface="Malgun Gothic" pitchFamily="34" charset="0"/>
                <a:ea typeface="Malgun Gothic" pitchFamily="34" charset="-122"/>
                <a:cs typeface="Malgun Gothic" pitchFamily="34" charset="-120"/>
              </a:rPr>
              <a:t>주말을 그냥 정가 판매로 두면</a:t>
            </a:r>
            <a:endParaRPr lang="en-US" sz="1450" dirty="0"/>
          </a:p>
        </p:txBody>
      </p:sp>
      <p:sp>
        <p:nvSpPr>
          <p:cNvPr id="19" name="Text 17"/>
          <p:cNvSpPr txBox="1"/>
          <p:nvPr/>
        </p:nvSpPr>
        <p:spPr>
          <a:xfrm>
            <a:off x="886968" y="2468880"/>
            <a:ext cx="4663440" cy="365760"/>
          </a:xfrm>
          <a:prstGeom prst="rect">
            <a:avLst/>
          </a:prstGeom>
          <a:noFill/>
          <a:ln/>
        </p:spPr>
        <p:txBody>
          <a:bodyPr wrap="square" lIns="0" tIns="0" rIns="0" bIns="0" rtlCol="0" anchor="ctr"/>
          <a:lstStyle/>
          <a:p>
            <a:pPr marL="0" indent="0">
              <a:buNone/>
            </a:pPr>
            <a:r>
              <a:rPr lang="en-US" sz="1250" b="1" dirty="0">
                <a:solidFill>
                  <a:srgbClr val="7A8F86"/>
                </a:solidFill>
                <a:latin typeface="Malgun Gothic" pitchFamily="34" charset="0"/>
                <a:ea typeface="Malgun Gothic" pitchFamily="34" charset="-122"/>
                <a:cs typeface="Malgun Gothic" pitchFamily="34" charset="-120"/>
              </a:rPr>
              <a:t>✕   </a:t>
            </a:r>
            <a:r>
              <a:rPr lang="en-US" sz="1250" dirty="0">
                <a:solidFill>
                  <a:srgbClr val="3D5A50"/>
                </a:solidFill>
                <a:latin typeface="Malgun Gothic" pitchFamily="34" charset="0"/>
                <a:ea typeface="Malgun Gothic" pitchFamily="34" charset="-122"/>
                <a:cs typeface="Malgun Gothic" pitchFamily="34" charset="-120"/>
              </a:rPr>
              <a:t>평일에만 이벤트가 있어 주말 재방문 동기가 약함</a:t>
            </a:r>
            <a:endParaRPr lang="en-US" sz="1250" dirty="0"/>
          </a:p>
        </p:txBody>
      </p:sp>
      <p:sp>
        <p:nvSpPr>
          <p:cNvPr id="20" name="Text 18"/>
          <p:cNvSpPr txBox="1"/>
          <p:nvPr/>
        </p:nvSpPr>
        <p:spPr>
          <a:xfrm>
            <a:off x="886968" y="2944368"/>
            <a:ext cx="4663440" cy="365760"/>
          </a:xfrm>
          <a:prstGeom prst="rect">
            <a:avLst/>
          </a:prstGeom>
          <a:noFill/>
          <a:ln/>
        </p:spPr>
        <p:txBody>
          <a:bodyPr wrap="square" lIns="0" tIns="0" rIns="0" bIns="0" rtlCol="0" anchor="ctr"/>
          <a:lstStyle/>
          <a:p>
            <a:pPr marL="0" indent="0">
              <a:buNone/>
            </a:pPr>
            <a:r>
              <a:rPr lang="en-US" sz="1250" b="1" dirty="0">
                <a:solidFill>
                  <a:srgbClr val="7A8F86"/>
                </a:solidFill>
                <a:latin typeface="Malgun Gothic" pitchFamily="34" charset="0"/>
                <a:ea typeface="Malgun Gothic" pitchFamily="34" charset="-122"/>
                <a:cs typeface="Malgun Gothic" pitchFamily="34" charset="-120"/>
              </a:rPr>
              <a:t>✕   </a:t>
            </a:r>
            <a:r>
              <a:rPr lang="en-US" sz="1250" dirty="0">
                <a:solidFill>
                  <a:srgbClr val="3D5A50"/>
                </a:solidFill>
                <a:latin typeface="Malgun Gothic" pitchFamily="34" charset="0"/>
                <a:ea typeface="Malgun Gothic" pitchFamily="34" charset="-122"/>
                <a:cs typeface="Malgun Gothic" pitchFamily="34" charset="-120"/>
              </a:rPr>
              <a:t>Bread Market 루프가 금요일 이후 끊김</a:t>
            </a:r>
            <a:endParaRPr lang="en-US" sz="1250" dirty="0"/>
          </a:p>
        </p:txBody>
      </p:sp>
      <p:sp>
        <p:nvSpPr>
          <p:cNvPr id="21" name="Text 19"/>
          <p:cNvSpPr txBox="1"/>
          <p:nvPr/>
        </p:nvSpPr>
        <p:spPr>
          <a:xfrm>
            <a:off x="886968" y="3419856"/>
            <a:ext cx="4663440" cy="365760"/>
          </a:xfrm>
          <a:prstGeom prst="rect">
            <a:avLst/>
          </a:prstGeom>
          <a:noFill/>
          <a:ln/>
        </p:spPr>
        <p:txBody>
          <a:bodyPr wrap="square" lIns="0" tIns="0" rIns="0" bIns="0" rtlCol="0" anchor="ctr"/>
          <a:lstStyle/>
          <a:p>
            <a:pPr marL="0" indent="0">
              <a:buNone/>
            </a:pPr>
            <a:r>
              <a:rPr lang="en-US" sz="1250" b="1" dirty="0">
                <a:solidFill>
                  <a:srgbClr val="7A8F86"/>
                </a:solidFill>
                <a:latin typeface="Malgun Gothic" pitchFamily="34" charset="0"/>
                <a:ea typeface="Malgun Gothic" pitchFamily="34" charset="-122"/>
                <a:cs typeface="Malgun Gothic" pitchFamily="34" charset="-120"/>
              </a:rPr>
              <a:t>✕   </a:t>
            </a:r>
            <a:r>
              <a:rPr lang="en-US" sz="1250" dirty="0">
                <a:solidFill>
                  <a:srgbClr val="3D5A50"/>
                </a:solidFill>
                <a:latin typeface="Malgun Gothic" pitchFamily="34" charset="0"/>
                <a:ea typeface="Malgun Gothic" pitchFamily="34" charset="-122"/>
                <a:cs typeface="Malgun Gothic" pitchFamily="34" charset="-120"/>
              </a:rPr>
              <a:t>주말 쇼핑 여유 시간대를 활용하지 못함</a:t>
            </a:r>
            <a:endParaRPr lang="en-US" sz="1250" dirty="0"/>
          </a:p>
        </p:txBody>
      </p:sp>
      <p:sp>
        <p:nvSpPr>
          <p:cNvPr id="22" name="Text 20"/>
          <p:cNvSpPr txBox="1"/>
          <p:nvPr/>
        </p:nvSpPr>
        <p:spPr>
          <a:xfrm>
            <a:off x="5733288" y="1783080"/>
            <a:ext cx="731520" cy="2331720"/>
          </a:xfrm>
          <a:prstGeom prst="rect">
            <a:avLst/>
          </a:prstGeom>
          <a:noFill/>
          <a:ln/>
        </p:spPr>
        <p:txBody>
          <a:bodyPr wrap="square" lIns="0" tIns="0" rIns="0" bIns="0" rtlCol="0" anchor="ctr"/>
          <a:lstStyle/>
          <a:p>
            <a:pPr marL="0" indent="0" algn="ctr">
              <a:buNone/>
            </a:pPr>
            <a:r>
              <a:rPr lang="en-US" sz="2600" b="1" dirty="0">
                <a:solidFill>
                  <a:srgbClr val="C85B35"/>
                </a:solidFill>
                <a:latin typeface="Malgun Gothic" pitchFamily="34" charset="0"/>
                <a:ea typeface="Malgun Gothic" pitchFamily="34" charset="-122"/>
                <a:cs typeface="Malgun Gothic" pitchFamily="34" charset="-120"/>
              </a:rPr>
              <a:t>→</a:t>
            </a:r>
            <a:endParaRPr lang="en-US" sz="2600" dirty="0"/>
          </a:p>
        </p:txBody>
      </p:sp>
      <p:sp>
        <p:nvSpPr>
          <p:cNvPr id="23" name="Shape 21"/>
          <p:cNvSpPr/>
          <p:nvPr/>
        </p:nvSpPr>
        <p:spPr>
          <a:xfrm>
            <a:off x="6464808" y="1783080"/>
            <a:ext cx="5120640" cy="2331720"/>
          </a:xfrm>
          <a:prstGeom prst="roundRect">
            <a:avLst>
              <a:gd name="adj" fmla="val 4706"/>
            </a:avLst>
          </a:prstGeom>
          <a:solidFill>
            <a:srgbClr val="123F34"/>
          </a:solidFill>
          <a:ln/>
        </p:spPr>
      </p:sp>
      <p:sp>
        <p:nvSpPr>
          <p:cNvPr id="24" name="Text 22"/>
          <p:cNvSpPr txBox="1"/>
          <p:nvPr/>
        </p:nvSpPr>
        <p:spPr>
          <a:xfrm>
            <a:off x="6739128" y="1965960"/>
            <a:ext cx="4572000" cy="320040"/>
          </a:xfrm>
          <a:prstGeom prst="rect">
            <a:avLst/>
          </a:prstGeom>
          <a:noFill/>
          <a:ln/>
        </p:spPr>
        <p:txBody>
          <a:bodyPr wrap="square" lIns="0" tIns="0" rIns="0" bIns="0" rtlCol="0" anchor="t"/>
          <a:lstStyle/>
          <a:p>
            <a:pPr marL="0" indent="0">
              <a:buNone/>
            </a:pPr>
            <a:r>
              <a:rPr lang="en-US" sz="1450" b="1" dirty="0">
                <a:solidFill>
                  <a:srgbClr val="F6F0E6"/>
                </a:solidFill>
                <a:latin typeface="Malgun Gothic" pitchFamily="34" charset="0"/>
                <a:ea typeface="Malgun Gothic" pitchFamily="34" charset="-122"/>
                <a:cs typeface="Malgun Gothic" pitchFamily="34" charset="-120"/>
              </a:rPr>
              <a:t>주말 배당으로 바꾸면</a:t>
            </a:r>
            <a:endParaRPr lang="en-US" sz="1450" dirty="0"/>
          </a:p>
        </p:txBody>
      </p:sp>
      <p:sp>
        <p:nvSpPr>
          <p:cNvPr id="25" name="Text 23"/>
          <p:cNvSpPr txBox="1"/>
          <p:nvPr/>
        </p:nvSpPr>
        <p:spPr>
          <a:xfrm>
            <a:off x="6739128" y="2468880"/>
            <a:ext cx="4663440" cy="365760"/>
          </a:xfrm>
          <a:prstGeom prst="rect">
            <a:avLst/>
          </a:prstGeom>
          <a:noFill/>
          <a:ln/>
        </p:spPr>
        <p:txBody>
          <a:bodyPr wrap="square" lIns="0" tIns="0" rIns="0" bIns="0" rtlCol="0" anchor="ctr"/>
          <a:lstStyle/>
          <a:p>
            <a:pPr marL="0" indent="0">
              <a:buNone/>
            </a:pPr>
            <a:r>
              <a:rPr lang="en-US" sz="1250" b="1" dirty="0">
                <a:solidFill>
                  <a:srgbClr val="F0A583"/>
                </a:solidFill>
                <a:latin typeface="Malgun Gothic" pitchFamily="34" charset="0"/>
                <a:ea typeface="Malgun Gothic" pitchFamily="34" charset="-122"/>
                <a:cs typeface="Malgun Gothic" pitchFamily="34" charset="-120"/>
              </a:rPr>
              <a:t>✓   </a:t>
            </a:r>
            <a:r>
              <a:rPr lang="en-US" sz="1250" dirty="0">
                <a:solidFill>
                  <a:srgbClr val="D5E2DC"/>
                </a:solidFill>
                <a:latin typeface="Malgun Gothic" pitchFamily="34" charset="0"/>
                <a:ea typeface="Malgun Gothic" pitchFamily="34" charset="-122"/>
                <a:cs typeface="Malgun Gothic" pitchFamily="34" charset="-120"/>
              </a:rPr>
              <a:t>평일 활동을 주말 보상으로 전환</a:t>
            </a:r>
            <a:endParaRPr lang="en-US" sz="1250" dirty="0"/>
          </a:p>
        </p:txBody>
      </p:sp>
      <p:sp>
        <p:nvSpPr>
          <p:cNvPr id="26" name="Text 24"/>
          <p:cNvSpPr txBox="1"/>
          <p:nvPr/>
        </p:nvSpPr>
        <p:spPr>
          <a:xfrm>
            <a:off x="6739128" y="2944368"/>
            <a:ext cx="4663440" cy="365760"/>
          </a:xfrm>
          <a:prstGeom prst="rect">
            <a:avLst/>
          </a:prstGeom>
          <a:noFill/>
          <a:ln/>
        </p:spPr>
        <p:txBody>
          <a:bodyPr wrap="square" lIns="0" tIns="0" rIns="0" bIns="0" rtlCol="0" anchor="ctr"/>
          <a:lstStyle/>
          <a:p>
            <a:pPr marL="0" indent="0">
              <a:buNone/>
            </a:pPr>
            <a:r>
              <a:rPr lang="en-US" sz="1250" b="1" dirty="0">
                <a:solidFill>
                  <a:srgbClr val="F0A583"/>
                </a:solidFill>
                <a:latin typeface="Malgun Gothic" pitchFamily="34" charset="0"/>
                <a:ea typeface="Malgun Gothic" pitchFamily="34" charset="-122"/>
                <a:cs typeface="Malgun Gothic" pitchFamily="34" charset="-120"/>
              </a:rPr>
              <a:t>✓   </a:t>
            </a:r>
            <a:r>
              <a:rPr lang="en-US" sz="1250" dirty="0">
                <a:solidFill>
                  <a:srgbClr val="D5E2DC"/>
                </a:solidFill>
                <a:latin typeface="Malgun Gothic" pitchFamily="34" charset="0"/>
                <a:ea typeface="Malgun Gothic" pitchFamily="34" charset="-122"/>
                <a:cs typeface="Malgun Gothic" pitchFamily="34" charset="-120"/>
              </a:rPr>
              <a:t>상품 정가는 유지해 상시 할인화를 방지</a:t>
            </a:r>
            <a:endParaRPr lang="en-US" sz="1250" dirty="0"/>
          </a:p>
        </p:txBody>
      </p:sp>
      <p:sp>
        <p:nvSpPr>
          <p:cNvPr id="27" name="Text 25"/>
          <p:cNvSpPr txBox="1"/>
          <p:nvPr/>
        </p:nvSpPr>
        <p:spPr>
          <a:xfrm>
            <a:off x="6739128" y="3419856"/>
            <a:ext cx="4663440" cy="365760"/>
          </a:xfrm>
          <a:prstGeom prst="rect">
            <a:avLst/>
          </a:prstGeom>
          <a:noFill/>
          <a:ln/>
        </p:spPr>
        <p:txBody>
          <a:bodyPr wrap="square" lIns="0" tIns="0" rIns="0" bIns="0" rtlCol="0" anchor="ctr"/>
          <a:lstStyle/>
          <a:p>
            <a:pPr marL="0" indent="0">
              <a:buNone/>
            </a:pPr>
            <a:r>
              <a:rPr lang="en-US" sz="1250" b="1" dirty="0">
                <a:solidFill>
                  <a:srgbClr val="F0A583"/>
                </a:solidFill>
                <a:latin typeface="Malgun Gothic" pitchFamily="34" charset="0"/>
                <a:ea typeface="Malgun Gothic" pitchFamily="34" charset="-122"/>
                <a:cs typeface="Malgun Gothic" pitchFamily="34" charset="-120"/>
              </a:rPr>
              <a:t>✓   </a:t>
            </a:r>
            <a:r>
              <a:rPr lang="en-US" sz="1250" dirty="0">
                <a:solidFill>
                  <a:srgbClr val="D5E2DC"/>
                </a:solidFill>
                <a:latin typeface="Malgun Gothic" pitchFamily="34" charset="0"/>
                <a:ea typeface="Malgun Gothic" pitchFamily="34" charset="-122"/>
                <a:cs typeface="Malgun Gothic" pitchFamily="34" charset="-120"/>
              </a:rPr>
              <a:t>휴장일 재방문과 구매전환 기회 확보</a:t>
            </a:r>
            <a:endParaRPr lang="en-US" sz="1250" dirty="0"/>
          </a:p>
        </p:txBody>
      </p:sp>
      <p:sp>
        <p:nvSpPr>
          <p:cNvPr id="28" name="Text 26"/>
          <p:cNvSpPr txBox="1"/>
          <p:nvPr/>
        </p:nvSpPr>
        <p:spPr>
          <a:xfrm>
            <a:off x="612648" y="4370832"/>
            <a:ext cx="3657600" cy="274320"/>
          </a:xfrm>
          <a:prstGeom prst="rect">
            <a:avLst/>
          </a:prstGeom>
          <a:noFill/>
          <a:ln/>
        </p:spPr>
        <p:txBody>
          <a:bodyPr wrap="square" lIns="0" tIns="0" rIns="0" bIns="0" rtlCol="0" anchor="t"/>
          <a:lstStyle/>
          <a:p>
            <a:pPr marL="0" indent="0">
              <a:buNone/>
            </a:pPr>
            <a:r>
              <a:rPr lang="en-US" sz="1100" b="1" kern="0" spc="100" dirty="0">
                <a:solidFill>
                  <a:srgbClr val="C85B35"/>
                </a:solidFill>
                <a:latin typeface="Malgun Gothic" pitchFamily="34" charset="0"/>
                <a:ea typeface="Malgun Gothic" pitchFamily="34" charset="-122"/>
                <a:cs typeface="Malgun Gothic" pitchFamily="34" charset="-120"/>
              </a:rPr>
              <a:t>매주 반복되는 한 주의 루틴</a:t>
            </a:r>
            <a:endParaRPr lang="en-US" sz="1100" dirty="0"/>
          </a:p>
        </p:txBody>
      </p:sp>
      <p:sp>
        <p:nvSpPr>
          <p:cNvPr id="29" name="Shape 27"/>
          <p:cNvSpPr/>
          <p:nvPr/>
        </p:nvSpPr>
        <p:spPr>
          <a:xfrm>
            <a:off x="612648" y="4709160"/>
            <a:ext cx="5394960" cy="1188720"/>
          </a:xfrm>
          <a:prstGeom prst="roundRect">
            <a:avLst>
              <a:gd name="adj" fmla="val 7692"/>
            </a:avLst>
          </a:prstGeom>
          <a:solidFill>
            <a:srgbClr val="DDEAE2"/>
          </a:solidFill>
          <a:ln/>
        </p:spPr>
      </p:sp>
      <p:sp>
        <p:nvSpPr>
          <p:cNvPr id="30" name="Text 28"/>
          <p:cNvSpPr txBox="1"/>
          <p:nvPr/>
        </p:nvSpPr>
        <p:spPr>
          <a:xfrm>
            <a:off x="886968" y="4965192"/>
            <a:ext cx="4937760" cy="384048"/>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월 – 금  ·  평일 거래일 5일</a:t>
            </a:r>
            <a:endParaRPr lang="en-US" sz="1600" dirty="0"/>
          </a:p>
        </p:txBody>
      </p:sp>
      <p:sp>
        <p:nvSpPr>
          <p:cNvPr id="31" name="Text 29"/>
          <p:cNvSpPr txBox="1"/>
          <p:nvPr/>
        </p:nvSpPr>
        <p:spPr>
          <a:xfrm>
            <a:off x="886968" y="5404104"/>
            <a:ext cx="4937760" cy="457200"/>
          </a:xfrm>
          <a:prstGeom prst="rect">
            <a:avLst/>
          </a:prstGeom>
          <a:noFill/>
          <a:ln/>
        </p:spPr>
        <p:txBody>
          <a:bodyPr wrap="square" lIns="0" tIns="0" rIns="0" bIns="0" rtlCol="0" anchor="t"/>
          <a:lstStyle/>
          <a:p>
            <a:pPr marL="0" indent="0">
              <a:buNone/>
            </a:pPr>
            <a:r>
              <a:rPr lang="en-US" sz="1150" dirty="0">
                <a:solidFill>
                  <a:srgbClr val="3D5A50"/>
                </a:solidFill>
                <a:latin typeface="Malgun Gothic" pitchFamily="34" charset="0"/>
                <a:ea typeface="Malgun Gothic" pitchFamily="34" charset="-122"/>
                <a:cs typeface="Malgun Gothic" pitchFamily="34" charset="-120"/>
              </a:rPr>
              <a:t>BREAD MARKET에서 구매 · 관심 기록 → 포트폴리오에 누적</a:t>
            </a:r>
            <a:endParaRPr lang="en-US" sz="1150" dirty="0"/>
          </a:p>
        </p:txBody>
      </p:sp>
      <p:sp>
        <p:nvSpPr>
          <p:cNvPr id="32" name="Shape 30"/>
          <p:cNvSpPr/>
          <p:nvPr/>
        </p:nvSpPr>
        <p:spPr>
          <a:xfrm>
            <a:off x="6464808" y="4709160"/>
            <a:ext cx="3063240" cy="1188720"/>
          </a:xfrm>
          <a:prstGeom prst="roundRect">
            <a:avLst>
              <a:gd name="adj" fmla="val 7692"/>
            </a:avLst>
          </a:prstGeom>
          <a:solidFill>
            <a:srgbClr val="C85B35"/>
          </a:solidFill>
          <a:ln/>
        </p:spPr>
      </p:sp>
      <p:sp>
        <p:nvSpPr>
          <p:cNvPr id="33" name="Text 31"/>
          <p:cNvSpPr txBox="1"/>
          <p:nvPr/>
        </p:nvSpPr>
        <p:spPr>
          <a:xfrm>
            <a:off x="6739128" y="4965192"/>
            <a:ext cx="2606040" cy="384048"/>
          </a:xfrm>
          <a:prstGeom prst="rect">
            <a:avLst/>
          </a:prstGeom>
          <a:noFill/>
          <a:ln/>
        </p:spPr>
        <p:txBody>
          <a:bodyPr wrap="square" lIns="0" tIns="0" rIns="0" bIns="0" rtlCol="0" anchor="t"/>
          <a:lstStyle/>
          <a:p>
            <a:pPr marL="0" indent="0">
              <a:buNone/>
            </a:pPr>
            <a:r>
              <a:rPr lang="en-US" sz="1600" b="1" dirty="0">
                <a:solidFill>
                  <a:srgbClr val="F6F0E6"/>
                </a:solidFill>
                <a:latin typeface="Malgun Gothic" pitchFamily="34" charset="0"/>
                <a:ea typeface="Malgun Gothic" pitchFamily="34" charset="-122"/>
                <a:cs typeface="Malgun Gothic" pitchFamily="34" charset="-120"/>
              </a:rPr>
              <a:t>토 · 일 · 공휴일</a:t>
            </a:r>
            <a:endParaRPr lang="en-US" sz="1600" dirty="0"/>
          </a:p>
        </p:txBody>
      </p:sp>
      <p:sp>
        <p:nvSpPr>
          <p:cNvPr id="34" name="Text 32"/>
          <p:cNvSpPr txBox="1"/>
          <p:nvPr/>
        </p:nvSpPr>
        <p:spPr>
          <a:xfrm>
            <a:off x="6739128" y="5404104"/>
            <a:ext cx="2606040" cy="457200"/>
          </a:xfrm>
          <a:prstGeom prst="rect">
            <a:avLst/>
          </a:prstGeom>
          <a:noFill/>
          <a:ln/>
        </p:spPr>
        <p:txBody>
          <a:bodyPr wrap="square" lIns="0" tIns="0" rIns="0" bIns="0" rtlCol="0" anchor="t"/>
          <a:lstStyle/>
          <a:p>
            <a:pPr marL="0" indent="0">
              <a:buNone/>
            </a:pPr>
            <a:r>
              <a:rPr lang="en-US" sz="1150" dirty="0">
                <a:solidFill>
                  <a:srgbClr val="F6F0E6"/>
                </a:solidFill>
                <a:latin typeface="Malgun Gothic" pitchFamily="34" charset="0"/>
                <a:ea typeface="Malgun Gothic" pitchFamily="34" charset="-122"/>
                <a:cs typeface="Malgun Gothic" pitchFamily="34" charset="-120"/>
              </a:rPr>
              <a:t>주간 결산 · 배당 확인 · 쿠폰 사용</a:t>
            </a:r>
            <a:endParaRPr lang="en-US" sz="1150" dirty="0"/>
          </a:p>
        </p:txBody>
      </p:sp>
      <p:sp>
        <p:nvSpPr>
          <p:cNvPr id="35" name="Text 33"/>
          <p:cNvSpPr txBox="1"/>
          <p:nvPr/>
        </p:nvSpPr>
        <p:spPr>
          <a:xfrm>
            <a:off x="6007608" y="4709160"/>
            <a:ext cx="457200" cy="1188720"/>
          </a:xfrm>
          <a:prstGeom prst="rect">
            <a:avLst/>
          </a:prstGeom>
          <a:noFill/>
          <a:ln/>
        </p:spPr>
        <p:txBody>
          <a:bodyPr wrap="square" lIns="0" tIns="0" rIns="0" bIns="0" rtlCol="0" anchor="ctr"/>
          <a:lstStyle/>
          <a:p>
            <a:pPr marL="0" indent="0" algn="ctr">
              <a:buNone/>
            </a:pPr>
            <a:r>
              <a:rPr lang="en-US" sz="2000" b="1" dirty="0">
                <a:solidFill>
                  <a:srgbClr val="C85B35"/>
                </a:solidFill>
                <a:latin typeface="Malgun Gothic" pitchFamily="34" charset="0"/>
                <a:ea typeface="Malgun Gothic" pitchFamily="34" charset="-122"/>
                <a:cs typeface="Malgun Gothic" pitchFamily="34" charset="-120"/>
              </a:rPr>
              <a:t>→</a:t>
            </a:r>
            <a:endParaRPr lang="en-US" sz="2000" dirty="0"/>
          </a:p>
        </p:txBody>
      </p:sp>
      <p:sp>
        <p:nvSpPr>
          <p:cNvPr id="36" name="Shape 34"/>
          <p:cNvSpPr/>
          <p:nvPr/>
        </p:nvSpPr>
        <p:spPr>
          <a:xfrm>
            <a:off x="9710928" y="4709160"/>
            <a:ext cx="1874520" cy="1188720"/>
          </a:xfrm>
          <a:prstGeom prst="roundRect">
            <a:avLst>
              <a:gd name="adj" fmla="val 7692"/>
            </a:avLst>
          </a:prstGeom>
          <a:solidFill>
            <a:srgbClr val="F6F0E6"/>
          </a:solidFill>
          <a:ln w="15875">
            <a:solidFill>
              <a:srgbClr val="123F34"/>
            </a:solidFill>
            <a:prstDash val="solid"/>
          </a:ln>
        </p:spPr>
      </p:sp>
      <p:pic>
        <p:nvPicPr>
          <p:cNvPr id="37" name="Image 0" descr="preencoded.png"/>
          <p:cNvPicPr>
            <a:picLocks noChangeAspect="1"/>
          </p:cNvPicPr>
          <p:nvPr/>
        </p:nvPicPr>
        <p:blipFill>
          <a:blip r:embed="rId3"/>
          <a:stretch>
            <a:fillRect/>
          </a:stretch>
        </p:blipFill>
        <p:spPr>
          <a:xfrm>
            <a:off x="9921240" y="4992624"/>
            <a:ext cx="274320" cy="274320"/>
          </a:xfrm>
          <a:prstGeom prst="rect">
            <a:avLst/>
          </a:prstGeom>
        </p:spPr>
      </p:pic>
      <p:sp>
        <p:nvSpPr>
          <p:cNvPr id="38" name="Text 35"/>
          <p:cNvSpPr txBox="1"/>
          <p:nvPr/>
        </p:nvSpPr>
        <p:spPr>
          <a:xfrm>
            <a:off x="10259568" y="4965192"/>
            <a:ext cx="1280160" cy="347472"/>
          </a:xfrm>
          <a:prstGeom prst="rect">
            <a:avLst/>
          </a:prstGeom>
          <a:noFill/>
          <a:ln/>
        </p:spPr>
        <p:txBody>
          <a:bodyPr wrap="square" lIns="0" tIns="0" rIns="0" bIns="0" rtlCol="0" anchor="ctr"/>
          <a:lstStyle/>
          <a:p>
            <a:pPr marL="0" indent="0">
              <a:buNone/>
            </a:pPr>
            <a:r>
              <a:rPr lang="en-US" sz="1250" b="1" dirty="0">
                <a:solidFill>
                  <a:srgbClr val="123F34"/>
                </a:solidFill>
                <a:latin typeface="Malgun Gothic" pitchFamily="34" charset="0"/>
                <a:ea typeface="Malgun Gothic" pitchFamily="34" charset="-122"/>
                <a:cs typeface="Malgun Gothic" pitchFamily="34" charset="-120"/>
              </a:rPr>
              <a:t>다음 거래일</a:t>
            </a:r>
            <a:endParaRPr lang="en-US" sz="1250" dirty="0"/>
          </a:p>
        </p:txBody>
      </p:sp>
      <p:sp>
        <p:nvSpPr>
          <p:cNvPr id="39" name="Text 36"/>
          <p:cNvSpPr txBox="1"/>
          <p:nvPr/>
        </p:nvSpPr>
        <p:spPr>
          <a:xfrm>
            <a:off x="9921240" y="5422392"/>
            <a:ext cx="1645920" cy="365760"/>
          </a:xfrm>
          <a:prstGeom prst="rect">
            <a:avLst/>
          </a:prstGeom>
          <a:noFill/>
          <a:ln/>
        </p:spPr>
        <p:txBody>
          <a:bodyPr wrap="square" lIns="0" tIns="0" rIns="0" bIns="0" rtlCol="0" anchor="t"/>
          <a:lstStyle/>
          <a:p>
            <a:pPr marL="0" indent="0">
              <a:buNone/>
            </a:pPr>
            <a:r>
              <a:rPr lang="en-US" sz="1150" dirty="0">
                <a:solidFill>
                  <a:srgbClr val="3D5A50"/>
                </a:solidFill>
                <a:latin typeface="Malgun Gothic" pitchFamily="34" charset="0"/>
                <a:ea typeface="Malgun Gothic" pitchFamily="34" charset="-122"/>
                <a:cs typeface="Malgun Gothic" pitchFamily="34" charset="-120"/>
              </a:rPr>
              <a:t>다시 Market Open</a:t>
            </a:r>
            <a:endParaRPr lang="en-US" sz="1150" dirty="0"/>
          </a:p>
        </p:txBody>
      </p:sp>
      <p:sp>
        <p:nvSpPr>
          <p:cNvPr id="40" name="Text 37"/>
          <p:cNvSpPr txBox="1"/>
          <p:nvPr/>
        </p:nvSpPr>
        <p:spPr>
          <a:xfrm>
            <a:off x="9528048" y="4709160"/>
            <a:ext cx="182880" cy="1188720"/>
          </a:xfrm>
          <a:prstGeom prst="rect">
            <a:avLst/>
          </a:prstGeom>
          <a:noFill/>
          <a:ln/>
        </p:spPr>
        <p:txBody>
          <a:bodyPr wrap="square" lIns="0" tIns="0" rIns="0" bIns="0" rtlCol="0" anchor="ctr"/>
          <a:lstStyle/>
          <a:p>
            <a:pPr marL="0" indent="0" algn="ctr">
              <a:buNone/>
            </a:pPr>
            <a:r>
              <a:rPr lang="en-US" sz="1600" b="1" dirty="0">
                <a:solidFill>
                  <a:srgbClr val="C85B35"/>
                </a:solidFill>
                <a:latin typeface="Malgun Gothic" pitchFamily="34" charset="0"/>
                <a:ea typeface="Malgun Gothic" pitchFamily="34" charset="-122"/>
                <a:cs typeface="Malgun Gothic" pitchFamily="34" charset="-120"/>
              </a:rPr>
              <a: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주말 배당 ②</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03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F6F0E6"/>
          </a:solidFill>
          <a:ln w="12700">
            <a:solidFill>
              <a:srgbClr val="C9D8CF"/>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F6F0E6"/>
          </a:solidFill>
          <a:ln w="12700">
            <a:solidFill>
              <a:srgbClr val="C9D8CF"/>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dirty="0">
                <a:solidFill>
                  <a:srgbClr val="7A8F8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123F34"/>
          </a:solidFill>
          <a:ln w="12700">
            <a:solidFill>
              <a:srgbClr val="123F34"/>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10</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평일 활동이 주간 점수가 되고, 배당금 통장에 쌓입니다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이번 주 배당과 이번 달 누적을 함께 보여줘, 매주 쌓이는 보상을 직관적으로 느끼게 합니다.</a:t>
            </a:r>
            <a:endParaRPr lang="en-US" sz="1350" dirty="0"/>
          </a:p>
        </p:txBody>
      </p:sp>
      <p:sp>
        <p:nvSpPr>
          <p:cNvPr id="17" name="Shape 15"/>
          <p:cNvSpPr/>
          <p:nvPr/>
        </p:nvSpPr>
        <p:spPr>
          <a:xfrm>
            <a:off x="612648" y="1810512"/>
            <a:ext cx="5669280" cy="1243584"/>
          </a:xfrm>
          <a:prstGeom prst="roundRect">
            <a:avLst>
              <a:gd name="adj" fmla="val 8824"/>
            </a:avLst>
          </a:prstGeom>
          <a:solidFill>
            <a:srgbClr val="FFFFFF"/>
          </a:solidFill>
          <a:ln/>
          <a:effectLst>
            <a:outerShdw blurRad="101600" dist="25400" dir="5400000" algn="bl" rotWithShape="0">
              <a:srgbClr val="123F34">
                <a:alpha val="12000"/>
              </a:srgbClr>
            </a:outerShdw>
          </a:effectLst>
        </p:spPr>
      </p:sp>
      <p:sp>
        <p:nvSpPr>
          <p:cNvPr id="18" name="Shape 16"/>
          <p:cNvSpPr/>
          <p:nvPr/>
        </p:nvSpPr>
        <p:spPr>
          <a:xfrm>
            <a:off x="841248" y="2157984"/>
            <a:ext cx="548640" cy="548640"/>
          </a:xfrm>
          <a:prstGeom prst="ellipse">
            <a:avLst/>
          </a:prstGeom>
          <a:solidFill>
            <a:srgbClr val="123F34"/>
          </a:solidFill>
          <a:ln/>
        </p:spPr>
      </p:sp>
      <p:sp>
        <p:nvSpPr>
          <p:cNvPr id="19" name="Text 17"/>
          <p:cNvSpPr txBox="1"/>
          <p:nvPr/>
        </p:nvSpPr>
        <p:spPr>
          <a:xfrm>
            <a:off x="841248" y="2157984"/>
            <a:ext cx="548640" cy="548640"/>
          </a:xfrm>
          <a:prstGeom prst="rect">
            <a:avLst/>
          </a:prstGeom>
          <a:noFill/>
          <a:ln/>
        </p:spPr>
        <p:txBody>
          <a:bodyPr wrap="square" lIns="0" tIns="0" rIns="0" bIns="0" rtlCol="0" anchor="ctr"/>
          <a:lstStyle/>
          <a:p>
            <a:pPr marL="0" indent="0" algn="ctr">
              <a:buNone/>
            </a:pPr>
            <a:r>
              <a:rPr lang="en-US" sz="1600" b="1" dirty="0">
                <a:solidFill>
                  <a:srgbClr val="F6F0E6"/>
                </a:solidFill>
                <a:latin typeface="Malgun Gothic" pitchFamily="34" charset="0"/>
                <a:ea typeface="Malgun Gothic" pitchFamily="34" charset="-122"/>
                <a:cs typeface="Malgun Gothic" pitchFamily="34" charset="-120"/>
              </a:rPr>
              <a:t>1</a:t>
            </a:r>
            <a:endParaRPr lang="en-US" sz="1600" dirty="0"/>
          </a:p>
        </p:txBody>
      </p:sp>
      <p:sp>
        <p:nvSpPr>
          <p:cNvPr id="20" name="Text 18"/>
          <p:cNvSpPr txBox="1"/>
          <p:nvPr/>
        </p:nvSpPr>
        <p:spPr>
          <a:xfrm>
            <a:off x="1618488" y="2084832"/>
            <a:ext cx="2377440" cy="347472"/>
          </a:xfrm>
          <a:prstGeom prst="rect">
            <a:avLst/>
          </a:prstGeom>
          <a:noFill/>
          <a:ln/>
        </p:spPr>
        <p:txBody>
          <a:bodyPr wrap="square" lIns="0" tIns="0" rIns="0" bIns="0" rtlCol="0" anchor="t"/>
          <a:lstStyle/>
          <a:p>
            <a:pPr marL="0" indent="0">
              <a:buNone/>
            </a:pPr>
            <a:r>
              <a:rPr lang="en-US" sz="1500" b="1" dirty="0">
                <a:solidFill>
                  <a:srgbClr val="123F34"/>
                </a:solidFill>
                <a:latin typeface="Malgun Gothic" pitchFamily="34" charset="0"/>
                <a:ea typeface="Malgun Gothic" pitchFamily="34" charset="-122"/>
                <a:cs typeface="Malgun Gothic" pitchFamily="34" charset="-120"/>
              </a:rPr>
              <a:t>주간 점수 산정</a:t>
            </a:r>
            <a:endParaRPr lang="en-US" sz="1500" dirty="0"/>
          </a:p>
        </p:txBody>
      </p:sp>
      <p:sp>
        <p:nvSpPr>
          <p:cNvPr id="21" name="Text 19"/>
          <p:cNvSpPr txBox="1"/>
          <p:nvPr/>
        </p:nvSpPr>
        <p:spPr>
          <a:xfrm>
            <a:off x="3721608" y="2084832"/>
            <a:ext cx="2377440" cy="347472"/>
          </a:xfrm>
          <a:prstGeom prst="rect">
            <a:avLst/>
          </a:prstGeom>
          <a:noFill/>
          <a:ln/>
        </p:spPr>
        <p:txBody>
          <a:bodyPr wrap="square" lIns="0" tIns="0" rIns="0" bIns="0" rtlCol="0" anchor="t"/>
          <a:lstStyle/>
          <a:p>
            <a:pPr marL="0" indent="0" algn="r">
              <a:buNone/>
            </a:pPr>
            <a:r>
              <a:rPr lang="en-US" sz="1150" b="1" dirty="0">
                <a:solidFill>
                  <a:srgbClr val="C85B35"/>
                </a:solidFill>
                <a:latin typeface="Malgun Gothic" pitchFamily="34" charset="0"/>
                <a:ea typeface="Malgun Gothic" pitchFamily="34" charset="-122"/>
                <a:cs typeface="Malgun Gothic" pitchFamily="34" charset="-120"/>
              </a:rPr>
              <a:t>각 1점 · 주 최대 3점</a:t>
            </a:r>
            <a:endParaRPr lang="en-US" sz="1150" dirty="0"/>
          </a:p>
        </p:txBody>
      </p:sp>
      <p:sp>
        <p:nvSpPr>
          <p:cNvPr id="22" name="Text 20"/>
          <p:cNvSpPr txBox="1"/>
          <p:nvPr/>
        </p:nvSpPr>
        <p:spPr>
          <a:xfrm>
            <a:off x="1618488" y="2505456"/>
            <a:ext cx="4480560" cy="32004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관심빵 등록 · Bread Market 구매 · 거래일 출석</a:t>
            </a:r>
            <a:endParaRPr lang="en-US" sz="1250" dirty="0"/>
          </a:p>
        </p:txBody>
      </p:sp>
      <p:sp>
        <p:nvSpPr>
          <p:cNvPr id="23" name="Shape 21"/>
          <p:cNvSpPr/>
          <p:nvPr/>
        </p:nvSpPr>
        <p:spPr>
          <a:xfrm>
            <a:off x="612648" y="3227832"/>
            <a:ext cx="5669280" cy="1243584"/>
          </a:xfrm>
          <a:prstGeom prst="roundRect">
            <a:avLst>
              <a:gd name="adj" fmla="val 8824"/>
            </a:avLst>
          </a:prstGeom>
          <a:solidFill>
            <a:srgbClr val="FFFFFF"/>
          </a:solidFill>
          <a:ln/>
          <a:effectLst>
            <a:outerShdw blurRad="101600" dist="25400" dir="5400000" algn="bl" rotWithShape="0">
              <a:srgbClr val="123F34">
                <a:alpha val="12000"/>
              </a:srgbClr>
            </a:outerShdw>
          </a:effectLst>
        </p:spPr>
      </p:sp>
      <p:sp>
        <p:nvSpPr>
          <p:cNvPr id="24" name="Shape 22"/>
          <p:cNvSpPr/>
          <p:nvPr/>
        </p:nvSpPr>
        <p:spPr>
          <a:xfrm>
            <a:off x="841248" y="3575304"/>
            <a:ext cx="548640" cy="548640"/>
          </a:xfrm>
          <a:prstGeom prst="ellipse">
            <a:avLst/>
          </a:prstGeom>
          <a:solidFill>
            <a:srgbClr val="C85B35"/>
          </a:solidFill>
          <a:ln/>
        </p:spPr>
      </p:sp>
      <p:sp>
        <p:nvSpPr>
          <p:cNvPr id="25" name="Text 23"/>
          <p:cNvSpPr txBox="1"/>
          <p:nvPr/>
        </p:nvSpPr>
        <p:spPr>
          <a:xfrm>
            <a:off x="841248" y="3575304"/>
            <a:ext cx="548640" cy="548640"/>
          </a:xfrm>
          <a:prstGeom prst="rect">
            <a:avLst/>
          </a:prstGeom>
          <a:noFill/>
          <a:ln/>
        </p:spPr>
        <p:txBody>
          <a:bodyPr wrap="square" lIns="0" tIns="0" rIns="0" bIns="0" rtlCol="0" anchor="ctr"/>
          <a:lstStyle/>
          <a:p>
            <a:pPr marL="0" indent="0" algn="ctr">
              <a:buNone/>
            </a:pPr>
            <a:r>
              <a:rPr lang="en-US" sz="1600" b="1" dirty="0">
                <a:solidFill>
                  <a:srgbClr val="F6F0E6"/>
                </a:solidFill>
                <a:latin typeface="Malgun Gothic" pitchFamily="34" charset="0"/>
                <a:ea typeface="Malgun Gothic" pitchFamily="34" charset="-122"/>
                <a:cs typeface="Malgun Gothic" pitchFamily="34" charset="-120"/>
              </a:rPr>
              <a:t>2</a:t>
            </a:r>
            <a:endParaRPr lang="en-US" sz="1600" dirty="0"/>
          </a:p>
        </p:txBody>
      </p:sp>
      <p:sp>
        <p:nvSpPr>
          <p:cNvPr id="26" name="Text 24"/>
          <p:cNvSpPr txBox="1"/>
          <p:nvPr/>
        </p:nvSpPr>
        <p:spPr>
          <a:xfrm>
            <a:off x="1618488" y="3502152"/>
            <a:ext cx="2377440" cy="347472"/>
          </a:xfrm>
          <a:prstGeom prst="rect">
            <a:avLst/>
          </a:prstGeom>
          <a:noFill/>
          <a:ln/>
        </p:spPr>
        <p:txBody>
          <a:bodyPr wrap="square" lIns="0" tIns="0" rIns="0" bIns="0" rtlCol="0" anchor="t"/>
          <a:lstStyle/>
          <a:p>
            <a:pPr marL="0" indent="0">
              <a:buNone/>
            </a:pPr>
            <a:r>
              <a:rPr lang="en-US" sz="1500" b="1" dirty="0">
                <a:solidFill>
                  <a:srgbClr val="123F34"/>
                </a:solidFill>
                <a:latin typeface="Malgun Gothic" pitchFamily="34" charset="0"/>
                <a:ea typeface="Malgun Gothic" pitchFamily="34" charset="-122"/>
                <a:cs typeface="Malgun Gothic" pitchFamily="34" charset="-120"/>
              </a:rPr>
              <a:t>배당금 통장 적립</a:t>
            </a:r>
            <a:endParaRPr lang="en-US" sz="1500" dirty="0"/>
          </a:p>
        </p:txBody>
      </p:sp>
      <p:sp>
        <p:nvSpPr>
          <p:cNvPr id="27" name="Text 25"/>
          <p:cNvSpPr txBox="1"/>
          <p:nvPr/>
        </p:nvSpPr>
        <p:spPr>
          <a:xfrm>
            <a:off x="3721608" y="3502152"/>
            <a:ext cx="2377440" cy="347472"/>
          </a:xfrm>
          <a:prstGeom prst="rect">
            <a:avLst/>
          </a:prstGeom>
          <a:noFill/>
          <a:ln/>
        </p:spPr>
        <p:txBody>
          <a:bodyPr wrap="square" lIns="0" tIns="0" rIns="0" bIns="0" rtlCol="0" anchor="t"/>
          <a:lstStyle/>
          <a:p>
            <a:pPr marL="0" indent="0" algn="r">
              <a:buNone/>
            </a:pPr>
            <a:r>
              <a:rPr lang="en-US" sz="1150" b="1" dirty="0">
                <a:solidFill>
                  <a:srgbClr val="C85B35"/>
                </a:solidFill>
                <a:latin typeface="Malgun Gothic" pitchFamily="34" charset="0"/>
                <a:ea typeface="Malgun Gothic" pitchFamily="34" charset="-122"/>
                <a:cs typeface="Malgun Gothic" pitchFamily="34" charset="-120"/>
              </a:rPr>
              <a:t>같은 달 주말마다 누적</a:t>
            </a:r>
            <a:endParaRPr lang="en-US" sz="1150" dirty="0"/>
          </a:p>
        </p:txBody>
      </p:sp>
      <p:sp>
        <p:nvSpPr>
          <p:cNvPr id="28" name="Text 26"/>
          <p:cNvSpPr txBox="1"/>
          <p:nvPr/>
        </p:nvSpPr>
        <p:spPr>
          <a:xfrm>
            <a:off x="1618488" y="3922776"/>
            <a:ext cx="4480560" cy="32004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1점 300P  ·  2점 500P  ·  3점 800P</a:t>
            </a:r>
            <a:endParaRPr lang="en-US" sz="1250" dirty="0"/>
          </a:p>
        </p:txBody>
      </p:sp>
      <p:sp>
        <p:nvSpPr>
          <p:cNvPr id="29" name="Shape 27"/>
          <p:cNvSpPr/>
          <p:nvPr/>
        </p:nvSpPr>
        <p:spPr>
          <a:xfrm>
            <a:off x="612648" y="4645152"/>
            <a:ext cx="5669280" cy="1243584"/>
          </a:xfrm>
          <a:prstGeom prst="roundRect">
            <a:avLst>
              <a:gd name="adj" fmla="val 8824"/>
            </a:avLst>
          </a:prstGeom>
          <a:solidFill>
            <a:srgbClr val="FFFFFF"/>
          </a:solidFill>
          <a:ln/>
          <a:effectLst>
            <a:outerShdw blurRad="101600" dist="25400" dir="5400000" algn="bl" rotWithShape="0">
              <a:srgbClr val="123F34">
                <a:alpha val="12000"/>
              </a:srgbClr>
            </a:outerShdw>
          </a:effectLst>
        </p:spPr>
      </p:sp>
      <p:sp>
        <p:nvSpPr>
          <p:cNvPr id="30" name="Shape 28"/>
          <p:cNvSpPr/>
          <p:nvPr/>
        </p:nvSpPr>
        <p:spPr>
          <a:xfrm>
            <a:off x="841248" y="4992624"/>
            <a:ext cx="548640" cy="548640"/>
          </a:xfrm>
          <a:prstGeom prst="ellipse">
            <a:avLst/>
          </a:prstGeom>
          <a:solidFill>
            <a:srgbClr val="123F34"/>
          </a:solidFill>
          <a:ln/>
        </p:spPr>
      </p:sp>
      <p:sp>
        <p:nvSpPr>
          <p:cNvPr id="31" name="Text 29"/>
          <p:cNvSpPr txBox="1"/>
          <p:nvPr/>
        </p:nvSpPr>
        <p:spPr>
          <a:xfrm>
            <a:off x="841248" y="4992624"/>
            <a:ext cx="548640" cy="548640"/>
          </a:xfrm>
          <a:prstGeom prst="rect">
            <a:avLst/>
          </a:prstGeom>
          <a:noFill/>
          <a:ln/>
        </p:spPr>
        <p:txBody>
          <a:bodyPr wrap="square" lIns="0" tIns="0" rIns="0" bIns="0" rtlCol="0" anchor="ctr"/>
          <a:lstStyle/>
          <a:p>
            <a:pPr marL="0" indent="0" algn="ctr">
              <a:buNone/>
            </a:pPr>
            <a:r>
              <a:rPr lang="en-US" sz="1600" b="1" dirty="0">
                <a:solidFill>
                  <a:srgbClr val="F6F0E6"/>
                </a:solidFill>
                <a:latin typeface="Malgun Gothic" pitchFamily="34" charset="0"/>
                <a:ea typeface="Malgun Gothic" pitchFamily="34" charset="-122"/>
                <a:cs typeface="Malgun Gothic" pitchFamily="34" charset="-120"/>
              </a:rPr>
              <a:t>3</a:t>
            </a:r>
            <a:endParaRPr lang="en-US" sz="1600" dirty="0"/>
          </a:p>
        </p:txBody>
      </p:sp>
      <p:sp>
        <p:nvSpPr>
          <p:cNvPr id="32" name="Text 30"/>
          <p:cNvSpPr txBox="1"/>
          <p:nvPr/>
        </p:nvSpPr>
        <p:spPr>
          <a:xfrm>
            <a:off x="1618488" y="4919472"/>
            <a:ext cx="2377440" cy="347472"/>
          </a:xfrm>
          <a:prstGeom prst="rect">
            <a:avLst/>
          </a:prstGeom>
          <a:noFill/>
          <a:ln/>
        </p:spPr>
        <p:txBody>
          <a:bodyPr wrap="square" lIns="0" tIns="0" rIns="0" bIns="0" rtlCol="0" anchor="t"/>
          <a:lstStyle/>
          <a:p>
            <a:pPr marL="0" indent="0">
              <a:buNone/>
            </a:pPr>
            <a:r>
              <a:rPr lang="en-US" sz="1500" b="1" dirty="0">
                <a:solidFill>
                  <a:srgbClr val="123F34"/>
                </a:solidFill>
                <a:latin typeface="Malgun Gothic" pitchFamily="34" charset="0"/>
                <a:ea typeface="Malgun Gothic" pitchFamily="34" charset="-122"/>
                <a:cs typeface="Malgun Gothic" pitchFamily="34" charset="-120"/>
              </a:rPr>
              <a:t>주말 쿠폰으로 사용</a:t>
            </a:r>
            <a:endParaRPr lang="en-US" sz="1500" dirty="0"/>
          </a:p>
        </p:txBody>
      </p:sp>
      <p:sp>
        <p:nvSpPr>
          <p:cNvPr id="33" name="Text 31"/>
          <p:cNvSpPr txBox="1"/>
          <p:nvPr/>
        </p:nvSpPr>
        <p:spPr>
          <a:xfrm>
            <a:off x="3721608" y="4919472"/>
            <a:ext cx="2377440" cy="347472"/>
          </a:xfrm>
          <a:prstGeom prst="rect">
            <a:avLst/>
          </a:prstGeom>
          <a:noFill/>
          <a:ln/>
        </p:spPr>
        <p:txBody>
          <a:bodyPr wrap="square" lIns="0" tIns="0" rIns="0" bIns="0" rtlCol="0" anchor="t"/>
          <a:lstStyle/>
          <a:p>
            <a:pPr marL="0" indent="0" algn="r">
              <a:buNone/>
            </a:pPr>
            <a:r>
              <a:rPr lang="en-US" sz="1150" b="1" dirty="0">
                <a:solidFill>
                  <a:srgbClr val="C85B35"/>
                </a:solidFill>
                <a:latin typeface="Malgun Gothic" pitchFamily="34" charset="0"/>
                <a:ea typeface="Malgun Gothic" pitchFamily="34" charset="-122"/>
                <a:cs typeface="Malgun Gothic" pitchFamily="34" charset="-120"/>
              </a:rPr>
              <a:t>결제금액의 최대 15%</a:t>
            </a:r>
            <a:endParaRPr lang="en-US" sz="1150" dirty="0"/>
          </a:p>
        </p:txBody>
      </p:sp>
      <p:sp>
        <p:nvSpPr>
          <p:cNvPr id="34" name="Text 32"/>
          <p:cNvSpPr txBox="1"/>
          <p:nvPr/>
        </p:nvSpPr>
        <p:spPr>
          <a:xfrm>
            <a:off x="1618488" y="5340096"/>
            <a:ext cx="4480560" cy="320040"/>
          </a:xfrm>
          <a:prstGeom prst="rect">
            <a:avLst/>
          </a:prstGeom>
          <a:noFill/>
          <a:ln/>
        </p:spPr>
        <p:txBody>
          <a:bodyPr wrap="square" lIns="0" tIns="0" rIns="0" bIns="0" rtlCol="0" anchor="t"/>
          <a:lstStyle/>
          <a:p>
            <a:pPr marL="0" indent="0">
              <a:buNone/>
            </a:pPr>
            <a:r>
              <a:rPr lang="en-US" sz="1250" dirty="0">
                <a:solidFill>
                  <a:srgbClr val="3D5A50"/>
                </a:solidFill>
                <a:latin typeface="Malgun Gothic" pitchFamily="34" charset="0"/>
                <a:ea typeface="Malgun Gothic" pitchFamily="34" charset="-122"/>
                <a:cs typeface="Malgun Gothic" pitchFamily="34" charset="-120"/>
              </a:rPr>
              <a:t>주말·공휴일 전용 · 1만원 이상 · 100P 단위</a:t>
            </a:r>
            <a:endParaRPr lang="en-US" sz="1250" dirty="0"/>
          </a:p>
        </p:txBody>
      </p:sp>
      <p:sp>
        <p:nvSpPr>
          <p:cNvPr id="35" name="Shape 33"/>
          <p:cNvSpPr/>
          <p:nvPr/>
        </p:nvSpPr>
        <p:spPr>
          <a:xfrm>
            <a:off x="6492240" y="1810512"/>
            <a:ext cx="5093208" cy="2176272"/>
          </a:xfrm>
          <a:prstGeom prst="roundRect">
            <a:avLst>
              <a:gd name="adj" fmla="val 5042"/>
            </a:avLst>
          </a:prstGeom>
          <a:solidFill>
            <a:srgbClr val="FFFFFF"/>
          </a:solidFill>
          <a:ln/>
          <a:effectLst>
            <a:outerShdw blurRad="101600" dist="25400" dir="5400000" algn="bl" rotWithShape="0">
              <a:srgbClr val="123F34">
                <a:alpha val="12000"/>
              </a:srgbClr>
            </a:outerShdw>
          </a:effectLst>
        </p:spPr>
      </p:sp>
      <p:pic>
        <p:nvPicPr>
          <p:cNvPr id="36" name="Image 0" descr="preencoded.png"/>
          <p:cNvPicPr>
            <a:picLocks noChangeAspect="1"/>
          </p:cNvPicPr>
          <p:nvPr/>
        </p:nvPicPr>
        <p:blipFill>
          <a:blip r:embed="rId3"/>
          <a:stretch>
            <a:fillRect/>
          </a:stretch>
        </p:blipFill>
        <p:spPr>
          <a:xfrm>
            <a:off x="6601968" y="1911096"/>
            <a:ext cx="4873752" cy="1874520"/>
          </a:xfrm>
          <a:prstGeom prst="rect">
            <a:avLst/>
          </a:prstGeom>
        </p:spPr>
      </p:pic>
      <p:sp>
        <p:nvSpPr>
          <p:cNvPr id="37" name="Text 34"/>
          <p:cNvSpPr txBox="1"/>
          <p:nvPr/>
        </p:nvSpPr>
        <p:spPr>
          <a:xfrm>
            <a:off x="6492240" y="4041648"/>
            <a:ext cx="5093208" cy="256032"/>
          </a:xfrm>
          <a:prstGeom prst="rect">
            <a:avLst/>
          </a:prstGeom>
          <a:noFill/>
          <a:ln/>
        </p:spPr>
        <p:txBody>
          <a:bodyPr wrap="square" lIns="0" tIns="0" rIns="0" bIns="0" rtlCol="0" anchor="t"/>
          <a:lstStyle/>
          <a:p>
            <a:pPr marL="0" indent="0" algn="r">
              <a:buNone/>
            </a:pPr>
            <a:r>
              <a:rPr lang="en-US" sz="1000" dirty="0">
                <a:solidFill>
                  <a:srgbClr val="7A8F86"/>
                </a:solidFill>
                <a:latin typeface="Malgun Gothic" pitchFamily="34" charset="0"/>
                <a:ea typeface="Malgun Gothic" pitchFamily="34" charset="-122"/>
                <a:cs typeface="Malgun Gothic" pitchFamily="34" charset="-120"/>
              </a:rPr>
              <a:t>프로토타입 · 배당금 통장 화면</a:t>
            </a:r>
            <a:endParaRPr lang="en-US" sz="1000" dirty="0"/>
          </a:p>
        </p:txBody>
      </p:sp>
      <p:sp>
        <p:nvSpPr>
          <p:cNvPr id="38" name="Shape 35"/>
          <p:cNvSpPr/>
          <p:nvPr/>
        </p:nvSpPr>
        <p:spPr>
          <a:xfrm>
            <a:off x="6492240" y="4389120"/>
            <a:ext cx="5093208" cy="1591056"/>
          </a:xfrm>
          <a:prstGeom prst="roundRect">
            <a:avLst>
              <a:gd name="adj" fmla="val 6897"/>
            </a:avLst>
          </a:prstGeom>
          <a:solidFill>
            <a:srgbClr val="123F34"/>
          </a:solidFill>
          <a:ln/>
        </p:spPr>
      </p:sp>
      <p:sp>
        <p:nvSpPr>
          <p:cNvPr id="39" name="Text 36"/>
          <p:cNvSpPr txBox="1"/>
          <p:nvPr/>
        </p:nvSpPr>
        <p:spPr>
          <a:xfrm>
            <a:off x="6766560" y="4544568"/>
            <a:ext cx="3657600" cy="274320"/>
          </a:xfrm>
          <a:prstGeom prst="rect">
            <a:avLst/>
          </a:prstGeom>
          <a:noFill/>
          <a:ln/>
        </p:spPr>
        <p:txBody>
          <a:bodyPr wrap="square" lIns="0" tIns="0" rIns="0" bIns="0" rtlCol="0" anchor="t"/>
          <a:lstStyle/>
          <a:p>
            <a:pPr marL="0" indent="0">
              <a:buNone/>
            </a:pPr>
            <a:r>
              <a:rPr lang="en-US" sz="1100" b="1" dirty="0" err="1">
                <a:solidFill>
                  <a:srgbClr val="F0A583"/>
                </a:solidFill>
                <a:latin typeface="Malgun Gothic" pitchFamily="34" charset="0"/>
                <a:ea typeface="Malgun Gothic" pitchFamily="34" charset="-122"/>
                <a:cs typeface="Malgun Gothic" pitchFamily="34" charset="-120"/>
              </a:rPr>
              <a:t>기업</a:t>
            </a:r>
            <a:r>
              <a:rPr lang="ko-KR" altLang="en-US" sz="1100" b="1" dirty="0">
                <a:solidFill>
                  <a:srgbClr val="F0A583"/>
                </a:solidFill>
                <a:latin typeface="Malgun Gothic" pitchFamily="34" charset="0"/>
                <a:ea typeface="Malgun Gothic" pitchFamily="34" charset="-122"/>
                <a:cs typeface="Malgun Gothic" pitchFamily="34" charset="-120"/>
              </a:rPr>
              <a:t>의</a:t>
            </a:r>
            <a:r>
              <a:rPr lang="en-US" sz="1100" b="1" dirty="0">
                <a:solidFill>
                  <a:srgbClr val="F0A583"/>
                </a:solidFill>
                <a:latin typeface="Malgun Gothic" pitchFamily="34" charset="0"/>
                <a:ea typeface="Malgun Gothic" pitchFamily="34" charset="-122"/>
                <a:cs typeface="Malgun Gothic" pitchFamily="34" charset="-120"/>
              </a:rPr>
              <a:t> </a:t>
            </a:r>
            <a:r>
              <a:rPr lang="ko-KR" altLang="en-US" sz="1100" b="1" dirty="0">
                <a:solidFill>
                  <a:srgbClr val="F0A583"/>
                </a:solidFill>
                <a:latin typeface="Malgun Gothic" pitchFamily="34" charset="0"/>
                <a:ea typeface="Malgun Gothic" pitchFamily="34" charset="-122"/>
                <a:cs typeface="Malgun Gothic" pitchFamily="34" charset="-120"/>
              </a:rPr>
              <a:t>설정</a:t>
            </a:r>
            <a:r>
              <a:rPr lang="en-US" sz="1100" b="1" dirty="0">
                <a:solidFill>
                  <a:srgbClr val="F0A583"/>
                </a:solidFill>
                <a:latin typeface="Malgun Gothic" pitchFamily="34" charset="0"/>
                <a:ea typeface="Malgun Gothic" pitchFamily="34" charset="-122"/>
                <a:cs typeface="Malgun Gothic" pitchFamily="34" charset="-120"/>
              </a:rPr>
              <a:t> 비용 상한</a:t>
            </a:r>
            <a:endParaRPr lang="en-US" sz="1100" dirty="0"/>
          </a:p>
        </p:txBody>
      </p:sp>
      <p:sp>
        <p:nvSpPr>
          <p:cNvPr id="40" name="Text 37"/>
          <p:cNvSpPr txBox="1"/>
          <p:nvPr/>
        </p:nvSpPr>
        <p:spPr>
          <a:xfrm>
            <a:off x="6766560" y="4864608"/>
            <a:ext cx="1554480" cy="548640"/>
          </a:xfrm>
          <a:prstGeom prst="rect">
            <a:avLst/>
          </a:prstGeom>
          <a:noFill/>
          <a:ln/>
        </p:spPr>
        <p:txBody>
          <a:bodyPr wrap="square" lIns="0" tIns="0" rIns="0" bIns="0" rtlCol="0" anchor="ctr"/>
          <a:lstStyle/>
          <a:p>
            <a:pPr marL="0" indent="0">
              <a:buNone/>
            </a:pPr>
            <a:r>
              <a:rPr lang="en-US" sz="2400" b="1" dirty="0">
                <a:solidFill>
                  <a:srgbClr val="F6F0E6"/>
                </a:solidFill>
                <a:latin typeface="Malgun Gothic" pitchFamily="34" charset="0"/>
                <a:ea typeface="Malgun Gothic" pitchFamily="34" charset="-122"/>
                <a:cs typeface="Malgun Gothic" pitchFamily="34" charset="-120"/>
              </a:rPr>
              <a:t>800P</a:t>
            </a:r>
            <a:endParaRPr lang="en-US" sz="2400" dirty="0"/>
          </a:p>
        </p:txBody>
      </p:sp>
      <p:sp>
        <p:nvSpPr>
          <p:cNvPr id="41" name="Text 38"/>
          <p:cNvSpPr txBox="1"/>
          <p:nvPr/>
        </p:nvSpPr>
        <p:spPr>
          <a:xfrm>
            <a:off x="6766560" y="5440680"/>
            <a:ext cx="1554480" cy="365760"/>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1인 주간 배당 상한</a:t>
            </a:r>
            <a:endParaRPr lang="en-US" sz="1050" dirty="0"/>
          </a:p>
        </p:txBody>
      </p:sp>
      <p:sp>
        <p:nvSpPr>
          <p:cNvPr id="42" name="Text 39"/>
          <p:cNvSpPr txBox="1"/>
          <p:nvPr/>
        </p:nvSpPr>
        <p:spPr>
          <a:xfrm>
            <a:off x="8366760" y="4864608"/>
            <a:ext cx="1554480" cy="548640"/>
          </a:xfrm>
          <a:prstGeom prst="rect">
            <a:avLst/>
          </a:prstGeom>
          <a:noFill/>
          <a:ln/>
        </p:spPr>
        <p:txBody>
          <a:bodyPr wrap="square" lIns="0" tIns="0" rIns="0" bIns="0" rtlCol="0" anchor="ctr"/>
          <a:lstStyle/>
          <a:p>
            <a:pPr marL="0" indent="0">
              <a:buNone/>
            </a:pPr>
            <a:r>
              <a:rPr lang="en-US" sz="2400" b="1" dirty="0">
                <a:solidFill>
                  <a:srgbClr val="F6F0E6"/>
                </a:solidFill>
                <a:latin typeface="Malgun Gothic" pitchFamily="34" charset="0"/>
                <a:ea typeface="Malgun Gothic" pitchFamily="34" charset="-122"/>
                <a:cs typeface="Malgun Gothic" pitchFamily="34" charset="-120"/>
              </a:rPr>
              <a:t>15%</a:t>
            </a:r>
            <a:endParaRPr lang="en-US" sz="2400" dirty="0"/>
          </a:p>
        </p:txBody>
      </p:sp>
      <p:sp>
        <p:nvSpPr>
          <p:cNvPr id="43" name="Text 40"/>
          <p:cNvSpPr txBox="1"/>
          <p:nvPr/>
        </p:nvSpPr>
        <p:spPr>
          <a:xfrm>
            <a:off x="8366760" y="5440680"/>
            <a:ext cx="1554480" cy="365760"/>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주문당 사용 상한</a:t>
            </a:r>
            <a:endParaRPr lang="en-US" sz="1050" dirty="0"/>
          </a:p>
        </p:txBody>
      </p:sp>
      <p:sp>
        <p:nvSpPr>
          <p:cNvPr id="44" name="Text 41"/>
          <p:cNvSpPr txBox="1"/>
          <p:nvPr/>
        </p:nvSpPr>
        <p:spPr>
          <a:xfrm>
            <a:off x="9966960" y="4864608"/>
            <a:ext cx="1554480" cy="548640"/>
          </a:xfrm>
          <a:prstGeom prst="rect">
            <a:avLst/>
          </a:prstGeom>
          <a:noFill/>
          <a:ln/>
        </p:spPr>
        <p:txBody>
          <a:bodyPr wrap="square" lIns="0" tIns="0" rIns="0" bIns="0" rtlCol="0" anchor="ctr"/>
          <a:lstStyle/>
          <a:p>
            <a:pPr marL="0" indent="0">
              <a:buNone/>
            </a:pPr>
            <a:r>
              <a:rPr lang="en-US" sz="2400" b="1" dirty="0">
                <a:solidFill>
                  <a:srgbClr val="F6F0E6"/>
                </a:solidFill>
                <a:latin typeface="Malgun Gothic" pitchFamily="34" charset="0"/>
                <a:ea typeface="Malgun Gothic" pitchFamily="34" charset="-122"/>
                <a:cs typeface="Malgun Gothic" pitchFamily="34" charset="-120"/>
              </a:rPr>
              <a:t>정가</a:t>
            </a:r>
            <a:endParaRPr lang="en-US" sz="2400" dirty="0"/>
          </a:p>
        </p:txBody>
      </p:sp>
      <p:sp>
        <p:nvSpPr>
          <p:cNvPr id="45" name="Text 42"/>
          <p:cNvSpPr txBox="1"/>
          <p:nvPr/>
        </p:nvSpPr>
        <p:spPr>
          <a:xfrm>
            <a:off x="9966960" y="5440680"/>
            <a:ext cx="1554480" cy="365760"/>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휴장일 상품가 유지</a:t>
            </a:r>
            <a:endParaRPr lang="en-US" sz="1050" dirty="0"/>
          </a:p>
        </p:txBody>
      </p:sp>
      <p:sp>
        <p:nvSpPr>
          <p:cNvPr id="46" name="Text 43"/>
          <p:cNvSpPr txBox="1"/>
          <p:nvPr/>
        </p:nvSpPr>
        <p:spPr>
          <a:xfrm>
            <a:off x="612648" y="6217920"/>
            <a:ext cx="10972800" cy="274320"/>
          </a:xfrm>
          <a:prstGeom prst="rect">
            <a:avLst/>
          </a:prstGeom>
          <a:noFill/>
          <a:ln/>
        </p:spPr>
        <p:txBody>
          <a:bodyPr wrap="square" lIns="0" tIns="0" rIns="0" bIns="0" rtlCol="0" anchor="ctr"/>
          <a:lstStyle/>
          <a:p>
            <a:pPr marL="0" indent="0">
              <a:buNone/>
            </a:pPr>
            <a:r>
              <a:rPr lang="en-US" sz="1050" dirty="0">
                <a:solidFill>
                  <a:srgbClr val="7A8F86"/>
                </a:solidFill>
                <a:latin typeface="Malgun Gothic" pitchFamily="34" charset="0"/>
                <a:ea typeface="Malgun Gothic" pitchFamily="34" charset="-122"/>
                <a:cs typeface="Malgun Gothic" pitchFamily="34" charset="-120"/>
              </a:rPr>
              <a:t>평일 Bread Market 할인과 배당 쿠폰은 중복 적용되지 않습니다.</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프로토타입 시연</a:t>
            </a:r>
            <a:endParaRPr lang="en-US" sz="1050" dirty="0"/>
          </a:p>
        </p:txBody>
      </p:sp>
      <p:sp>
        <p:nvSpPr>
          <p:cNvPr id="4" name="Shape 2"/>
          <p:cNvSpPr/>
          <p:nvPr/>
        </p:nvSpPr>
        <p:spPr>
          <a:xfrm>
            <a:off x="4160520" y="301752"/>
            <a:ext cx="960120" cy="265176"/>
          </a:xfrm>
          <a:prstGeom prst="roundRect">
            <a:avLst>
              <a:gd name="adj" fmla="val 48276"/>
            </a:avLst>
          </a:prstGeom>
          <a:solidFill>
            <a:srgbClr val="F6F0E6"/>
          </a:solidFill>
          <a:ln w="12700">
            <a:solidFill>
              <a:srgbClr val="C85B35"/>
            </a:solidFill>
            <a:prstDash val="solid"/>
          </a:ln>
        </p:spPr>
      </p:sp>
      <p:sp>
        <p:nvSpPr>
          <p:cNvPr id="5" name="Text 3"/>
          <p:cNvSpPr txBox="1"/>
          <p:nvPr/>
        </p:nvSpPr>
        <p:spPr>
          <a:xfrm>
            <a:off x="4160520" y="301752"/>
            <a:ext cx="960120" cy="265176"/>
          </a:xfrm>
          <a:prstGeom prst="rect">
            <a:avLst/>
          </a:prstGeom>
          <a:noFill/>
          <a:ln/>
        </p:spPr>
        <p:txBody>
          <a:bodyPr wrap="square" lIns="0" tIns="0" rIns="0" bIns="0" rtlCol="0" anchor="ctr"/>
          <a:lstStyle/>
          <a:p>
            <a:pPr marL="0" indent="0" algn="ctr">
              <a:buNone/>
            </a:pPr>
            <a:r>
              <a:rPr lang="en-US" sz="900" b="1" dirty="0">
                <a:solidFill>
                  <a:srgbClr val="C85B35"/>
                </a:solidFill>
                <a:latin typeface="Malgun Gothic" pitchFamily="34" charset="0"/>
                <a:ea typeface="Malgun Gothic" pitchFamily="34" charset="-122"/>
                <a:cs typeface="Malgun Gothic" pitchFamily="34" charset="-120"/>
              </a:rPr>
              <a:t>RFP 04 대응</a:t>
            </a:r>
            <a:endParaRPr lang="en-US" sz="900" dirty="0"/>
          </a:p>
        </p:txBody>
      </p:sp>
      <p:sp>
        <p:nvSpPr>
          <p:cNvPr id="6" name="Shape 4"/>
          <p:cNvSpPr/>
          <p:nvPr/>
        </p:nvSpPr>
        <p:spPr>
          <a:xfrm>
            <a:off x="7818120" y="301752"/>
            <a:ext cx="987552" cy="265176"/>
          </a:xfrm>
          <a:prstGeom prst="roundRect">
            <a:avLst>
              <a:gd name="adj" fmla="val 48276"/>
            </a:avLst>
          </a:prstGeom>
          <a:solidFill>
            <a:srgbClr val="123F34"/>
          </a:solidFill>
          <a:ln w="12700">
            <a:solidFill>
              <a:srgbClr val="123F34"/>
            </a:solidFill>
            <a:prstDash val="solid"/>
          </a:ln>
        </p:spPr>
      </p:sp>
      <p:sp>
        <p:nvSpPr>
          <p:cNvPr id="7" name="Text 5"/>
          <p:cNvSpPr txBox="1"/>
          <p:nvPr/>
        </p:nvSpPr>
        <p:spPr>
          <a:xfrm>
            <a:off x="7818120"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빵시장</a:t>
            </a:r>
            <a:endParaRPr lang="en-US" sz="900" dirty="0"/>
          </a:p>
        </p:txBody>
      </p:sp>
      <p:sp>
        <p:nvSpPr>
          <p:cNvPr id="8" name="Text 6"/>
          <p:cNvSpPr txBox="1"/>
          <p:nvPr/>
        </p:nvSpPr>
        <p:spPr>
          <a:xfrm>
            <a:off x="8805672"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9" name="Shape 7"/>
          <p:cNvSpPr/>
          <p:nvPr/>
        </p:nvSpPr>
        <p:spPr>
          <a:xfrm>
            <a:off x="8988552" y="301752"/>
            <a:ext cx="987552" cy="265176"/>
          </a:xfrm>
          <a:prstGeom prst="roundRect">
            <a:avLst>
              <a:gd name="adj" fmla="val 48276"/>
            </a:avLst>
          </a:prstGeom>
          <a:solidFill>
            <a:srgbClr val="123F34"/>
          </a:solidFill>
          <a:ln w="12700">
            <a:solidFill>
              <a:srgbClr val="123F34"/>
            </a:solidFill>
            <a:prstDash val="solid"/>
          </a:ln>
        </p:spPr>
      </p:sp>
      <p:sp>
        <p:nvSpPr>
          <p:cNvPr id="10" name="Text 8"/>
          <p:cNvSpPr txBox="1"/>
          <p:nvPr/>
        </p:nvSpPr>
        <p:spPr>
          <a:xfrm>
            <a:off x="8988552"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포트폴리오</a:t>
            </a:r>
            <a:endParaRPr lang="en-US" sz="900" dirty="0"/>
          </a:p>
        </p:txBody>
      </p:sp>
      <p:sp>
        <p:nvSpPr>
          <p:cNvPr id="11" name="Text 9"/>
          <p:cNvSpPr txBox="1"/>
          <p:nvPr/>
        </p:nvSpPr>
        <p:spPr>
          <a:xfrm>
            <a:off x="9976104" y="283464"/>
            <a:ext cx="182880" cy="274320"/>
          </a:xfrm>
          <a:prstGeom prst="rect">
            <a:avLst/>
          </a:prstGeom>
          <a:noFill/>
          <a:ln/>
        </p:spPr>
        <p:txBody>
          <a:bodyPr wrap="square" lIns="0" tIns="0" rIns="0" bIns="0" rtlCol="0" anchor="ctr"/>
          <a:lstStyle/>
          <a:p>
            <a:pPr marL="0" indent="0" algn="ctr">
              <a:buNone/>
            </a:pPr>
            <a:r>
              <a:rPr lang="en-US" sz="1200" dirty="0">
                <a:solidFill>
                  <a:srgbClr val="7A8F86"/>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10158984" y="301752"/>
            <a:ext cx="987552" cy="265176"/>
          </a:xfrm>
          <a:prstGeom prst="roundRect">
            <a:avLst>
              <a:gd name="adj" fmla="val 48276"/>
            </a:avLst>
          </a:prstGeom>
          <a:solidFill>
            <a:srgbClr val="123F34"/>
          </a:solidFill>
          <a:ln w="12700">
            <a:solidFill>
              <a:srgbClr val="123F34"/>
            </a:solidFill>
            <a:prstDash val="solid"/>
          </a:ln>
        </p:spPr>
      </p:sp>
      <p:sp>
        <p:nvSpPr>
          <p:cNvPr id="13" name="Text 11"/>
          <p:cNvSpPr txBox="1"/>
          <p:nvPr/>
        </p:nvSpPr>
        <p:spPr>
          <a:xfrm>
            <a:off x="10158984" y="301752"/>
            <a:ext cx="987552" cy="265176"/>
          </a:xfrm>
          <a:prstGeom prst="rect">
            <a:avLst/>
          </a:prstGeom>
          <a:noFill/>
          <a:ln/>
        </p:spPr>
        <p:txBody>
          <a:bodyPr wrap="square" lIns="0" tIns="0" rIns="0" bIns="0" rtlCol="0" anchor="ctr"/>
          <a:lstStyle/>
          <a:p>
            <a:pPr marL="0" indent="0" algn="ctr">
              <a:buNone/>
            </a:pPr>
            <a:r>
              <a:rPr lang="en-US" sz="900" b="1" dirty="0">
                <a:solidFill>
                  <a:srgbClr val="F6F0E6"/>
                </a:solidFill>
                <a:latin typeface="Malgun Gothic" pitchFamily="34" charset="0"/>
                <a:ea typeface="Malgun Gothic" pitchFamily="34" charset="-122"/>
                <a:cs typeface="Malgun Gothic" pitchFamily="34" charset="-120"/>
              </a:rPr>
              <a:t>주말배당</a:t>
            </a:r>
            <a:endParaRPr lang="en-US" sz="900" dirty="0"/>
          </a:p>
        </p:txBody>
      </p:sp>
      <p:sp>
        <p:nvSpPr>
          <p:cNvPr id="14" name="Text 1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11</a:t>
            </a:r>
            <a:endParaRPr lang="en-US" sz="1050" dirty="0"/>
          </a:p>
        </p:txBody>
      </p:sp>
      <p:sp>
        <p:nvSpPr>
          <p:cNvPr id="15" name="Text 1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프로토타입은 시장 시간에 따라 화면이 바뀝니다</a:t>
            </a:r>
            <a:endParaRPr lang="en-US" sz="2600" dirty="0"/>
          </a:p>
        </p:txBody>
      </p:sp>
      <p:sp>
        <p:nvSpPr>
          <p:cNvPr id="16" name="Text 1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평일 거래일에는 Bread Market이, 휴장일에는 Weekend Dividend가 열립니다.</a:t>
            </a:r>
            <a:endParaRPr lang="en-US" sz="1350" dirty="0"/>
          </a:p>
        </p:txBody>
      </p:sp>
      <p:sp>
        <p:nvSpPr>
          <p:cNvPr id="17" name="Shape 15"/>
          <p:cNvSpPr/>
          <p:nvPr/>
        </p:nvSpPr>
        <p:spPr>
          <a:xfrm>
            <a:off x="612648" y="1783080"/>
            <a:ext cx="3383280" cy="4343400"/>
          </a:xfrm>
          <a:prstGeom prst="roundRect">
            <a:avLst>
              <a:gd name="adj" fmla="val 3243"/>
            </a:avLst>
          </a:prstGeom>
          <a:solidFill>
            <a:srgbClr val="123F34"/>
          </a:solidFill>
          <a:ln/>
        </p:spPr>
      </p:sp>
      <p:sp>
        <p:nvSpPr>
          <p:cNvPr id="18" name="Shape 16"/>
          <p:cNvSpPr/>
          <p:nvPr/>
        </p:nvSpPr>
        <p:spPr>
          <a:xfrm>
            <a:off x="886968" y="2011680"/>
            <a:ext cx="502920" cy="502920"/>
          </a:xfrm>
          <a:prstGeom prst="ellipse">
            <a:avLst/>
          </a:prstGeom>
          <a:solidFill>
            <a:srgbClr val="C85B35"/>
          </a:solidFill>
          <a:ln/>
        </p:spPr>
      </p:sp>
      <p:pic>
        <p:nvPicPr>
          <p:cNvPr id="19" name="Image 0" descr="preencoded.png"/>
          <p:cNvPicPr>
            <a:picLocks noChangeAspect="1"/>
          </p:cNvPicPr>
          <p:nvPr/>
        </p:nvPicPr>
        <p:blipFill>
          <a:blip r:embed="rId3"/>
          <a:stretch>
            <a:fillRect/>
          </a:stretch>
        </p:blipFill>
        <p:spPr>
          <a:xfrm>
            <a:off x="1022756" y="2147468"/>
            <a:ext cx="231343" cy="231343"/>
          </a:xfrm>
          <a:prstGeom prst="rect">
            <a:avLst/>
          </a:prstGeom>
        </p:spPr>
      </p:pic>
      <p:sp>
        <p:nvSpPr>
          <p:cNvPr id="20" name="Text 17"/>
          <p:cNvSpPr txBox="1"/>
          <p:nvPr/>
        </p:nvSpPr>
        <p:spPr>
          <a:xfrm>
            <a:off x="1527048" y="2011680"/>
            <a:ext cx="2286000" cy="502920"/>
          </a:xfrm>
          <a:prstGeom prst="rect">
            <a:avLst/>
          </a:prstGeom>
          <a:noFill/>
          <a:ln/>
        </p:spPr>
        <p:txBody>
          <a:bodyPr wrap="square" lIns="0" tIns="0" rIns="0" bIns="0" rtlCol="0" anchor="ctr"/>
          <a:lstStyle/>
          <a:p>
            <a:pPr marL="0" indent="0">
              <a:buNone/>
            </a:pPr>
            <a:r>
              <a:rPr lang="en-US" sz="1500" b="1" kern="0" spc="100" dirty="0">
                <a:solidFill>
                  <a:srgbClr val="F6F0E6"/>
                </a:solidFill>
                <a:latin typeface="Malgun Gothic" pitchFamily="34" charset="0"/>
                <a:ea typeface="Malgun Gothic" pitchFamily="34" charset="-122"/>
                <a:cs typeface="Malgun Gothic" pitchFamily="34" charset="-120"/>
              </a:rPr>
              <a:t>LIVE DEMO</a:t>
            </a:r>
            <a:endParaRPr lang="en-US" sz="1500" dirty="0"/>
          </a:p>
        </p:txBody>
      </p:sp>
      <p:sp>
        <p:nvSpPr>
          <p:cNvPr id="21" name="Text 18"/>
          <p:cNvSpPr txBox="1"/>
          <p:nvPr/>
        </p:nvSpPr>
        <p:spPr>
          <a:xfrm>
            <a:off x="886968" y="2834640"/>
            <a:ext cx="365760" cy="365760"/>
          </a:xfrm>
          <a:prstGeom prst="rect">
            <a:avLst/>
          </a:prstGeom>
          <a:noFill/>
          <a:ln/>
        </p:spPr>
        <p:txBody>
          <a:bodyPr wrap="square" lIns="0" tIns="0" rIns="0" bIns="0" rtlCol="0" anchor="t"/>
          <a:lstStyle/>
          <a:p>
            <a:pPr marL="0" indent="0">
              <a:buNone/>
            </a:pPr>
            <a:r>
              <a:rPr lang="en-US" sz="2000" b="1" dirty="0">
                <a:solidFill>
                  <a:srgbClr val="F0A583"/>
                </a:solidFill>
                <a:latin typeface="Malgun Gothic" pitchFamily="34" charset="0"/>
                <a:ea typeface="Malgun Gothic" pitchFamily="34" charset="-122"/>
                <a:cs typeface="Malgun Gothic" pitchFamily="34" charset="-120"/>
              </a:rPr>
              <a:t>1</a:t>
            </a:r>
            <a:endParaRPr lang="en-US" sz="2000" dirty="0"/>
          </a:p>
        </p:txBody>
      </p:sp>
      <p:sp>
        <p:nvSpPr>
          <p:cNvPr id="22" name="Text 19"/>
          <p:cNvSpPr txBox="1"/>
          <p:nvPr/>
        </p:nvSpPr>
        <p:spPr>
          <a:xfrm>
            <a:off x="1344168" y="2834640"/>
            <a:ext cx="2468880" cy="365760"/>
          </a:xfrm>
          <a:prstGeom prst="rect">
            <a:avLst/>
          </a:prstGeom>
          <a:noFill/>
          <a:ln/>
        </p:spPr>
        <p:txBody>
          <a:bodyPr wrap="square" lIns="0" tIns="0" rIns="0" bIns="0" rtlCol="0" anchor="ctr"/>
          <a:lstStyle/>
          <a:p>
            <a:pPr marL="0" indent="0">
              <a:buNone/>
            </a:pPr>
            <a:r>
              <a:rPr lang="en-US" sz="1400" b="1" dirty="0">
                <a:solidFill>
                  <a:srgbClr val="F6F0E6"/>
                </a:solidFill>
                <a:latin typeface="Malgun Gothic" pitchFamily="34" charset="0"/>
                <a:ea typeface="Malgun Gothic" pitchFamily="34" charset="-122"/>
                <a:cs typeface="Malgun Gothic" pitchFamily="34" charset="-120"/>
              </a:rPr>
              <a:t>오늘의 빵장</a:t>
            </a:r>
            <a:endParaRPr lang="en-US" sz="1400" dirty="0"/>
          </a:p>
        </p:txBody>
      </p:sp>
      <p:sp>
        <p:nvSpPr>
          <p:cNvPr id="23" name="Text 20"/>
          <p:cNvSpPr txBox="1"/>
          <p:nvPr/>
        </p:nvSpPr>
        <p:spPr>
          <a:xfrm>
            <a:off x="1344168" y="3218688"/>
            <a:ext cx="2560320" cy="320040"/>
          </a:xfrm>
          <a:prstGeom prst="rect">
            <a:avLst/>
          </a:prstGeom>
          <a:noFill/>
          <a:ln/>
        </p:spPr>
        <p:txBody>
          <a:bodyPr wrap="square" lIns="0" tIns="0" rIns="0" bIns="0" rtlCol="0" anchor="t"/>
          <a:lstStyle/>
          <a:p>
            <a:pPr marL="0" indent="0">
              <a:buNone/>
            </a:pPr>
            <a:r>
              <a:rPr lang="en-US" sz="1100" dirty="0">
                <a:solidFill>
                  <a:srgbClr val="D5E2DC"/>
                </a:solidFill>
                <a:latin typeface="Malgun Gothic" pitchFamily="34" charset="0"/>
                <a:ea typeface="Malgun Gothic" pitchFamily="34" charset="-122"/>
                <a:cs typeface="Malgun Gothic" pitchFamily="34" charset="-120"/>
              </a:rPr>
              <a:t>종가 · 할인율 · 남은 수량 확인</a:t>
            </a:r>
            <a:endParaRPr lang="en-US" sz="1100" dirty="0"/>
          </a:p>
        </p:txBody>
      </p:sp>
      <p:sp>
        <p:nvSpPr>
          <p:cNvPr id="24" name="Text 21"/>
          <p:cNvSpPr txBox="1"/>
          <p:nvPr/>
        </p:nvSpPr>
        <p:spPr>
          <a:xfrm>
            <a:off x="886968" y="3858768"/>
            <a:ext cx="365760" cy="365760"/>
          </a:xfrm>
          <a:prstGeom prst="rect">
            <a:avLst/>
          </a:prstGeom>
          <a:noFill/>
          <a:ln/>
        </p:spPr>
        <p:txBody>
          <a:bodyPr wrap="square" lIns="0" tIns="0" rIns="0" bIns="0" rtlCol="0" anchor="t"/>
          <a:lstStyle/>
          <a:p>
            <a:pPr marL="0" indent="0">
              <a:buNone/>
            </a:pPr>
            <a:r>
              <a:rPr lang="en-US" sz="2000" b="1" dirty="0">
                <a:solidFill>
                  <a:srgbClr val="F0A583"/>
                </a:solidFill>
                <a:latin typeface="Malgun Gothic" pitchFamily="34" charset="0"/>
                <a:ea typeface="Malgun Gothic" pitchFamily="34" charset="-122"/>
                <a:cs typeface="Malgun Gothic" pitchFamily="34" charset="-120"/>
              </a:rPr>
              <a:t>2</a:t>
            </a:r>
            <a:endParaRPr lang="en-US" sz="2000" dirty="0"/>
          </a:p>
        </p:txBody>
      </p:sp>
      <p:sp>
        <p:nvSpPr>
          <p:cNvPr id="25" name="Text 22"/>
          <p:cNvSpPr txBox="1"/>
          <p:nvPr/>
        </p:nvSpPr>
        <p:spPr>
          <a:xfrm>
            <a:off x="1344168" y="3858768"/>
            <a:ext cx="2468880" cy="365760"/>
          </a:xfrm>
          <a:prstGeom prst="rect">
            <a:avLst/>
          </a:prstGeom>
          <a:noFill/>
          <a:ln/>
        </p:spPr>
        <p:txBody>
          <a:bodyPr wrap="square" lIns="0" tIns="0" rIns="0" bIns="0" rtlCol="0" anchor="ctr"/>
          <a:lstStyle/>
          <a:p>
            <a:pPr marL="0" indent="0">
              <a:buNone/>
            </a:pPr>
            <a:r>
              <a:rPr lang="en-US" sz="1400" b="1" dirty="0">
                <a:solidFill>
                  <a:srgbClr val="F6F0E6"/>
                </a:solidFill>
                <a:latin typeface="Malgun Gothic" pitchFamily="34" charset="0"/>
                <a:ea typeface="Malgun Gothic" pitchFamily="34" charset="-122"/>
                <a:cs typeface="Malgun Gothic" pitchFamily="34" charset="-120"/>
              </a:rPr>
              <a:t>관심빵 담기</a:t>
            </a:r>
            <a:endParaRPr lang="en-US" sz="1400" dirty="0"/>
          </a:p>
        </p:txBody>
      </p:sp>
      <p:sp>
        <p:nvSpPr>
          <p:cNvPr id="26" name="Text 23"/>
          <p:cNvSpPr txBox="1"/>
          <p:nvPr/>
        </p:nvSpPr>
        <p:spPr>
          <a:xfrm>
            <a:off x="1344168" y="4242816"/>
            <a:ext cx="2560320" cy="320040"/>
          </a:xfrm>
          <a:prstGeom prst="rect">
            <a:avLst/>
          </a:prstGeom>
          <a:noFill/>
          <a:ln/>
        </p:spPr>
        <p:txBody>
          <a:bodyPr wrap="square" lIns="0" tIns="0" rIns="0" bIns="0" rtlCol="0" anchor="t"/>
          <a:lstStyle/>
          <a:p>
            <a:pPr marL="0" indent="0">
              <a:buNone/>
            </a:pPr>
            <a:r>
              <a:rPr lang="en-US" sz="1100" dirty="0">
                <a:solidFill>
                  <a:srgbClr val="D5E2DC"/>
                </a:solidFill>
                <a:latin typeface="Malgun Gothic" pitchFamily="34" charset="0"/>
                <a:ea typeface="Malgun Gothic" pitchFamily="34" charset="-122"/>
                <a:cs typeface="Malgun Gothic" pitchFamily="34" charset="-120"/>
              </a:rPr>
              <a:t>하트 한 번 → 포트폴리오 반영</a:t>
            </a:r>
            <a:endParaRPr lang="en-US" sz="1100" dirty="0"/>
          </a:p>
        </p:txBody>
      </p:sp>
      <p:sp>
        <p:nvSpPr>
          <p:cNvPr id="27" name="Text 24"/>
          <p:cNvSpPr txBox="1"/>
          <p:nvPr/>
        </p:nvSpPr>
        <p:spPr>
          <a:xfrm>
            <a:off x="886968" y="4882896"/>
            <a:ext cx="365760" cy="365760"/>
          </a:xfrm>
          <a:prstGeom prst="rect">
            <a:avLst/>
          </a:prstGeom>
          <a:noFill/>
          <a:ln/>
        </p:spPr>
        <p:txBody>
          <a:bodyPr wrap="square" lIns="0" tIns="0" rIns="0" bIns="0" rtlCol="0" anchor="t"/>
          <a:lstStyle/>
          <a:p>
            <a:pPr marL="0" indent="0">
              <a:buNone/>
            </a:pPr>
            <a:r>
              <a:rPr lang="en-US" sz="2000" b="1" dirty="0">
                <a:solidFill>
                  <a:srgbClr val="F0A583"/>
                </a:solidFill>
                <a:latin typeface="Malgun Gothic" pitchFamily="34" charset="0"/>
                <a:ea typeface="Malgun Gothic" pitchFamily="34" charset="-122"/>
                <a:cs typeface="Malgun Gothic" pitchFamily="34" charset="-120"/>
              </a:rPr>
              <a:t>3</a:t>
            </a:r>
            <a:endParaRPr lang="en-US" sz="2000" dirty="0"/>
          </a:p>
        </p:txBody>
      </p:sp>
      <p:sp>
        <p:nvSpPr>
          <p:cNvPr id="28" name="Text 25"/>
          <p:cNvSpPr txBox="1"/>
          <p:nvPr/>
        </p:nvSpPr>
        <p:spPr>
          <a:xfrm>
            <a:off x="1344168" y="4882896"/>
            <a:ext cx="2468880" cy="365760"/>
          </a:xfrm>
          <a:prstGeom prst="rect">
            <a:avLst/>
          </a:prstGeom>
          <a:noFill/>
          <a:ln/>
        </p:spPr>
        <p:txBody>
          <a:bodyPr wrap="square" lIns="0" tIns="0" rIns="0" bIns="0" rtlCol="0" anchor="ctr"/>
          <a:lstStyle/>
          <a:p>
            <a:pPr marL="0" indent="0">
              <a:buNone/>
            </a:pPr>
            <a:r>
              <a:rPr lang="en-US" sz="1400" b="1" dirty="0">
                <a:solidFill>
                  <a:srgbClr val="F6F0E6"/>
                </a:solidFill>
                <a:latin typeface="Malgun Gothic" pitchFamily="34" charset="0"/>
                <a:ea typeface="Malgun Gothic" pitchFamily="34" charset="-122"/>
                <a:cs typeface="Malgun Gothic" pitchFamily="34" charset="-120"/>
              </a:rPr>
              <a:t>주말 배당</a:t>
            </a:r>
            <a:endParaRPr lang="en-US" sz="1400" dirty="0"/>
          </a:p>
        </p:txBody>
      </p:sp>
      <p:sp>
        <p:nvSpPr>
          <p:cNvPr id="29" name="Text 26"/>
          <p:cNvSpPr txBox="1"/>
          <p:nvPr/>
        </p:nvSpPr>
        <p:spPr>
          <a:xfrm>
            <a:off x="1344168" y="5266944"/>
            <a:ext cx="2560320" cy="320040"/>
          </a:xfrm>
          <a:prstGeom prst="rect">
            <a:avLst/>
          </a:prstGeom>
          <a:noFill/>
          <a:ln/>
        </p:spPr>
        <p:txBody>
          <a:bodyPr wrap="square" lIns="0" tIns="0" rIns="0" bIns="0" rtlCol="0" anchor="t"/>
          <a:lstStyle/>
          <a:p>
            <a:pPr marL="0" indent="0">
              <a:buNone/>
            </a:pPr>
            <a:r>
              <a:rPr lang="en-US" sz="1100" dirty="0">
                <a:solidFill>
                  <a:srgbClr val="D5E2DC"/>
                </a:solidFill>
                <a:latin typeface="Malgun Gothic" pitchFamily="34" charset="0"/>
                <a:ea typeface="Malgun Gothic" pitchFamily="34" charset="-122"/>
                <a:cs typeface="Malgun Gothic" pitchFamily="34" charset="-120"/>
              </a:rPr>
              <a:t>주간 점수 → 이번 주 배당 확인</a:t>
            </a:r>
            <a:endParaRPr lang="en-US" sz="1100" dirty="0"/>
          </a:p>
        </p:txBody>
      </p:sp>
      <p:sp>
        <p:nvSpPr>
          <p:cNvPr id="30" name="Shape 27"/>
          <p:cNvSpPr/>
          <p:nvPr/>
        </p:nvSpPr>
        <p:spPr>
          <a:xfrm>
            <a:off x="4251960" y="1783080"/>
            <a:ext cx="3977640" cy="4343400"/>
          </a:xfrm>
          <a:prstGeom prst="roundRect">
            <a:avLst>
              <a:gd name="adj" fmla="val 2759"/>
            </a:avLst>
          </a:prstGeom>
          <a:solidFill>
            <a:srgbClr val="FFFFFF"/>
          </a:solidFill>
          <a:ln/>
          <a:effectLst>
            <a:outerShdw blurRad="101600" dist="25400" dir="5400000" algn="bl" rotWithShape="0">
              <a:srgbClr val="123F34">
                <a:alpha val="12000"/>
              </a:srgbClr>
            </a:outerShdw>
          </a:effectLst>
        </p:spPr>
      </p:sp>
      <p:pic>
        <p:nvPicPr>
          <p:cNvPr id="31" name="Image 1" descr="preencoded.png"/>
          <p:cNvPicPr>
            <a:picLocks noChangeAspect="1"/>
          </p:cNvPicPr>
          <p:nvPr/>
        </p:nvPicPr>
        <p:blipFill>
          <a:blip r:embed="rId4"/>
          <a:stretch>
            <a:fillRect/>
          </a:stretch>
        </p:blipFill>
        <p:spPr>
          <a:xfrm>
            <a:off x="4389120" y="1892808"/>
            <a:ext cx="3641093" cy="4023360"/>
          </a:xfrm>
          <a:prstGeom prst="rect">
            <a:avLst/>
          </a:prstGeom>
        </p:spPr>
      </p:pic>
      <p:sp>
        <p:nvSpPr>
          <p:cNvPr id="32" name="Shape 28"/>
          <p:cNvSpPr/>
          <p:nvPr/>
        </p:nvSpPr>
        <p:spPr>
          <a:xfrm>
            <a:off x="8412480" y="1783080"/>
            <a:ext cx="3172968" cy="4343400"/>
          </a:xfrm>
          <a:prstGeom prst="roundRect">
            <a:avLst>
              <a:gd name="adj" fmla="val 3458"/>
            </a:avLst>
          </a:prstGeom>
          <a:solidFill>
            <a:srgbClr val="FFFFFF"/>
          </a:solidFill>
          <a:ln/>
          <a:effectLst>
            <a:outerShdw blurRad="101600" dist="25400" dir="5400000" algn="bl" rotWithShape="0">
              <a:srgbClr val="123F34">
                <a:alpha val="12000"/>
              </a:srgbClr>
            </a:outerShdw>
          </a:effectLst>
        </p:spPr>
      </p:sp>
      <p:pic>
        <p:nvPicPr>
          <p:cNvPr id="33" name="Image 2" descr="preencoded.png"/>
          <p:cNvPicPr>
            <a:picLocks noChangeAspect="1"/>
          </p:cNvPicPr>
          <p:nvPr/>
        </p:nvPicPr>
        <p:blipFill>
          <a:blip r:embed="rId5"/>
          <a:stretch>
            <a:fillRect/>
          </a:stretch>
        </p:blipFill>
        <p:spPr>
          <a:xfrm>
            <a:off x="8481845" y="1892808"/>
            <a:ext cx="3034238" cy="4023360"/>
          </a:xfrm>
          <a:prstGeom prst="rect">
            <a:avLst/>
          </a:prstGeom>
        </p:spPr>
      </p:pic>
      <p:sp>
        <p:nvSpPr>
          <p:cNvPr id="34" name="Text 29"/>
          <p:cNvSpPr txBox="1"/>
          <p:nvPr/>
        </p:nvSpPr>
        <p:spPr>
          <a:xfrm>
            <a:off x="4251960" y="6199632"/>
            <a:ext cx="3977640" cy="256032"/>
          </a:xfrm>
          <a:prstGeom prst="rect">
            <a:avLst/>
          </a:prstGeom>
          <a:noFill/>
          <a:ln/>
        </p:spPr>
        <p:txBody>
          <a:bodyPr wrap="square" lIns="0" tIns="0" rIns="0" bIns="0" rtlCol="0" anchor="t"/>
          <a:lstStyle/>
          <a:p>
            <a:pPr marL="0" indent="0" algn="ctr">
              <a:buNone/>
            </a:pPr>
            <a:r>
              <a:rPr lang="en-US" sz="1050" b="1" dirty="0">
                <a:solidFill>
                  <a:srgbClr val="123F34"/>
                </a:solidFill>
                <a:latin typeface="Malgun Gothic" pitchFamily="34" charset="0"/>
                <a:ea typeface="Malgun Gothic" pitchFamily="34" charset="-122"/>
                <a:cs typeface="Malgun Gothic" pitchFamily="34" charset="-120"/>
              </a:rPr>
              <a:t>평일 · BREAD MARKET</a:t>
            </a:r>
            <a:endParaRPr lang="en-US" sz="1050" dirty="0"/>
          </a:p>
        </p:txBody>
      </p:sp>
      <p:sp>
        <p:nvSpPr>
          <p:cNvPr id="35" name="Text 30"/>
          <p:cNvSpPr txBox="1"/>
          <p:nvPr/>
        </p:nvSpPr>
        <p:spPr>
          <a:xfrm>
            <a:off x="8412480" y="6199632"/>
            <a:ext cx="3172968" cy="256032"/>
          </a:xfrm>
          <a:prstGeom prst="rect">
            <a:avLst/>
          </a:prstGeom>
          <a:noFill/>
          <a:ln/>
        </p:spPr>
        <p:txBody>
          <a:bodyPr wrap="square" lIns="0" tIns="0" rIns="0" bIns="0" rtlCol="0" anchor="t"/>
          <a:lstStyle/>
          <a:p>
            <a:pPr marL="0" indent="0" algn="ctr">
              <a:buNone/>
            </a:pPr>
            <a:r>
              <a:rPr lang="en-US" sz="1050" b="1" dirty="0">
                <a:solidFill>
                  <a:srgbClr val="123F34"/>
                </a:solidFill>
                <a:latin typeface="Malgun Gothic" pitchFamily="34" charset="0"/>
                <a:ea typeface="Malgun Gothic" pitchFamily="34" charset="-122"/>
                <a:cs typeface="Malgun Gothic" pitchFamily="34" charset="-120"/>
              </a:rPr>
              <a:t>휴장일 · WEEKEND DIVIDEND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고객 핵심가치</a:t>
            </a:r>
            <a:endParaRPr lang="en-US" sz="1050" dirty="0"/>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12</a:t>
            </a:r>
            <a:endParaRPr lang="en-US" sz="1050" dirty="0"/>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고객에게는 할인이 아니라, 매일 확인하고 싶은 이야기입니다</a:t>
            </a:r>
            <a:endParaRPr lang="en-US" sz="2600" dirty="0"/>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일반 할인·적립과 무엇이 다른가 — 세 가지 핵심가치</a:t>
            </a:r>
            <a:endParaRPr lang="en-US" sz="1350" dirty="0"/>
          </a:p>
        </p:txBody>
      </p:sp>
      <p:sp>
        <p:nvSpPr>
          <p:cNvPr id="7" name="Text 5"/>
          <p:cNvSpPr txBox="1"/>
          <p:nvPr/>
        </p:nvSpPr>
        <p:spPr>
          <a:xfrm>
            <a:off x="3611880" y="1783080"/>
            <a:ext cx="3017520" cy="274320"/>
          </a:xfrm>
          <a:prstGeom prst="rect">
            <a:avLst/>
          </a:prstGeom>
          <a:noFill/>
          <a:ln/>
        </p:spPr>
        <p:txBody>
          <a:bodyPr wrap="square" lIns="0" tIns="0" rIns="0" bIns="0" rtlCol="0" anchor="t"/>
          <a:lstStyle/>
          <a:p>
            <a:pPr marL="0" indent="0" algn="ctr">
              <a:buNone/>
            </a:pPr>
            <a:r>
              <a:rPr lang="en-US" sz="1100" b="1" kern="0" spc="100" dirty="0">
                <a:solidFill>
                  <a:srgbClr val="7A8F86"/>
                </a:solidFill>
                <a:latin typeface="Malgun Gothic" pitchFamily="34" charset="0"/>
                <a:ea typeface="Malgun Gothic" pitchFamily="34" charset="-122"/>
                <a:cs typeface="Malgun Gothic" pitchFamily="34" charset="-120"/>
              </a:rPr>
              <a:t>일반 할인 · 적립</a:t>
            </a:r>
            <a:endParaRPr lang="en-US" sz="1100" dirty="0"/>
          </a:p>
        </p:txBody>
      </p:sp>
      <p:sp>
        <p:nvSpPr>
          <p:cNvPr id="8" name="Text 6"/>
          <p:cNvSpPr txBox="1"/>
          <p:nvPr/>
        </p:nvSpPr>
        <p:spPr>
          <a:xfrm>
            <a:off x="7269480" y="1783080"/>
            <a:ext cx="4297680" cy="274320"/>
          </a:xfrm>
          <a:prstGeom prst="rect">
            <a:avLst/>
          </a:prstGeom>
          <a:noFill/>
          <a:ln/>
        </p:spPr>
        <p:txBody>
          <a:bodyPr wrap="square" lIns="0" tIns="0" rIns="0" bIns="0" rtlCol="0" anchor="t"/>
          <a:lstStyle/>
          <a:p>
            <a:pPr marL="0" indent="0" algn="ctr">
              <a:buNone/>
            </a:pPr>
            <a:r>
              <a:rPr lang="en-US" sz="1100" b="1" kern="0" spc="100" dirty="0">
                <a:solidFill>
                  <a:srgbClr val="C85B35"/>
                </a:solidFill>
                <a:latin typeface="Malgun Gothic" pitchFamily="34" charset="0"/>
                <a:ea typeface="Malgun Gothic" pitchFamily="34" charset="-122"/>
                <a:cs typeface="Malgun Gothic" pitchFamily="34" charset="-120"/>
              </a:rPr>
              <a:t>MAKJI BREAD MARKET</a:t>
            </a:r>
            <a:endParaRPr lang="en-US" sz="1100" dirty="0"/>
          </a:p>
        </p:txBody>
      </p:sp>
      <p:sp>
        <p:nvSpPr>
          <p:cNvPr id="9" name="Shape 7"/>
          <p:cNvSpPr/>
          <p:nvPr/>
        </p:nvSpPr>
        <p:spPr>
          <a:xfrm>
            <a:off x="612648" y="2130552"/>
            <a:ext cx="2788920" cy="960120"/>
          </a:xfrm>
          <a:prstGeom prst="roundRect">
            <a:avLst>
              <a:gd name="adj" fmla="val 11429"/>
            </a:avLst>
          </a:prstGeom>
          <a:solidFill>
            <a:srgbClr val="123F34"/>
          </a:solidFill>
          <a:ln/>
        </p:spPr>
      </p:sp>
      <p:sp>
        <p:nvSpPr>
          <p:cNvPr id="10" name="Shape 8"/>
          <p:cNvSpPr/>
          <p:nvPr/>
        </p:nvSpPr>
        <p:spPr>
          <a:xfrm>
            <a:off x="813816" y="2359152"/>
            <a:ext cx="502920" cy="502920"/>
          </a:xfrm>
          <a:prstGeom prst="ellipse">
            <a:avLst/>
          </a:prstGeom>
          <a:solidFill>
            <a:srgbClr val="C85B35"/>
          </a:solidFill>
          <a:ln/>
        </p:spPr>
      </p:sp>
      <p:pic>
        <p:nvPicPr>
          <p:cNvPr id="11" name="Image 0" descr="preencoded.png"/>
          <p:cNvPicPr>
            <a:picLocks noChangeAspect="1"/>
          </p:cNvPicPr>
          <p:nvPr/>
        </p:nvPicPr>
        <p:blipFill>
          <a:blip r:embed="rId3"/>
          <a:stretch>
            <a:fillRect/>
          </a:stretch>
        </p:blipFill>
        <p:spPr>
          <a:xfrm>
            <a:off x="949604" y="2494940"/>
            <a:ext cx="231343" cy="231343"/>
          </a:xfrm>
          <a:prstGeom prst="rect">
            <a:avLst/>
          </a:prstGeom>
        </p:spPr>
      </p:pic>
      <p:sp>
        <p:nvSpPr>
          <p:cNvPr id="12" name="Text 9"/>
          <p:cNvSpPr txBox="1"/>
          <p:nvPr/>
        </p:nvSpPr>
        <p:spPr>
          <a:xfrm>
            <a:off x="1435608" y="2313432"/>
            <a:ext cx="1920240" cy="347472"/>
          </a:xfrm>
          <a:prstGeom prst="rect">
            <a:avLst/>
          </a:prstGeom>
          <a:noFill/>
          <a:ln/>
        </p:spPr>
        <p:txBody>
          <a:bodyPr wrap="square" lIns="0" tIns="0" rIns="0" bIns="0" rtlCol="0" anchor="ctr"/>
          <a:lstStyle/>
          <a:p>
            <a:pPr marL="0" indent="0">
              <a:buNone/>
            </a:pPr>
            <a:r>
              <a:rPr lang="en-US" sz="1350" b="1" dirty="0">
                <a:solidFill>
                  <a:srgbClr val="F6F0E6"/>
                </a:solidFill>
                <a:latin typeface="Malgun Gothic" pitchFamily="34" charset="0"/>
                <a:ea typeface="Malgun Gothic" pitchFamily="34" charset="-122"/>
                <a:cs typeface="Malgun Gothic" pitchFamily="34" charset="-120"/>
              </a:rPr>
              <a:t>오늘 살 이유</a:t>
            </a:r>
            <a:endParaRPr lang="en-US" sz="1350" dirty="0"/>
          </a:p>
        </p:txBody>
      </p:sp>
      <p:sp>
        <p:nvSpPr>
          <p:cNvPr id="13" name="Text 10"/>
          <p:cNvSpPr txBox="1"/>
          <p:nvPr/>
        </p:nvSpPr>
        <p:spPr>
          <a:xfrm>
            <a:off x="1435608" y="2660904"/>
            <a:ext cx="1920240" cy="274320"/>
          </a:xfrm>
          <a:prstGeom prst="rect">
            <a:avLst/>
          </a:prstGeom>
          <a:noFill/>
          <a:ln/>
        </p:spPr>
        <p:txBody>
          <a:bodyPr wrap="square" lIns="0" tIns="0" rIns="0" bIns="0" rtlCol="0" anchor="t"/>
          <a:lstStyle/>
          <a:p>
            <a:pPr marL="0" indent="0">
              <a:buNone/>
            </a:pPr>
            <a:r>
              <a:rPr lang="en-US" sz="1050" dirty="0">
                <a:solidFill>
                  <a:srgbClr val="F0A583"/>
                </a:solidFill>
                <a:latin typeface="Malgun Gothic" pitchFamily="34" charset="0"/>
                <a:ea typeface="Malgun Gothic" pitchFamily="34" charset="-122"/>
                <a:cs typeface="Malgun Gothic" pitchFamily="34" charset="-120"/>
              </a:rPr>
              <a:t>빵시장</a:t>
            </a:r>
            <a:endParaRPr lang="en-US" sz="1050" dirty="0"/>
          </a:p>
        </p:txBody>
      </p:sp>
      <p:sp>
        <p:nvSpPr>
          <p:cNvPr id="14" name="Shape 11"/>
          <p:cNvSpPr/>
          <p:nvPr/>
        </p:nvSpPr>
        <p:spPr>
          <a:xfrm>
            <a:off x="3520440" y="2130552"/>
            <a:ext cx="3108960" cy="960120"/>
          </a:xfrm>
          <a:prstGeom prst="roundRect">
            <a:avLst>
              <a:gd name="adj" fmla="val 11429"/>
            </a:avLst>
          </a:prstGeom>
          <a:solidFill>
            <a:srgbClr val="F6F0E6"/>
          </a:solidFill>
          <a:ln w="15875">
            <a:solidFill>
              <a:srgbClr val="C9D8CF"/>
            </a:solidFill>
            <a:prstDash val="solid"/>
          </a:ln>
        </p:spPr>
      </p:sp>
      <p:sp>
        <p:nvSpPr>
          <p:cNvPr id="15" name="Text 12"/>
          <p:cNvSpPr txBox="1"/>
          <p:nvPr/>
        </p:nvSpPr>
        <p:spPr>
          <a:xfrm>
            <a:off x="3749040" y="2130552"/>
            <a:ext cx="2743200" cy="960120"/>
          </a:xfrm>
          <a:prstGeom prst="rect">
            <a:avLst/>
          </a:prstGeom>
          <a:noFill/>
          <a:ln/>
        </p:spPr>
        <p:txBody>
          <a:bodyPr wrap="square" lIns="0" tIns="0" rIns="0" bIns="0" rtlCol="0" anchor="ctr"/>
          <a:lstStyle/>
          <a:p>
            <a:pPr marL="0" indent="0" algn="ctr">
              <a:buNone/>
            </a:pPr>
            <a:r>
              <a:rPr lang="en-US" sz="1250" dirty="0">
                <a:solidFill>
                  <a:srgbClr val="7A8F86"/>
                </a:solidFill>
                <a:latin typeface="Malgun Gothic" pitchFamily="34" charset="0"/>
                <a:ea typeface="Malgun Gothic" pitchFamily="34" charset="-122"/>
                <a:cs typeface="Malgun Gothic" pitchFamily="34" charset="-120"/>
              </a:rPr>
              <a:t>언제 열릴지 모르는 타임세일</a:t>
            </a:r>
            <a:endParaRPr lang="en-US" sz="1250" dirty="0"/>
          </a:p>
        </p:txBody>
      </p:sp>
      <p:sp>
        <p:nvSpPr>
          <p:cNvPr id="16" name="Text 13"/>
          <p:cNvSpPr txBox="1"/>
          <p:nvPr/>
        </p:nvSpPr>
        <p:spPr>
          <a:xfrm>
            <a:off x="6675120" y="2130552"/>
            <a:ext cx="502920" cy="960120"/>
          </a:xfrm>
          <a:prstGeom prst="rect">
            <a:avLst/>
          </a:prstGeom>
          <a:noFill/>
          <a:ln/>
        </p:spPr>
        <p:txBody>
          <a:bodyPr wrap="square" lIns="0" tIns="0" rIns="0" bIns="0" rtlCol="0" anchor="ctr"/>
          <a:lstStyle/>
          <a:p>
            <a:pPr marL="0" indent="0" algn="ctr">
              <a:buNone/>
            </a:pPr>
            <a:r>
              <a:rPr lang="en-US" sz="2000" b="1" dirty="0">
                <a:solidFill>
                  <a:srgbClr val="C85B35"/>
                </a:solidFill>
                <a:latin typeface="Malgun Gothic" pitchFamily="34" charset="0"/>
                <a:ea typeface="Malgun Gothic" pitchFamily="34" charset="-122"/>
                <a:cs typeface="Malgun Gothic" pitchFamily="34" charset="-120"/>
              </a:rPr>
              <a:t>→</a:t>
            </a:r>
            <a:endParaRPr lang="en-US" sz="2000" dirty="0"/>
          </a:p>
        </p:txBody>
      </p:sp>
      <p:sp>
        <p:nvSpPr>
          <p:cNvPr id="17" name="Shape 14"/>
          <p:cNvSpPr/>
          <p:nvPr/>
        </p:nvSpPr>
        <p:spPr>
          <a:xfrm>
            <a:off x="7223760" y="2130552"/>
            <a:ext cx="4361688"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18" name="Text 15"/>
          <p:cNvSpPr txBox="1"/>
          <p:nvPr/>
        </p:nvSpPr>
        <p:spPr>
          <a:xfrm>
            <a:off x="7452360" y="2130552"/>
            <a:ext cx="4023360" cy="960120"/>
          </a:xfrm>
          <a:prstGeom prst="rect">
            <a:avLst/>
          </a:prstGeom>
          <a:noFill/>
          <a:ln/>
        </p:spPr>
        <p:txBody>
          <a:bodyPr wrap="square" lIns="0" tIns="0" rIns="0" bIns="0" rtlCol="0" anchor="ctr"/>
          <a:lstStyle/>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매일 15:30, 시장이 가격을 정하는 빵장</a:t>
            </a:r>
            <a:endParaRPr lang="en-US" sz="1250" dirty="0"/>
          </a:p>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 확인하는 재미가 습관이 됩니다</a:t>
            </a:r>
            <a:endParaRPr lang="en-US" sz="1250" dirty="0"/>
          </a:p>
        </p:txBody>
      </p:sp>
      <p:sp>
        <p:nvSpPr>
          <p:cNvPr id="19" name="Shape 16"/>
          <p:cNvSpPr/>
          <p:nvPr/>
        </p:nvSpPr>
        <p:spPr>
          <a:xfrm>
            <a:off x="612648" y="3227832"/>
            <a:ext cx="2788920" cy="960120"/>
          </a:xfrm>
          <a:prstGeom prst="roundRect">
            <a:avLst>
              <a:gd name="adj" fmla="val 11429"/>
            </a:avLst>
          </a:prstGeom>
          <a:solidFill>
            <a:srgbClr val="123F34"/>
          </a:solidFill>
          <a:ln/>
        </p:spPr>
      </p:sp>
      <p:sp>
        <p:nvSpPr>
          <p:cNvPr id="20" name="Shape 17"/>
          <p:cNvSpPr/>
          <p:nvPr/>
        </p:nvSpPr>
        <p:spPr>
          <a:xfrm>
            <a:off x="813816" y="3456432"/>
            <a:ext cx="502920" cy="502920"/>
          </a:xfrm>
          <a:prstGeom prst="ellipse">
            <a:avLst/>
          </a:prstGeom>
          <a:solidFill>
            <a:srgbClr val="C85B35"/>
          </a:solidFill>
          <a:ln/>
        </p:spPr>
      </p:sp>
      <p:pic>
        <p:nvPicPr>
          <p:cNvPr id="21" name="Image 1" descr="preencoded.png"/>
          <p:cNvPicPr>
            <a:picLocks noChangeAspect="1"/>
          </p:cNvPicPr>
          <p:nvPr/>
        </p:nvPicPr>
        <p:blipFill>
          <a:blip r:embed="rId4"/>
          <a:stretch>
            <a:fillRect/>
          </a:stretch>
        </p:blipFill>
        <p:spPr>
          <a:xfrm>
            <a:off x="949604" y="3592220"/>
            <a:ext cx="231343" cy="231343"/>
          </a:xfrm>
          <a:prstGeom prst="rect">
            <a:avLst/>
          </a:prstGeom>
        </p:spPr>
      </p:pic>
      <p:sp>
        <p:nvSpPr>
          <p:cNvPr id="22" name="Text 18"/>
          <p:cNvSpPr txBox="1"/>
          <p:nvPr/>
        </p:nvSpPr>
        <p:spPr>
          <a:xfrm>
            <a:off x="1435608" y="3410712"/>
            <a:ext cx="1920240" cy="347472"/>
          </a:xfrm>
          <a:prstGeom prst="rect">
            <a:avLst/>
          </a:prstGeom>
          <a:noFill/>
          <a:ln/>
        </p:spPr>
        <p:txBody>
          <a:bodyPr wrap="square" lIns="0" tIns="0" rIns="0" bIns="0" rtlCol="0" anchor="ctr"/>
          <a:lstStyle/>
          <a:p>
            <a:pPr marL="0" indent="0">
              <a:buNone/>
            </a:pPr>
            <a:r>
              <a:rPr lang="en-US" sz="1350" b="1" dirty="0">
                <a:solidFill>
                  <a:srgbClr val="F6F0E6"/>
                </a:solidFill>
                <a:latin typeface="Malgun Gothic" pitchFamily="34" charset="0"/>
                <a:ea typeface="Malgun Gothic" pitchFamily="34" charset="-122"/>
                <a:cs typeface="Malgun Gothic" pitchFamily="34" charset="-120"/>
              </a:rPr>
              <a:t>나를 기억하는 쇼핑</a:t>
            </a:r>
            <a:endParaRPr lang="en-US" sz="1350" dirty="0"/>
          </a:p>
        </p:txBody>
      </p:sp>
      <p:sp>
        <p:nvSpPr>
          <p:cNvPr id="23" name="Text 19"/>
          <p:cNvSpPr txBox="1"/>
          <p:nvPr/>
        </p:nvSpPr>
        <p:spPr>
          <a:xfrm>
            <a:off x="1435608" y="3758184"/>
            <a:ext cx="1920240" cy="274320"/>
          </a:xfrm>
          <a:prstGeom prst="rect">
            <a:avLst/>
          </a:prstGeom>
          <a:noFill/>
          <a:ln/>
        </p:spPr>
        <p:txBody>
          <a:bodyPr wrap="square" lIns="0" tIns="0" rIns="0" bIns="0" rtlCol="0" anchor="t"/>
          <a:lstStyle/>
          <a:p>
            <a:pPr marL="0" indent="0">
              <a:buNone/>
            </a:pPr>
            <a:r>
              <a:rPr lang="en-US" sz="1050" dirty="0">
                <a:solidFill>
                  <a:srgbClr val="F0A583"/>
                </a:solidFill>
                <a:latin typeface="Malgun Gothic" pitchFamily="34" charset="0"/>
                <a:ea typeface="Malgun Gothic" pitchFamily="34" charset="-122"/>
                <a:cs typeface="Malgun Gothic" pitchFamily="34" charset="-120"/>
              </a:rPr>
              <a:t>포트폴리오</a:t>
            </a:r>
            <a:endParaRPr lang="en-US" sz="1050" dirty="0"/>
          </a:p>
        </p:txBody>
      </p:sp>
      <p:sp>
        <p:nvSpPr>
          <p:cNvPr id="24" name="Shape 20"/>
          <p:cNvSpPr/>
          <p:nvPr/>
        </p:nvSpPr>
        <p:spPr>
          <a:xfrm>
            <a:off x="3520440" y="3227832"/>
            <a:ext cx="3108960" cy="960120"/>
          </a:xfrm>
          <a:prstGeom prst="roundRect">
            <a:avLst>
              <a:gd name="adj" fmla="val 11429"/>
            </a:avLst>
          </a:prstGeom>
          <a:solidFill>
            <a:srgbClr val="F6F0E6"/>
          </a:solidFill>
          <a:ln w="15875">
            <a:solidFill>
              <a:srgbClr val="C9D8CF"/>
            </a:solidFill>
            <a:prstDash val="solid"/>
          </a:ln>
        </p:spPr>
      </p:sp>
      <p:sp>
        <p:nvSpPr>
          <p:cNvPr id="25" name="Text 21"/>
          <p:cNvSpPr txBox="1"/>
          <p:nvPr/>
        </p:nvSpPr>
        <p:spPr>
          <a:xfrm>
            <a:off x="3749040" y="3227832"/>
            <a:ext cx="2743200" cy="960120"/>
          </a:xfrm>
          <a:prstGeom prst="rect">
            <a:avLst/>
          </a:prstGeom>
          <a:noFill/>
          <a:ln/>
        </p:spPr>
        <p:txBody>
          <a:bodyPr wrap="square" lIns="0" tIns="0" rIns="0" bIns="0" rtlCol="0" anchor="ctr"/>
          <a:lstStyle/>
          <a:p>
            <a:pPr marL="0" indent="0" algn="ctr">
              <a:buNone/>
            </a:pPr>
            <a:r>
              <a:rPr lang="en-US" sz="1250" dirty="0">
                <a:solidFill>
                  <a:srgbClr val="7A8F86"/>
                </a:solidFill>
                <a:latin typeface="Malgun Gothic" pitchFamily="34" charset="0"/>
                <a:ea typeface="Malgun Gothic" pitchFamily="34" charset="-122"/>
                <a:cs typeface="Malgun Gothic" pitchFamily="34" charset="-120"/>
              </a:rPr>
              <a:t>산 것만 남는 주문내역</a:t>
            </a:r>
            <a:endParaRPr lang="en-US" sz="1250" dirty="0"/>
          </a:p>
        </p:txBody>
      </p:sp>
      <p:sp>
        <p:nvSpPr>
          <p:cNvPr id="26" name="Text 22"/>
          <p:cNvSpPr txBox="1"/>
          <p:nvPr/>
        </p:nvSpPr>
        <p:spPr>
          <a:xfrm>
            <a:off x="6675120" y="3227832"/>
            <a:ext cx="502920" cy="960120"/>
          </a:xfrm>
          <a:prstGeom prst="rect">
            <a:avLst/>
          </a:prstGeom>
          <a:noFill/>
          <a:ln/>
        </p:spPr>
        <p:txBody>
          <a:bodyPr wrap="square" lIns="0" tIns="0" rIns="0" bIns="0" rtlCol="0" anchor="ctr"/>
          <a:lstStyle/>
          <a:p>
            <a:pPr marL="0" indent="0" algn="ctr">
              <a:buNone/>
            </a:pPr>
            <a:r>
              <a:rPr lang="en-US" sz="2000" b="1" dirty="0">
                <a:solidFill>
                  <a:srgbClr val="C85B35"/>
                </a:solidFill>
                <a:latin typeface="Malgun Gothic" pitchFamily="34" charset="0"/>
                <a:ea typeface="Malgun Gothic" pitchFamily="34" charset="-122"/>
                <a:cs typeface="Malgun Gothic" pitchFamily="34" charset="-120"/>
              </a:rPr>
              <a:t>→</a:t>
            </a:r>
            <a:endParaRPr lang="en-US" sz="2000" dirty="0"/>
          </a:p>
        </p:txBody>
      </p:sp>
      <p:sp>
        <p:nvSpPr>
          <p:cNvPr id="27" name="Shape 23"/>
          <p:cNvSpPr/>
          <p:nvPr/>
        </p:nvSpPr>
        <p:spPr>
          <a:xfrm>
            <a:off x="7223760" y="3227832"/>
            <a:ext cx="4361688"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28" name="Text 24"/>
          <p:cNvSpPr txBox="1"/>
          <p:nvPr/>
        </p:nvSpPr>
        <p:spPr>
          <a:xfrm>
            <a:off x="7452360" y="3227832"/>
            <a:ext cx="4023360" cy="960120"/>
          </a:xfrm>
          <a:prstGeom prst="rect">
            <a:avLst/>
          </a:prstGeom>
          <a:noFill/>
          <a:ln/>
        </p:spPr>
        <p:txBody>
          <a:bodyPr wrap="square" lIns="0" tIns="0" rIns="0" bIns="0" rtlCol="0" anchor="ctr"/>
          <a:lstStyle/>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사지 않은 관심빵까지 기억하고</a:t>
            </a:r>
            <a:endParaRPr lang="en-US" sz="1250" dirty="0"/>
          </a:p>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할인하는 날 먼저 알려줍니다</a:t>
            </a:r>
            <a:endParaRPr lang="en-US" sz="1250" dirty="0"/>
          </a:p>
        </p:txBody>
      </p:sp>
      <p:sp>
        <p:nvSpPr>
          <p:cNvPr id="29" name="Shape 25"/>
          <p:cNvSpPr/>
          <p:nvPr/>
        </p:nvSpPr>
        <p:spPr>
          <a:xfrm>
            <a:off x="612648" y="4325112"/>
            <a:ext cx="2788920" cy="960120"/>
          </a:xfrm>
          <a:prstGeom prst="roundRect">
            <a:avLst>
              <a:gd name="adj" fmla="val 11429"/>
            </a:avLst>
          </a:prstGeom>
          <a:solidFill>
            <a:srgbClr val="123F34"/>
          </a:solidFill>
          <a:ln/>
        </p:spPr>
      </p:sp>
      <p:sp>
        <p:nvSpPr>
          <p:cNvPr id="30" name="Shape 26"/>
          <p:cNvSpPr/>
          <p:nvPr/>
        </p:nvSpPr>
        <p:spPr>
          <a:xfrm>
            <a:off x="813816" y="4553712"/>
            <a:ext cx="502920" cy="502920"/>
          </a:xfrm>
          <a:prstGeom prst="ellipse">
            <a:avLst/>
          </a:prstGeom>
          <a:solidFill>
            <a:srgbClr val="C85B35"/>
          </a:solidFill>
          <a:ln/>
        </p:spPr>
      </p:sp>
      <p:pic>
        <p:nvPicPr>
          <p:cNvPr id="31" name="Image 2" descr="preencoded.png"/>
          <p:cNvPicPr>
            <a:picLocks noChangeAspect="1"/>
          </p:cNvPicPr>
          <p:nvPr/>
        </p:nvPicPr>
        <p:blipFill>
          <a:blip r:embed="rId5"/>
          <a:stretch>
            <a:fillRect/>
          </a:stretch>
        </p:blipFill>
        <p:spPr>
          <a:xfrm>
            <a:off x="949604" y="4689500"/>
            <a:ext cx="231343" cy="231343"/>
          </a:xfrm>
          <a:prstGeom prst="rect">
            <a:avLst/>
          </a:prstGeom>
        </p:spPr>
      </p:pic>
      <p:sp>
        <p:nvSpPr>
          <p:cNvPr id="32" name="Text 27"/>
          <p:cNvSpPr txBox="1"/>
          <p:nvPr/>
        </p:nvSpPr>
        <p:spPr>
          <a:xfrm>
            <a:off x="1435608" y="4507992"/>
            <a:ext cx="1920240" cy="347472"/>
          </a:xfrm>
          <a:prstGeom prst="rect">
            <a:avLst/>
          </a:prstGeom>
          <a:noFill/>
          <a:ln/>
        </p:spPr>
        <p:txBody>
          <a:bodyPr wrap="square" lIns="0" tIns="0" rIns="0" bIns="0" rtlCol="0" anchor="ctr"/>
          <a:lstStyle/>
          <a:p>
            <a:pPr marL="0" indent="0">
              <a:buNone/>
            </a:pPr>
            <a:r>
              <a:rPr lang="en-US" sz="1350" b="1" dirty="0">
                <a:solidFill>
                  <a:srgbClr val="F6F0E6"/>
                </a:solidFill>
                <a:latin typeface="Malgun Gothic" pitchFamily="34" charset="0"/>
                <a:ea typeface="Malgun Gothic" pitchFamily="34" charset="-122"/>
                <a:cs typeface="Malgun Gothic" pitchFamily="34" charset="-120"/>
              </a:rPr>
              <a:t>참여만으로 받는 보상</a:t>
            </a:r>
            <a:endParaRPr lang="en-US" sz="1350" dirty="0"/>
          </a:p>
        </p:txBody>
      </p:sp>
      <p:sp>
        <p:nvSpPr>
          <p:cNvPr id="33" name="Text 28"/>
          <p:cNvSpPr txBox="1"/>
          <p:nvPr/>
        </p:nvSpPr>
        <p:spPr>
          <a:xfrm>
            <a:off x="1435608" y="4855464"/>
            <a:ext cx="1920240" cy="274320"/>
          </a:xfrm>
          <a:prstGeom prst="rect">
            <a:avLst/>
          </a:prstGeom>
          <a:noFill/>
          <a:ln/>
        </p:spPr>
        <p:txBody>
          <a:bodyPr wrap="square" lIns="0" tIns="0" rIns="0" bIns="0" rtlCol="0" anchor="t"/>
          <a:lstStyle/>
          <a:p>
            <a:pPr marL="0" indent="0">
              <a:buNone/>
            </a:pPr>
            <a:r>
              <a:rPr lang="en-US" sz="1050" dirty="0">
                <a:solidFill>
                  <a:srgbClr val="F0A583"/>
                </a:solidFill>
                <a:latin typeface="Malgun Gothic" pitchFamily="34" charset="0"/>
                <a:ea typeface="Malgun Gothic" pitchFamily="34" charset="-122"/>
                <a:cs typeface="Malgun Gothic" pitchFamily="34" charset="-120"/>
              </a:rPr>
              <a:t>주말 배당</a:t>
            </a:r>
            <a:endParaRPr lang="en-US" sz="1050" dirty="0"/>
          </a:p>
        </p:txBody>
      </p:sp>
      <p:sp>
        <p:nvSpPr>
          <p:cNvPr id="34" name="Shape 29"/>
          <p:cNvSpPr/>
          <p:nvPr/>
        </p:nvSpPr>
        <p:spPr>
          <a:xfrm>
            <a:off x="3520440" y="4325112"/>
            <a:ext cx="3108960" cy="960120"/>
          </a:xfrm>
          <a:prstGeom prst="roundRect">
            <a:avLst>
              <a:gd name="adj" fmla="val 11429"/>
            </a:avLst>
          </a:prstGeom>
          <a:solidFill>
            <a:srgbClr val="F6F0E6"/>
          </a:solidFill>
          <a:ln w="15875">
            <a:solidFill>
              <a:srgbClr val="C9D8CF"/>
            </a:solidFill>
            <a:prstDash val="solid"/>
          </a:ln>
        </p:spPr>
      </p:sp>
      <p:sp>
        <p:nvSpPr>
          <p:cNvPr id="35" name="Text 30"/>
          <p:cNvSpPr txBox="1"/>
          <p:nvPr/>
        </p:nvSpPr>
        <p:spPr>
          <a:xfrm>
            <a:off x="3749040" y="4325112"/>
            <a:ext cx="2743200" cy="960120"/>
          </a:xfrm>
          <a:prstGeom prst="rect">
            <a:avLst/>
          </a:prstGeom>
          <a:noFill/>
          <a:ln/>
        </p:spPr>
        <p:txBody>
          <a:bodyPr wrap="square" lIns="0" tIns="0" rIns="0" bIns="0" rtlCol="0" anchor="ctr"/>
          <a:lstStyle/>
          <a:p>
            <a:pPr marL="0" indent="0" algn="ctr">
              <a:buNone/>
            </a:pPr>
            <a:r>
              <a:rPr lang="en-US" sz="1250" dirty="0">
                <a:solidFill>
                  <a:srgbClr val="7A8F86"/>
                </a:solidFill>
                <a:latin typeface="Malgun Gothic" pitchFamily="34" charset="0"/>
                <a:ea typeface="Malgun Gothic" pitchFamily="34" charset="-122"/>
                <a:cs typeface="Malgun Gothic" pitchFamily="34" charset="-120"/>
              </a:rPr>
              <a:t>사야만 쌓이는 적립금</a:t>
            </a:r>
            <a:endParaRPr lang="en-US" sz="1250" dirty="0"/>
          </a:p>
        </p:txBody>
      </p:sp>
      <p:sp>
        <p:nvSpPr>
          <p:cNvPr id="36" name="Text 31"/>
          <p:cNvSpPr txBox="1"/>
          <p:nvPr/>
        </p:nvSpPr>
        <p:spPr>
          <a:xfrm>
            <a:off x="6675120" y="4325112"/>
            <a:ext cx="502920" cy="960120"/>
          </a:xfrm>
          <a:prstGeom prst="rect">
            <a:avLst/>
          </a:prstGeom>
          <a:noFill/>
          <a:ln/>
        </p:spPr>
        <p:txBody>
          <a:bodyPr wrap="square" lIns="0" tIns="0" rIns="0" bIns="0" rtlCol="0" anchor="ctr"/>
          <a:lstStyle/>
          <a:p>
            <a:pPr marL="0" indent="0" algn="ctr">
              <a:buNone/>
            </a:pPr>
            <a:r>
              <a:rPr lang="en-US" sz="2000" b="1" dirty="0">
                <a:solidFill>
                  <a:srgbClr val="C85B35"/>
                </a:solidFill>
                <a:latin typeface="Malgun Gothic" pitchFamily="34" charset="0"/>
                <a:ea typeface="Malgun Gothic" pitchFamily="34" charset="-122"/>
                <a:cs typeface="Malgun Gothic" pitchFamily="34" charset="-120"/>
              </a:rPr>
              <a:t>→</a:t>
            </a:r>
            <a:endParaRPr lang="en-US" sz="2000" dirty="0"/>
          </a:p>
        </p:txBody>
      </p:sp>
      <p:sp>
        <p:nvSpPr>
          <p:cNvPr id="37" name="Shape 32"/>
          <p:cNvSpPr/>
          <p:nvPr/>
        </p:nvSpPr>
        <p:spPr>
          <a:xfrm>
            <a:off x="7223760" y="4325112"/>
            <a:ext cx="4361688" cy="960120"/>
          </a:xfrm>
          <a:prstGeom prst="roundRect">
            <a:avLst>
              <a:gd name="adj" fmla="val 11429"/>
            </a:avLst>
          </a:prstGeom>
          <a:solidFill>
            <a:srgbClr val="FFFFFF"/>
          </a:solidFill>
          <a:ln/>
          <a:effectLst>
            <a:outerShdw blurRad="101600" dist="25400" dir="5400000" algn="bl" rotWithShape="0">
              <a:srgbClr val="123F34">
                <a:alpha val="12000"/>
              </a:srgbClr>
            </a:outerShdw>
          </a:effectLst>
        </p:spPr>
      </p:sp>
      <p:sp>
        <p:nvSpPr>
          <p:cNvPr id="38" name="Text 33"/>
          <p:cNvSpPr txBox="1"/>
          <p:nvPr/>
        </p:nvSpPr>
        <p:spPr>
          <a:xfrm>
            <a:off x="7452360" y="4325112"/>
            <a:ext cx="4023360" cy="960120"/>
          </a:xfrm>
          <a:prstGeom prst="rect">
            <a:avLst/>
          </a:prstGeom>
          <a:noFill/>
          <a:ln/>
        </p:spPr>
        <p:txBody>
          <a:bodyPr wrap="square" lIns="0" tIns="0" rIns="0" bIns="0" rtlCol="0" anchor="ctr"/>
          <a:lstStyle/>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관심·출석만으로도 쌓이는 주말 배당</a:t>
            </a:r>
            <a:endParaRPr lang="en-US" sz="1250" dirty="0"/>
          </a:p>
          <a:p>
            <a:pPr marL="0" indent="0" algn="ctr">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 구매 전 참여까지 보상합니다</a:t>
            </a:r>
            <a:endParaRPr lang="en-US" sz="1250" dirty="0"/>
          </a:p>
        </p:txBody>
      </p:sp>
      <p:sp>
        <p:nvSpPr>
          <p:cNvPr id="39" name="Shape 34"/>
          <p:cNvSpPr/>
          <p:nvPr/>
        </p:nvSpPr>
        <p:spPr>
          <a:xfrm>
            <a:off x="612648" y="5486400"/>
            <a:ext cx="10972800" cy="658368"/>
          </a:xfrm>
          <a:prstGeom prst="roundRect">
            <a:avLst>
              <a:gd name="adj" fmla="val 16667"/>
            </a:avLst>
          </a:prstGeom>
          <a:solidFill>
            <a:srgbClr val="123F34"/>
          </a:solidFill>
          <a:ln/>
        </p:spPr>
      </p:sp>
      <p:sp>
        <p:nvSpPr>
          <p:cNvPr id="40" name="Text 35"/>
          <p:cNvSpPr txBox="1"/>
          <p:nvPr/>
        </p:nvSpPr>
        <p:spPr>
          <a:xfrm>
            <a:off x="886968" y="5486400"/>
            <a:ext cx="10424160" cy="658368"/>
          </a:xfrm>
          <a:prstGeom prst="rect">
            <a:avLst/>
          </a:prstGeom>
          <a:noFill/>
          <a:ln/>
        </p:spPr>
        <p:txBody>
          <a:bodyPr wrap="square" lIns="0" tIns="0" rIns="0" bIns="0" rtlCol="0" anchor="ctr"/>
          <a:lstStyle/>
          <a:p>
            <a:pPr marL="0" indent="0" algn="l">
              <a:buNone/>
            </a:pPr>
            <a:r>
              <a:rPr lang="en-US" sz="1350" b="1" dirty="0">
                <a:solidFill>
                  <a:srgbClr val="F6F0E6"/>
                </a:solidFill>
                <a:latin typeface="Malgun Gothic" pitchFamily="34" charset="0"/>
                <a:ea typeface="Malgun Gothic" pitchFamily="34" charset="-122"/>
                <a:cs typeface="Malgun Gothic" pitchFamily="34" charset="-120"/>
              </a:rPr>
              <a:t>주식(株式)이 오르면 주식(主食)으로, 떨어지면 달달한 위로로 </a:t>
            </a:r>
            <a:r>
              <a:rPr lang="en-US" sz="1350" b="1" dirty="0">
                <a:solidFill>
                  <a:srgbClr val="F0A583"/>
                </a:solidFill>
                <a:latin typeface="Malgun Gothic" pitchFamily="34" charset="0"/>
                <a:ea typeface="Malgun Gothic" pitchFamily="34" charset="-122"/>
                <a:cs typeface="Malgun Gothic" pitchFamily="34" charset="-120"/>
              </a:rPr>
              <a:t>— 금융 문법을 빌린 MAKJI만의 브랜드 경험</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기업 기대가치</a:t>
            </a:r>
            <a:endParaRPr lang="en-US" sz="1050" dirty="0"/>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13</a:t>
            </a:r>
            <a:endParaRPr lang="en-US" sz="1050" dirty="0"/>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기업에는 할인 이벤트가 아니라, 쌓이는 고객 데이터가 남습니다</a:t>
            </a:r>
            <a:endParaRPr lang="en-US" sz="2600" dirty="0"/>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기능 수가 아니라 어떤 데이터와 효과가 남는지로 판단할 수 있게 설계했습니다.</a:t>
            </a:r>
            <a:endParaRPr lang="en-US" sz="1350" dirty="0"/>
          </a:p>
        </p:txBody>
      </p:sp>
      <p:sp>
        <p:nvSpPr>
          <p:cNvPr id="7" name="Shape 5"/>
          <p:cNvSpPr/>
          <p:nvPr/>
        </p:nvSpPr>
        <p:spPr>
          <a:xfrm>
            <a:off x="612648" y="1783080"/>
            <a:ext cx="3474720" cy="2926080"/>
          </a:xfrm>
          <a:prstGeom prst="roundRect">
            <a:avLst>
              <a:gd name="adj" fmla="val 3750"/>
            </a:avLst>
          </a:prstGeom>
          <a:solidFill>
            <a:srgbClr val="FFFFFF"/>
          </a:solidFill>
          <a:ln/>
          <a:effectLst>
            <a:outerShdw blurRad="101600" dist="25400" dir="5400000" algn="bl" rotWithShape="0">
              <a:srgbClr val="123F34">
                <a:alpha val="12000"/>
              </a:srgbClr>
            </a:outerShdw>
          </a:effectLst>
        </p:spPr>
      </p:sp>
      <p:sp>
        <p:nvSpPr>
          <p:cNvPr id="8" name="Text 6"/>
          <p:cNvSpPr txBox="1"/>
          <p:nvPr/>
        </p:nvSpPr>
        <p:spPr>
          <a:xfrm>
            <a:off x="886968" y="2011680"/>
            <a:ext cx="2926080" cy="274320"/>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01  BREAD MARKET</a:t>
            </a:r>
            <a:endParaRPr lang="en-US" sz="1050" dirty="0"/>
          </a:p>
        </p:txBody>
      </p:sp>
      <p:sp>
        <p:nvSpPr>
          <p:cNvPr id="9" name="Text 7"/>
          <p:cNvSpPr txBox="1"/>
          <p:nvPr/>
        </p:nvSpPr>
        <p:spPr>
          <a:xfrm>
            <a:off x="886968" y="2313432"/>
            <a:ext cx="2926080" cy="41148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평일 유입 루틴 확보</a:t>
            </a:r>
            <a:endParaRPr lang="en-US" sz="1600" dirty="0"/>
          </a:p>
        </p:txBody>
      </p:sp>
      <p:sp>
        <p:nvSpPr>
          <p:cNvPr id="10" name="Text 8"/>
          <p:cNvSpPr txBox="1"/>
          <p:nvPr/>
        </p:nvSpPr>
        <p:spPr>
          <a:xfrm>
            <a:off x="886968" y="2807208"/>
            <a:ext cx="1828800" cy="228600"/>
          </a:xfrm>
          <a:prstGeom prst="rect">
            <a:avLst/>
          </a:prstGeom>
          <a:noFill/>
          <a:ln/>
        </p:spPr>
        <p:txBody>
          <a:bodyPr wrap="square" lIns="0" tIns="0" rIns="0" bIns="0" rtlCol="0" anchor="t"/>
          <a:lstStyle/>
          <a:p>
            <a:pPr marL="0" indent="0">
              <a:buNone/>
            </a:pPr>
            <a:r>
              <a:rPr lang="en-US" sz="950" b="1" dirty="0">
                <a:solidFill>
                  <a:srgbClr val="7A8F86"/>
                </a:solidFill>
                <a:latin typeface="Malgun Gothic" pitchFamily="34" charset="0"/>
                <a:ea typeface="Malgun Gothic" pitchFamily="34" charset="-122"/>
                <a:cs typeface="Malgun Gothic" pitchFamily="34" charset="-120"/>
              </a:rPr>
              <a:t>검증 지표</a:t>
            </a:r>
            <a:endParaRPr lang="en-US" sz="950" dirty="0"/>
          </a:p>
        </p:txBody>
      </p:sp>
      <p:sp>
        <p:nvSpPr>
          <p:cNvPr id="11" name="Shape 9"/>
          <p:cNvSpPr/>
          <p:nvPr/>
        </p:nvSpPr>
        <p:spPr>
          <a:xfrm>
            <a:off x="886968" y="3081528"/>
            <a:ext cx="2926080" cy="320040"/>
          </a:xfrm>
          <a:prstGeom prst="roundRect">
            <a:avLst>
              <a:gd name="adj" fmla="val 22857"/>
            </a:avLst>
          </a:prstGeom>
          <a:solidFill>
            <a:srgbClr val="DDEAE2"/>
          </a:solidFill>
          <a:ln/>
        </p:spPr>
      </p:sp>
      <p:sp>
        <p:nvSpPr>
          <p:cNvPr id="12" name="Text 10"/>
          <p:cNvSpPr txBox="1"/>
          <p:nvPr/>
        </p:nvSpPr>
        <p:spPr>
          <a:xfrm>
            <a:off x="1024128" y="3081528"/>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평일 거래일 방문수</a:t>
            </a:r>
            <a:endParaRPr lang="en-US" sz="1150" dirty="0"/>
          </a:p>
        </p:txBody>
      </p:sp>
      <p:sp>
        <p:nvSpPr>
          <p:cNvPr id="13" name="Shape 11"/>
          <p:cNvSpPr/>
          <p:nvPr/>
        </p:nvSpPr>
        <p:spPr>
          <a:xfrm>
            <a:off x="886968" y="3465576"/>
            <a:ext cx="2926080" cy="320040"/>
          </a:xfrm>
          <a:prstGeom prst="roundRect">
            <a:avLst>
              <a:gd name="adj" fmla="val 22857"/>
            </a:avLst>
          </a:prstGeom>
          <a:solidFill>
            <a:srgbClr val="DDEAE2"/>
          </a:solidFill>
          <a:ln/>
        </p:spPr>
      </p:sp>
      <p:sp>
        <p:nvSpPr>
          <p:cNvPr id="14" name="Text 12"/>
          <p:cNvSpPr txBox="1"/>
          <p:nvPr/>
        </p:nvSpPr>
        <p:spPr>
          <a:xfrm>
            <a:off x="1024128" y="3465576"/>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상품 클릭률</a:t>
            </a:r>
            <a:endParaRPr lang="en-US" sz="1150" dirty="0"/>
          </a:p>
        </p:txBody>
      </p:sp>
      <p:sp>
        <p:nvSpPr>
          <p:cNvPr id="15" name="Shape 13"/>
          <p:cNvSpPr/>
          <p:nvPr/>
        </p:nvSpPr>
        <p:spPr>
          <a:xfrm>
            <a:off x="886968" y="3849624"/>
            <a:ext cx="2926080" cy="320040"/>
          </a:xfrm>
          <a:prstGeom prst="roundRect">
            <a:avLst>
              <a:gd name="adj" fmla="val 22857"/>
            </a:avLst>
          </a:prstGeom>
          <a:solidFill>
            <a:srgbClr val="DDEAE2"/>
          </a:solidFill>
          <a:ln/>
        </p:spPr>
      </p:sp>
      <p:sp>
        <p:nvSpPr>
          <p:cNvPr id="16" name="Text 14"/>
          <p:cNvSpPr txBox="1"/>
          <p:nvPr/>
        </p:nvSpPr>
        <p:spPr>
          <a:xfrm>
            <a:off x="1024128" y="3849624"/>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구매전환율</a:t>
            </a:r>
            <a:endParaRPr lang="en-US" sz="1150" dirty="0"/>
          </a:p>
        </p:txBody>
      </p:sp>
      <p:sp>
        <p:nvSpPr>
          <p:cNvPr id="17" name="Shape 15"/>
          <p:cNvSpPr/>
          <p:nvPr/>
        </p:nvSpPr>
        <p:spPr>
          <a:xfrm>
            <a:off x="886968" y="4233672"/>
            <a:ext cx="2926080" cy="320040"/>
          </a:xfrm>
          <a:prstGeom prst="roundRect">
            <a:avLst>
              <a:gd name="adj" fmla="val 22857"/>
            </a:avLst>
          </a:prstGeom>
          <a:solidFill>
            <a:srgbClr val="DDEAE2"/>
          </a:solidFill>
          <a:ln/>
        </p:spPr>
      </p:sp>
      <p:sp>
        <p:nvSpPr>
          <p:cNvPr id="18" name="Text 16"/>
          <p:cNvSpPr txBox="1"/>
          <p:nvPr/>
        </p:nvSpPr>
        <p:spPr>
          <a:xfrm>
            <a:off x="1024128" y="4233672"/>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주문당 고유 SKU 수</a:t>
            </a:r>
            <a:endParaRPr lang="en-US" sz="1150" dirty="0"/>
          </a:p>
        </p:txBody>
      </p:sp>
      <p:sp>
        <p:nvSpPr>
          <p:cNvPr id="19" name="Shape 17"/>
          <p:cNvSpPr/>
          <p:nvPr/>
        </p:nvSpPr>
        <p:spPr>
          <a:xfrm>
            <a:off x="4361688" y="1783080"/>
            <a:ext cx="3474720" cy="2926080"/>
          </a:xfrm>
          <a:prstGeom prst="roundRect">
            <a:avLst>
              <a:gd name="adj" fmla="val 3750"/>
            </a:avLst>
          </a:prstGeom>
          <a:solidFill>
            <a:srgbClr val="FFFFFF"/>
          </a:solidFill>
          <a:ln/>
          <a:effectLst>
            <a:outerShdw blurRad="101600" dist="25400" dir="5400000" algn="bl" rotWithShape="0">
              <a:srgbClr val="123F34">
                <a:alpha val="12000"/>
              </a:srgbClr>
            </a:outerShdw>
          </a:effectLst>
        </p:spPr>
      </p:sp>
      <p:sp>
        <p:nvSpPr>
          <p:cNvPr id="20" name="Text 18"/>
          <p:cNvSpPr txBox="1"/>
          <p:nvPr/>
        </p:nvSpPr>
        <p:spPr>
          <a:xfrm>
            <a:off x="4636008" y="2011680"/>
            <a:ext cx="2926080" cy="274320"/>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02  PORTFOLIO</a:t>
            </a:r>
            <a:endParaRPr lang="en-US" sz="1050" dirty="0"/>
          </a:p>
        </p:txBody>
      </p:sp>
      <p:sp>
        <p:nvSpPr>
          <p:cNvPr id="21" name="Text 19"/>
          <p:cNvSpPr txBox="1"/>
          <p:nvPr/>
        </p:nvSpPr>
        <p:spPr>
          <a:xfrm>
            <a:off x="4636008" y="2313432"/>
            <a:ext cx="2926080" cy="41148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구매 전 관심 데이터 축적</a:t>
            </a:r>
            <a:endParaRPr lang="en-US" sz="1600" dirty="0"/>
          </a:p>
        </p:txBody>
      </p:sp>
      <p:sp>
        <p:nvSpPr>
          <p:cNvPr id="22" name="Text 20"/>
          <p:cNvSpPr txBox="1"/>
          <p:nvPr/>
        </p:nvSpPr>
        <p:spPr>
          <a:xfrm>
            <a:off x="4636008" y="2807208"/>
            <a:ext cx="1828800" cy="228600"/>
          </a:xfrm>
          <a:prstGeom prst="rect">
            <a:avLst/>
          </a:prstGeom>
          <a:noFill/>
          <a:ln/>
        </p:spPr>
        <p:txBody>
          <a:bodyPr wrap="square" lIns="0" tIns="0" rIns="0" bIns="0" rtlCol="0" anchor="t"/>
          <a:lstStyle/>
          <a:p>
            <a:pPr marL="0" indent="0">
              <a:buNone/>
            </a:pPr>
            <a:r>
              <a:rPr lang="en-US" sz="950" b="1" dirty="0">
                <a:solidFill>
                  <a:srgbClr val="7A8F86"/>
                </a:solidFill>
                <a:latin typeface="Malgun Gothic" pitchFamily="34" charset="0"/>
                <a:ea typeface="Malgun Gothic" pitchFamily="34" charset="-122"/>
                <a:cs typeface="Malgun Gothic" pitchFamily="34" charset="-120"/>
              </a:rPr>
              <a:t>검증 지표</a:t>
            </a:r>
            <a:endParaRPr lang="en-US" sz="950" dirty="0"/>
          </a:p>
        </p:txBody>
      </p:sp>
      <p:sp>
        <p:nvSpPr>
          <p:cNvPr id="23" name="Shape 21"/>
          <p:cNvSpPr/>
          <p:nvPr/>
        </p:nvSpPr>
        <p:spPr>
          <a:xfrm>
            <a:off x="4636008" y="3081528"/>
            <a:ext cx="2926080" cy="320040"/>
          </a:xfrm>
          <a:prstGeom prst="roundRect">
            <a:avLst>
              <a:gd name="adj" fmla="val 22857"/>
            </a:avLst>
          </a:prstGeom>
          <a:solidFill>
            <a:srgbClr val="DDEAE2"/>
          </a:solidFill>
          <a:ln/>
        </p:spPr>
      </p:sp>
      <p:sp>
        <p:nvSpPr>
          <p:cNvPr id="24" name="Text 22"/>
          <p:cNvSpPr txBox="1"/>
          <p:nvPr/>
        </p:nvSpPr>
        <p:spPr>
          <a:xfrm>
            <a:off x="4773168" y="3081528"/>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관심빵 등록률</a:t>
            </a:r>
            <a:endParaRPr lang="en-US" sz="1150" dirty="0"/>
          </a:p>
        </p:txBody>
      </p:sp>
      <p:sp>
        <p:nvSpPr>
          <p:cNvPr id="25" name="Shape 23"/>
          <p:cNvSpPr/>
          <p:nvPr/>
        </p:nvSpPr>
        <p:spPr>
          <a:xfrm>
            <a:off x="4636008" y="3465576"/>
            <a:ext cx="2926080" cy="320040"/>
          </a:xfrm>
          <a:prstGeom prst="roundRect">
            <a:avLst>
              <a:gd name="adj" fmla="val 22857"/>
            </a:avLst>
          </a:prstGeom>
          <a:solidFill>
            <a:srgbClr val="DDEAE2"/>
          </a:solidFill>
          <a:ln/>
        </p:spPr>
      </p:sp>
      <p:sp>
        <p:nvSpPr>
          <p:cNvPr id="26" name="Text 24"/>
          <p:cNvSpPr txBox="1"/>
          <p:nvPr/>
        </p:nvSpPr>
        <p:spPr>
          <a:xfrm>
            <a:off x="4773168" y="3465576"/>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알림 설정률</a:t>
            </a:r>
            <a:endParaRPr lang="en-US" sz="1150" dirty="0"/>
          </a:p>
        </p:txBody>
      </p:sp>
      <p:sp>
        <p:nvSpPr>
          <p:cNvPr id="27" name="Shape 25"/>
          <p:cNvSpPr/>
          <p:nvPr/>
        </p:nvSpPr>
        <p:spPr>
          <a:xfrm>
            <a:off x="4636008" y="3849624"/>
            <a:ext cx="2926080" cy="320040"/>
          </a:xfrm>
          <a:prstGeom prst="roundRect">
            <a:avLst>
              <a:gd name="adj" fmla="val 22857"/>
            </a:avLst>
          </a:prstGeom>
          <a:solidFill>
            <a:srgbClr val="DDEAE2"/>
          </a:solidFill>
          <a:ln/>
        </p:spPr>
      </p:sp>
      <p:sp>
        <p:nvSpPr>
          <p:cNvPr id="28" name="Text 26"/>
          <p:cNvSpPr txBox="1"/>
          <p:nvPr/>
        </p:nvSpPr>
        <p:spPr>
          <a:xfrm>
            <a:off x="4773168" y="3849624"/>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관심 → 구매 전환율</a:t>
            </a:r>
            <a:endParaRPr lang="en-US" sz="1150" dirty="0"/>
          </a:p>
        </p:txBody>
      </p:sp>
      <p:sp>
        <p:nvSpPr>
          <p:cNvPr id="29" name="Shape 27"/>
          <p:cNvSpPr/>
          <p:nvPr/>
        </p:nvSpPr>
        <p:spPr>
          <a:xfrm>
            <a:off x="4636008" y="4233672"/>
            <a:ext cx="2926080" cy="320040"/>
          </a:xfrm>
          <a:prstGeom prst="roundRect">
            <a:avLst>
              <a:gd name="adj" fmla="val 22857"/>
            </a:avLst>
          </a:prstGeom>
          <a:solidFill>
            <a:srgbClr val="DDEAE2"/>
          </a:solidFill>
          <a:ln/>
        </p:spPr>
      </p:sp>
      <p:sp>
        <p:nvSpPr>
          <p:cNvPr id="30" name="Text 28"/>
          <p:cNvSpPr txBox="1"/>
          <p:nvPr/>
        </p:nvSpPr>
        <p:spPr>
          <a:xfrm>
            <a:off x="4773168" y="4233672"/>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상품별 잠재수요</a:t>
            </a:r>
            <a:endParaRPr lang="en-US" sz="1150" dirty="0"/>
          </a:p>
        </p:txBody>
      </p:sp>
      <p:sp>
        <p:nvSpPr>
          <p:cNvPr id="31" name="Shape 29"/>
          <p:cNvSpPr/>
          <p:nvPr/>
        </p:nvSpPr>
        <p:spPr>
          <a:xfrm>
            <a:off x="8110728" y="1783080"/>
            <a:ext cx="3474720" cy="2926080"/>
          </a:xfrm>
          <a:prstGeom prst="roundRect">
            <a:avLst>
              <a:gd name="adj" fmla="val 3750"/>
            </a:avLst>
          </a:prstGeom>
          <a:solidFill>
            <a:srgbClr val="FFFFFF"/>
          </a:solidFill>
          <a:ln/>
          <a:effectLst>
            <a:outerShdw blurRad="101600" dist="25400" dir="5400000" algn="bl" rotWithShape="0">
              <a:srgbClr val="123F34">
                <a:alpha val="12000"/>
              </a:srgbClr>
            </a:outerShdw>
          </a:effectLst>
        </p:spPr>
      </p:sp>
      <p:sp>
        <p:nvSpPr>
          <p:cNvPr id="32" name="Text 30"/>
          <p:cNvSpPr txBox="1"/>
          <p:nvPr/>
        </p:nvSpPr>
        <p:spPr>
          <a:xfrm>
            <a:off x="8385048" y="2011680"/>
            <a:ext cx="2926080" cy="274320"/>
          </a:xfrm>
          <a:prstGeom prst="rect">
            <a:avLst/>
          </a:prstGeom>
          <a:noFill/>
          <a:ln/>
        </p:spPr>
        <p:txBody>
          <a:bodyPr wrap="square" lIns="0" tIns="0" rIns="0" bIns="0" rtlCol="0" anchor="t"/>
          <a:lstStyle/>
          <a:p>
            <a:pPr marL="0" indent="0">
              <a:buNone/>
            </a:pPr>
            <a:r>
              <a:rPr lang="en-US" sz="1050" b="1" kern="0" spc="100" dirty="0">
                <a:solidFill>
                  <a:srgbClr val="C85B35"/>
                </a:solidFill>
                <a:latin typeface="Malgun Gothic" pitchFamily="34" charset="0"/>
                <a:ea typeface="Malgun Gothic" pitchFamily="34" charset="-122"/>
                <a:cs typeface="Malgun Gothic" pitchFamily="34" charset="-120"/>
              </a:rPr>
              <a:t>03  WEEKEND DIVIDEND</a:t>
            </a:r>
            <a:endParaRPr lang="en-US" sz="1050" dirty="0"/>
          </a:p>
        </p:txBody>
      </p:sp>
      <p:sp>
        <p:nvSpPr>
          <p:cNvPr id="33" name="Text 31"/>
          <p:cNvSpPr txBox="1"/>
          <p:nvPr/>
        </p:nvSpPr>
        <p:spPr>
          <a:xfrm>
            <a:off x="8385048" y="2313432"/>
            <a:ext cx="2926080" cy="411480"/>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주말 공백 보완 · 휴장일 재방문</a:t>
            </a:r>
            <a:endParaRPr lang="en-US" sz="1600" dirty="0"/>
          </a:p>
        </p:txBody>
      </p:sp>
      <p:sp>
        <p:nvSpPr>
          <p:cNvPr id="34" name="Text 32"/>
          <p:cNvSpPr txBox="1"/>
          <p:nvPr/>
        </p:nvSpPr>
        <p:spPr>
          <a:xfrm>
            <a:off x="8385048" y="2807208"/>
            <a:ext cx="1828800" cy="228600"/>
          </a:xfrm>
          <a:prstGeom prst="rect">
            <a:avLst/>
          </a:prstGeom>
          <a:noFill/>
          <a:ln/>
        </p:spPr>
        <p:txBody>
          <a:bodyPr wrap="square" lIns="0" tIns="0" rIns="0" bIns="0" rtlCol="0" anchor="t"/>
          <a:lstStyle/>
          <a:p>
            <a:pPr marL="0" indent="0">
              <a:buNone/>
            </a:pPr>
            <a:r>
              <a:rPr lang="en-US" sz="950" b="1" dirty="0">
                <a:solidFill>
                  <a:srgbClr val="7A8F86"/>
                </a:solidFill>
                <a:latin typeface="Malgun Gothic" pitchFamily="34" charset="0"/>
                <a:ea typeface="Malgun Gothic" pitchFamily="34" charset="-122"/>
                <a:cs typeface="Malgun Gothic" pitchFamily="34" charset="-120"/>
              </a:rPr>
              <a:t>검증 지표</a:t>
            </a:r>
            <a:endParaRPr lang="en-US" sz="950" dirty="0"/>
          </a:p>
        </p:txBody>
      </p:sp>
      <p:sp>
        <p:nvSpPr>
          <p:cNvPr id="35" name="Shape 33"/>
          <p:cNvSpPr/>
          <p:nvPr/>
        </p:nvSpPr>
        <p:spPr>
          <a:xfrm>
            <a:off x="8385048" y="3081528"/>
            <a:ext cx="2926080" cy="320040"/>
          </a:xfrm>
          <a:prstGeom prst="roundRect">
            <a:avLst>
              <a:gd name="adj" fmla="val 22857"/>
            </a:avLst>
          </a:prstGeom>
          <a:solidFill>
            <a:srgbClr val="DDEAE2"/>
          </a:solidFill>
          <a:ln/>
        </p:spPr>
      </p:sp>
      <p:sp>
        <p:nvSpPr>
          <p:cNvPr id="36" name="Text 34"/>
          <p:cNvSpPr txBox="1"/>
          <p:nvPr/>
        </p:nvSpPr>
        <p:spPr>
          <a:xfrm>
            <a:off x="8522208" y="3081528"/>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휴장일 재방문율</a:t>
            </a:r>
            <a:endParaRPr lang="en-US" sz="1150" dirty="0"/>
          </a:p>
        </p:txBody>
      </p:sp>
      <p:sp>
        <p:nvSpPr>
          <p:cNvPr id="37" name="Shape 35"/>
          <p:cNvSpPr/>
          <p:nvPr/>
        </p:nvSpPr>
        <p:spPr>
          <a:xfrm>
            <a:off x="8385048" y="3465576"/>
            <a:ext cx="2926080" cy="320040"/>
          </a:xfrm>
          <a:prstGeom prst="roundRect">
            <a:avLst>
              <a:gd name="adj" fmla="val 22857"/>
            </a:avLst>
          </a:prstGeom>
          <a:solidFill>
            <a:srgbClr val="DDEAE2"/>
          </a:solidFill>
          <a:ln/>
        </p:spPr>
      </p:sp>
      <p:sp>
        <p:nvSpPr>
          <p:cNvPr id="38" name="Text 36"/>
          <p:cNvSpPr txBox="1"/>
          <p:nvPr/>
        </p:nvSpPr>
        <p:spPr>
          <a:xfrm>
            <a:off x="8522208" y="3465576"/>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배당 사용률</a:t>
            </a:r>
            <a:endParaRPr lang="en-US" sz="1150" dirty="0"/>
          </a:p>
        </p:txBody>
      </p:sp>
      <p:sp>
        <p:nvSpPr>
          <p:cNvPr id="39" name="Shape 37"/>
          <p:cNvSpPr/>
          <p:nvPr/>
        </p:nvSpPr>
        <p:spPr>
          <a:xfrm>
            <a:off x="8385048" y="3849624"/>
            <a:ext cx="2926080" cy="320040"/>
          </a:xfrm>
          <a:prstGeom prst="roundRect">
            <a:avLst>
              <a:gd name="adj" fmla="val 22857"/>
            </a:avLst>
          </a:prstGeom>
          <a:solidFill>
            <a:srgbClr val="DDEAE2"/>
          </a:solidFill>
          <a:ln/>
        </p:spPr>
      </p:sp>
      <p:sp>
        <p:nvSpPr>
          <p:cNvPr id="40" name="Text 38"/>
          <p:cNvSpPr txBox="1"/>
          <p:nvPr/>
        </p:nvSpPr>
        <p:spPr>
          <a:xfrm>
            <a:off x="8522208" y="3849624"/>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주말 주문 전환율</a:t>
            </a:r>
            <a:endParaRPr lang="en-US" sz="1150" dirty="0"/>
          </a:p>
        </p:txBody>
      </p:sp>
      <p:sp>
        <p:nvSpPr>
          <p:cNvPr id="41" name="Shape 39"/>
          <p:cNvSpPr/>
          <p:nvPr/>
        </p:nvSpPr>
        <p:spPr>
          <a:xfrm>
            <a:off x="8385048" y="4233672"/>
            <a:ext cx="2926080" cy="320040"/>
          </a:xfrm>
          <a:prstGeom prst="roundRect">
            <a:avLst>
              <a:gd name="adj" fmla="val 22857"/>
            </a:avLst>
          </a:prstGeom>
          <a:solidFill>
            <a:srgbClr val="DDEAE2"/>
          </a:solidFill>
          <a:ln/>
        </p:spPr>
      </p:sp>
      <p:sp>
        <p:nvSpPr>
          <p:cNvPr id="42" name="Text 40"/>
          <p:cNvSpPr txBox="1"/>
          <p:nvPr/>
        </p:nvSpPr>
        <p:spPr>
          <a:xfrm>
            <a:off x="8522208" y="4233672"/>
            <a:ext cx="2651760" cy="320040"/>
          </a:xfrm>
          <a:prstGeom prst="rect">
            <a:avLst/>
          </a:prstGeom>
          <a:noFill/>
          <a:ln/>
        </p:spPr>
        <p:txBody>
          <a:bodyPr wrap="square" lIns="0" tIns="0" rIns="0" bIns="0" rtlCol="0" anchor="ctr"/>
          <a:lstStyle/>
          <a:p>
            <a:pPr marL="0" indent="0">
              <a:buNone/>
            </a:pPr>
            <a:r>
              <a:rPr lang="en-US" sz="1150" dirty="0">
                <a:solidFill>
                  <a:srgbClr val="123F34"/>
                </a:solidFill>
                <a:latin typeface="Malgun Gothic" pitchFamily="34" charset="0"/>
                <a:ea typeface="Malgun Gothic" pitchFamily="34" charset="-122"/>
                <a:cs typeface="Malgun Gothic" pitchFamily="34" charset="-120"/>
              </a:rPr>
              <a:t>주간 배당 비용</a:t>
            </a:r>
            <a:endParaRPr lang="en-US" sz="1150" dirty="0"/>
          </a:p>
        </p:txBody>
      </p:sp>
      <p:sp>
        <p:nvSpPr>
          <p:cNvPr id="43" name="Shape 41"/>
          <p:cNvSpPr/>
          <p:nvPr/>
        </p:nvSpPr>
        <p:spPr>
          <a:xfrm>
            <a:off x="612648" y="4937760"/>
            <a:ext cx="7223760" cy="1188720"/>
          </a:xfrm>
          <a:prstGeom prst="roundRect">
            <a:avLst>
              <a:gd name="adj" fmla="val 9231"/>
            </a:avLst>
          </a:prstGeom>
          <a:solidFill>
            <a:srgbClr val="123F34"/>
          </a:solidFill>
          <a:ln/>
        </p:spPr>
      </p:sp>
      <p:sp>
        <p:nvSpPr>
          <p:cNvPr id="44" name="Text 42"/>
          <p:cNvSpPr txBox="1"/>
          <p:nvPr/>
        </p:nvSpPr>
        <p:spPr>
          <a:xfrm>
            <a:off x="886968" y="5047488"/>
            <a:ext cx="2743200" cy="256032"/>
          </a:xfrm>
          <a:prstGeom prst="rect">
            <a:avLst/>
          </a:prstGeom>
          <a:noFill/>
          <a:ln/>
        </p:spPr>
        <p:txBody>
          <a:bodyPr wrap="square" lIns="0" tIns="0" rIns="0" bIns="0" rtlCol="0" anchor="t"/>
          <a:lstStyle/>
          <a:p>
            <a:pPr marL="0" indent="0">
              <a:buNone/>
            </a:pPr>
            <a:r>
              <a:rPr lang="en-US" sz="1100" b="1" dirty="0">
                <a:solidFill>
                  <a:srgbClr val="F0A583"/>
                </a:solidFill>
                <a:latin typeface="Malgun Gothic" pitchFamily="34" charset="0"/>
                <a:ea typeface="Malgun Gothic" pitchFamily="34" charset="-122"/>
                <a:cs typeface="Malgun Gothic" pitchFamily="34" charset="-120"/>
              </a:rPr>
              <a:t>비용은 상한 안에서</a:t>
            </a:r>
            <a:endParaRPr lang="en-US" sz="1100" dirty="0"/>
          </a:p>
        </p:txBody>
      </p:sp>
      <p:sp>
        <p:nvSpPr>
          <p:cNvPr id="45" name="Text 43"/>
          <p:cNvSpPr txBox="1"/>
          <p:nvPr/>
        </p:nvSpPr>
        <p:spPr>
          <a:xfrm>
            <a:off x="886968" y="5303520"/>
            <a:ext cx="2194560" cy="457200"/>
          </a:xfrm>
          <a:prstGeom prst="rect">
            <a:avLst/>
          </a:prstGeom>
          <a:noFill/>
          <a:ln/>
        </p:spPr>
        <p:txBody>
          <a:bodyPr wrap="square" lIns="0" tIns="0" rIns="0" bIns="0" rtlCol="0" anchor="ctr"/>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≈13.5%</a:t>
            </a:r>
            <a:endParaRPr lang="en-US" sz="2200" dirty="0"/>
          </a:p>
        </p:txBody>
      </p:sp>
      <p:sp>
        <p:nvSpPr>
          <p:cNvPr id="46" name="Text 44"/>
          <p:cNvSpPr txBox="1"/>
          <p:nvPr/>
        </p:nvSpPr>
        <p:spPr>
          <a:xfrm>
            <a:off x="886968" y="5760720"/>
            <a:ext cx="2194560" cy="256032"/>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평균 기본 할인</a:t>
            </a:r>
            <a:endParaRPr lang="en-US" sz="1050" dirty="0"/>
          </a:p>
        </p:txBody>
      </p:sp>
      <p:sp>
        <p:nvSpPr>
          <p:cNvPr id="47" name="Text 45"/>
          <p:cNvSpPr txBox="1"/>
          <p:nvPr/>
        </p:nvSpPr>
        <p:spPr>
          <a:xfrm>
            <a:off x="3218688" y="5303520"/>
            <a:ext cx="2194560" cy="457200"/>
          </a:xfrm>
          <a:prstGeom prst="rect">
            <a:avLst/>
          </a:prstGeom>
          <a:noFill/>
          <a:ln/>
        </p:spPr>
        <p:txBody>
          <a:bodyPr wrap="square" lIns="0" tIns="0" rIns="0" bIns="0" rtlCol="0" anchor="ctr"/>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38%</a:t>
            </a:r>
            <a:endParaRPr lang="en-US" sz="2200" dirty="0"/>
          </a:p>
        </p:txBody>
      </p:sp>
      <p:sp>
        <p:nvSpPr>
          <p:cNvPr id="48" name="Text 46"/>
          <p:cNvSpPr txBox="1"/>
          <p:nvPr/>
        </p:nvSpPr>
        <p:spPr>
          <a:xfrm>
            <a:off x="3218688" y="5760720"/>
            <a:ext cx="2194560" cy="256032"/>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전체 할인 상한</a:t>
            </a:r>
            <a:endParaRPr lang="en-US" sz="1050" dirty="0"/>
          </a:p>
        </p:txBody>
      </p:sp>
      <p:sp>
        <p:nvSpPr>
          <p:cNvPr id="49" name="Text 47"/>
          <p:cNvSpPr txBox="1"/>
          <p:nvPr/>
        </p:nvSpPr>
        <p:spPr>
          <a:xfrm>
            <a:off x="5550408" y="5303520"/>
            <a:ext cx="2194560" cy="457200"/>
          </a:xfrm>
          <a:prstGeom prst="rect">
            <a:avLst/>
          </a:prstGeom>
          <a:noFill/>
          <a:ln/>
        </p:spPr>
        <p:txBody>
          <a:bodyPr wrap="square" lIns="0" tIns="0" rIns="0" bIns="0" rtlCol="0" anchor="ctr"/>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800P</a:t>
            </a:r>
            <a:endParaRPr lang="en-US" sz="2200" dirty="0"/>
          </a:p>
        </p:txBody>
      </p:sp>
      <p:sp>
        <p:nvSpPr>
          <p:cNvPr id="50" name="Text 48"/>
          <p:cNvSpPr txBox="1"/>
          <p:nvPr/>
        </p:nvSpPr>
        <p:spPr>
          <a:xfrm>
            <a:off x="5550408" y="5760720"/>
            <a:ext cx="2194560" cy="256032"/>
          </a:xfrm>
          <a:prstGeom prst="rect">
            <a:avLst/>
          </a:prstGeom>
          <a:noFill/>
          <a:ln/>
        </p:spPr>
        <p:txBody>
          <a:bodyPr wrap="square" lIns="0" tIns="0" rIns="0" bIns="0" rtlCol="0" anchor="t"/>
          <a:lstStyle/>
          <a:p>
            <a:pPr marL="0" indent="0">
              <a:buNone/>
            </a:pPr>
            <a:r>
              <a:rPr lang="en-US" sz="1050" dirty="0">
                <a:solidFill>
                  <a:srgbClr val="D5E2DC"/>
                </a:solidFill>
                <a:latin typeface="Malgun Gothic" pitchFamily="34" charset="0"/>
                <a:ea typeface="Malgun Gothic" pitchFamily="34" charset="-122"/>
                <a:cs typeface="Malgun Gothic" pitchFamily="34" charset="-120"/>
              </a:rPr>
              <a:t>1인 주간 배당 상한</a:t>
            </a:r>
            <a:endParaRPr lang="en-US" sz="1050" dirty="0"/>
          </a:p>
        </p:txBody>
      </p:sp>
      <p:sp>
        <p:nvSpPr>
          <p:cNvPr id="51" name="Shape 49"/>
          <p:cNvSpPr/>
          <p:nvPr/>
        </p:nvSpPr>
        <p:spPr>
          <a:xfrm>
            <a:off x="8046720" y="4937760"/>
            <a:ext cx="3538728" cy="1188720"/>
          </a:xfrm>
          <a:prstGeom prst="roundRect">
            <a:avLst>
              <a:gd name="adj" fmla="val 9231"/>
            </a:avLst>
          </a:prstGeom>
          <a:solidFill>
            <a:srgbClr val="DDEAE2"/>
          </a:solidFill>
          <a:ln/>
        </p:spPr>
      </p:sp>
      <p:sp>
        <p:nvSpPr>
          <p:cNvPr id="52" name="Text 50"/>
          <p:cNvSpPr txBox="1"/>
          <p:nvPr/>
        </p:nvSpPr>
        <p:spPr>
          <a:xfrm>
            <a:off x="8321040" y="5047488"/>
            <a:ext cx="2743200" cy="256032"/>
          </a:xfrm>
          <a:prstGeom prst="rect">
            <a:avLst/>
          </a:prstGeom>
          <a:noFill/>
          <a:ln/>
        </p:spPr>
        <p:txBody>
          <a:bodyPr wrap="square" lIns="0" tIns="0" rIns="0" bIns="0" rtlCol="0" anchor="t"/>
          <a:lstStyle/>
          <a:p>
            <a:pPr marL="0" indent="0">
              <a:buNone/>
            </a:pPr>
            <a:r>
              <a:rPr lang="en-US" sz="1100" b="1" dirty="0">
                <a:solidFill>
                  <a:srgbClr val="C85B35"/>
                </a:solidFill>
                <a:latin typeface="Malgun Gothic" pitchFamily="34" charset="0"/>
                <a:ea typeface="Malgun Gothic" pitchFamily="34" charset="-122"/>
                <a:cs typeface="Malgun Gothic" pitchFamily="34" charset="-120"/>
              </a:rPr>
              <a:t>확장 기반</a:t>
            </a:r>
            <a:endParaRPr lang="en-US" sz="1100" dirty="0"/>
          </a:p>
        </p:txBody>
      </p:sp>
      <p:sp>
        <p:nvSpPr>
          <p:cNvPr id="53" name="Text 51"/>
          <p:cNvSpPr txBox="1"/>
          <p:nvPr/>
        </p:nvSpPr>
        <p:spPr>
          <a:xfrm>
            <a:off x="8321040" y="5349240"/>
            <a:ext cx="3200400" cy="640080"/>
          </a:xfrm>
          <a:prstGeom prst="rect">
            <a:avLst/>
          </a:prstGeom>
          <a:noFill/>
          <a:ln/>
        </p:spPr>
        <p:txBody>
          <a:bodyPr wrap="square" lIns="0" tIns="0" rIns="0" bIns="0" rtlCol="0" anchor="t"/>
          <a:lstStyle/>
          <a:p>
            <a:pPr marL="0" indent="0">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쌓인 데이터로 Bakery ETF ·</a:t>
            </a:r>
            <a:endParaRPr lang="en-US" sz="1250" dirty="0"/>
          </a:p>
          <a:p>
            <a:pPr marL="0" indent="0">
              <a:lnSpc>
                <a:spcPct val="115000"/>
              </a:lnSpc>
              <a:buNone/>
            </a:pPr>
            <a:r>
              <a:rPr lang="en-US" sz="1250" b="1" dirty="0">
                <a:solidFill>
                  <a:srgbClr val="123F34"/>
                </a:solidFill>
                <a:latin typeface="Malgun Gothic" pitchFamily="34" charset="0"/>
                <a:ea typeface="Malgun Gothic" pitchFamily="34" charset="-122"/>
                <a:cs typeface="Malgun Gothic" pitchFamily="34" charset="-120"/>
              </a:rPr>
              <a:t>FX Bakery까지 확장 가능</a:t>
            </a:r>
            <a:endParaRPr lang="en-US" sz="1250" dirty="0"/>
          </a:p>
        </p:txBody>
      </p:sp>
      <p:sp>
        <p:nvSpPr>
          <p:cNvPr id="54" name="Text 52"/>
          <p:cNvSpPr txBox="1"/>
          <p:nvPr/>
        </p:nvSpPr>
        <p:spPr>
          <a:xfrm>
            <a:off x="612648" y="6217920"/>
            <a:ext cx="10972800" cy="274320"/>
          </a:xfrm>
          <a:prstGeom prst="rect">
            <a:avLst/>
          </a:prstGeom>
          <a:noFill/>
          <a:ln/>
        </p:spPr>
        <p:txBody>
          <a:bodyPr wrap="square" lIns="0" tIns="0" rIns="0" bIns="0" rtlCol="0" anchor="ctr"/>
          <a:lstStyle/>
          <a:p>
            <a:pPr marL="0" indent="0">
              <a:buNone/>
            </a:pPr>
            <a:r>
              <a:rPr lang="en-US" sz="1050" dirty="0">
                <a:solidFill>
                  <a:srgbClr val="7A8F86"/>
                </a:solidFill>
                <a:latin typeface="Malgun Gothic" pitchFamily="34" charset="0"/>
                <a:ea typeface="Malgun Gothic" pitchFamily="34" charset="-122"/>
                <a:cs typeface="Malgun Gothic" pitchFamily="34" charset="-120"/>
              </a:rPr>
              <a:t>평균 기본 할인은 5구간별 발생 </a:t>
            </a:r>
            <a:r>
              <a:rPr lang="en-US" sz="1050" dirty="0" err="1">
                <a:solidFill>
                  <a:srgbClr val="7A8F86"/>
                </a:solidFill>
                <a:latin typeface="Malgun Gothic" pitchFamily="34" charset="0"/>
                <a:ea typeface="Malgun Gothic" pitchFamily="34" charset="-122"/>
                <a:cs typeface="Malgun Gothic" pitchFamily="34" charset="-120"/>
              </a:rPr>
              <a:t>빈도</a:t>
            </a:r>
            <a:r>
              <a:rPr lang="en-US" sz="1050" dirty="0">
                <a:solidFill>
                  <a:srgbClr val="7A8F86"/>
                </a:solidFill>
                <a:latin typeface="Malgun Gothic" pitchFamily="34" charset="0"/>
                <a:ea typeface="Malgun Gothic" pitchFamily="34" charset="-122"/>
                <a:cs typeface="Malgun Gothic" pitchFamily="34" charset="-120"/>
              </a:rPr>
              <a:t>(7p)로 가중한 값이며, 보정 전 기준입니다.</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200" normalizeH="0" baseline="0" noProof="0" dirty="0">
                <a:ln>
                  <a:noFill/>
                </a:ln>
                <a:solidFill>
                  <a:srgbClr val="7A8F86"/>
                </a:solidFill>
                <a:effectLst/>
                <a:uLnTx/>
                <a:uFillTx/>
                <a:latin typeface="Malgun Gothic" pitchFamily="34" charset="0"/>
                <a:ea typeface="Malgun Gothic" pitchFamily="34" charset="-122"/>
                <a:cs typeface="Malgun Gothic" pitchFamily="34" charset="-120"/>
              </a:rPr>
              <a:t>MAKJI  /  BREAD MARKET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매출 구조</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A8F86"/>
                </a:solidFill>
                <a:effectLst/>
                <a:uLnTx/>
                <a:uFillTx/>
                <a:latin typeface="Malgun Gothic" pitchFamily="34" charset="0"/>
                <a:ea typeface="Malgun Gothic" pitchFamily="34" charset="-122"/>
                <a:cs typeface="Malgun Gothic" pitchFamily="34" charset="-120"/>
              </a:rPr>
              <a:t>14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0" cap="none" spc="-5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고객이 더 자주 오고, 온 고객이 사게 만듭니다</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매출을 이루는 세 항목 중 두 개는 끌어올리고, 하나는 무너지지 않게 지킵니다.</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783080"/>
            <a:ext cx="10972800" cy="566928"/>
          </a:xfrm>
          <a:prstGeom prst="roundRect">
            <a:avLst>
              <a:gd name="adj" fmla="val 19355"/>
            </a:avLst>
          </a:prstGeom>
          <a:solidFill>
            <a:srgbClr val="DDEAE2"/>
          </a:solidFill>
          <a:ln/>
        </p:spPr>
      </p:sp>
      <p:sp>
        <p:nvSpPr>
          <p:cNvPr id="8" name="Text 6"/>
          <p:cNvSpPr txBox="1"/>
          <p:nvPr/>
        </p:nvSpPr>
        <p:spPr>
          <a:xfrm>
            <a:off x="612648" y="1783080"/>
            <a:ext cx="1097280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매출  =  </a:t>
            </a:r>
            <a:r>
              <a:rPr kumimoji="0" lang="en-US" sz="180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방문 수</a:t>
            </a:r>
            <a:r>
              <a:rPr kumimoji="0" lang="en-US" sz="180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  ×  </a:t>
            </a:r>
            <a:r>
              <a:rPr kumimoji="0" lang="en-US" sz="180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구매전환율</a:t>
            </a:r>
            <a:r>
              <a:rPr kumimoji="0" lang="en-US" sz="180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  ×  </a:t>
            </a:r>
            <a:r>
              <a:rPr kumimoji="0" lang="en-US" sz="180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객단가</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12648" y="2560320"/>
            <a:ext cx="3291840" cy="2606040"/>
          </a:xfrm>
          <a:prstGeom prst="roundRect">
            <a:avLst>
              <a:gd name="adj" fmla="val 4211"/>
            </a:avLst>
          </a:prstGeom>
          <a:solidFill>
            <a:srgbClr val="FFFFFF"/>
          </a:solidFill>
          <a:ln/>
          <a:effectLst>
            <a:outerShdw blurRad="101600" dist="25400" dir="5400000" algn="bl" rotWithShape="0">
              <a:srgbClr val="123F34">
                <a:alpha val="12000"/>
              </a:srgbClr>
            </a:outerShdw>
          </a:effectLst>
        </p:spPr>
      </p:sp>
      <p:sp>
        <p:nvSpPr>
          <p:cNvPr id="10" name="Shape 8"/>
          <p:cNvSpPr/>
          <p:nvPr/>
        </p:nvSpPr>
        <p:spPr>
          <a:xfrm>
            <a:off x="886968" y="2816352"/>
            <a:ext cx="502920" cy="502920"/>
          </a:xfrm>
          <a:prstGeom prst="ellipse">
            <a:avLst/>
          </a:prstGeom>
          <a:solidFill>
            <a:srgbClr val="123F34"/>
          </a:solidFill>
          <a:ln/>
        </p:spPr>
      </p:sp>
      <p:pic>
        <p:nvPicPr>
          <p:cNvPr id="11" name="Image 0" descr="preencoded.png"/>
          <p:cNvPicPr>
            <a:picLocks noChangeAspect="1"/>
          </p:cNvPicPr>
          <p:nvPr/>
        </p:nvPicPr>
        <p:blipFill>
          <a:blip r:embed="rId3"/>
          <a:stretch>
            <a:fillRect/>
          </a:stretch>
        </p:blipFill>
        <p:spPr>
          <a:xfrm>
            <a:off x="1022756" y="2952140"/>
            <a:ext cx="231343" cy="231343"/>
          </a:xfrm>
          <a:prstGeom prst="rect">
            <a:avLst/>
          </a:prstGeom>
        </p:spPr>
      </p:pic>
      <p:sp>
        <p:nvSpPr>
          <p:cNvPr id="12" name="Text 9"/>
          <p:cNvSpPr txBox="1"/>
          <p:nvPr/>
        </p:nvSpPr>
        <p:spPr>
          <a:xfrm>
            <a:off x="1527048" y="2816352"/>
            <a:ext cx="2240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5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빵시장 + 주말 배당</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86968" y="3456432"/>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방문 수 ↑</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886968" y="3950208"/>
            <a:ext cx="2743200" cy="64008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사람 수가 아니라 방문 횟수 —</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평일엔 매일, 주말엔 한 번 더</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886968" y="4645152"/>
            <a:ext cx="2743200" cy="347472"/>
          </a:xfrm>
          <a:prstGeom prst="roundRect">
            <a:avLst>
              <a:gd name="adj" fmla="val 26316"/>
            </a:avLst>
          </a:prstGeom>
          <a:solidFill>
            <a:srgbClr val="EFE6D6"/>
          </a:solidFill>
          <a:ln/>
        </p:spPr>
      </p:sp>
      <p:sp>
        <p:nvSpPr>
          <p:cNvPr id="16" name="Text 13"/>
          <p:cNvSpPr txBox="1"/>
          <p:nvPr/>
        </p:nvSpPr>
        <p:spPr>
          <a:xfrm>
            <a:off x="978408" y="4645152"/>
            <a:ext cx="25603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평일 빵장  ·  주말 배당 쿠폰</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3904488" y="2560320"/>
            <a:ext cx="548640" cy="2606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453128" y="2560320"/>
            <a:ext cx="3291840" cy="2606040"/>
          </a:xfrm>
          <a:prstGeom prst="roundRect">
            <a:avLst>
              <a:gd name="adj" fmla="val 4211"/>
            </a:avLst>
          </a:prstGeom>
          <a:solidFill>
            <a:srgbClr val="FFFFFF"/>
          </a:solidFill>
          <a:ln/>
          <a:effectLst>
            <a:outerShdw blurRad="101600" dist="25400" dir="5400000" algn="bl" rotWithShape="0">
              <a:srgbClr val="123F34">
                <a:alpha val="12000"/>
              </a:srgbClr>
            </a:outerShdw>
          </a:effectLst>
        </p:spPr>
      </p:sp>
      <p:sp>
        <p:nvSpPr>
          <p:cNvPr id="19" name="Shape 16"/>
          <p:cNvSpPr/>
          <p:nvPr/>
        </p:nvSpPr>
        <p:spPr>
          <a:xfrm>
            <a:off x="4727448" y="2816352"/>
            <a:ext cx="502920" cy="502920"/>
          </a:xfrm>
          <a:prstGeom prst="ellipse">
            <a:avLst/>
          </a:prstGeom>
          <a:solidFill>
            <a:srgbClr val="C85B35"/>
          </a:solidFill>
          <a:ln/>
        </p:spPr>
      </p:sp>
      <p:pic>
        <p:nvPicPr>
          <p:cNvPr id="20" name="Image 1" descr="preencoded.png"/>
          <p:cNvPicPr>
            <a:picLocks noChangeAspect="1"/>
          </p:cNvPicPr>
          <p:nvPr/>
        </p:nvPicPr>
        <p:blipFill>
          <a:blip r:embed="rId4"/>
          <a:stretch>
            <a:fillRect/>
          </a:stretch>
        </p:blipFill>
        <p:spPr>
          <a:xfrm>
            <a:off x="4863236" y="2952140"/>
            <a:ext cx="231343" cy="231343"/>
          </a:xfrm>
          <a:prstGeom prst="rect">
            <a:avLst/>
          </a:prstGeom>
        </p:spPr>
      </p:pic>
      <p:sp>
        <p:nvSpPr>
          <p:cNvPr id="21" name="Text 17"/>
          <p:cNvSpPr txBox="1"/>
          <p:nvPr/>
        </p:nvSpPr>
        <p:spPr>
          <a:xfrm>
            <a:off x="5367528" y="2816352"/>
            <a:ext cx="2240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5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빵 포트폴리오</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txBox="1"/>
          <p:nvPr/>
        </p:nvSpPr>
        <p:spPr>
          <a:xfrm>
            <a:off x="4727448" y="3456432"/>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구매전환율 ↑</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txBox="1"/>
          <p:nvPr/>
        </p:nvSpPr>
        <p:spPr>
          <a:xfrm>
            <a:off x="4727448" y="3950208"/>
            <a:ext cx="2743200" cy="64008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관심빵 할인 알림으로</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보기만 하던 고객을 구매로</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0"/>
          <p:cNvSpPr/>
          <p:nvPr/>
        </p:nvSpPr>
        <p:spPr>
          <a:xfrm>
            <a:off x="4727448" y="4645152"/>
            <a:ext cx="2743200" cy="347472"/>
          </a:xfrm>
          <a:prstGeom prst="roundRect">
            <a:avLst>
              <a:gd name="adj" fmla="val 26316"/>
            </a:avLst>
          </a:prstGeom>
          <a:solidFill>
            <a:srgbClr val="EFE6D6"/>
          </a:solidFill>
          <a:ln/>
        </p:spPr>
      </p:sp>
      <p:sp>
        <p:nvSpPr>
          <p:cNvPr id="25" name="Text 21"/>
          <p:cNvSpPr txBox="1"/>
          <p:nvPr/>
        </p:nvSpPr>
        <p:spPr>
          <a:xfrm>
            <a:off x="4818888" y="4645152"/>
            <a:ext cx="25603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관심 → 구매 전환</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txBox="1"/>
          <p:nvPr/>
        </p:nvSpPr>
        <p:spPr>
          <a:xfrm>
            <a:off x="7744968" y="2560320"/>
            <a:ext cx="548640" cy="2606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85B35"/>
                </a:solidFill>
                <a:effectLst/>
                <a:uLnTx/>
                <a:uFillTx/>
                <a:latin typeface="Malgun Gothic" pitchFamily="34" charset="0"/>
                <a:ea typeface="Malgun Gothic" pitchFamily="34" charset="-122"/>
                <a:cs typeface="Malgun Gothic" pitchFamily="34" charset="-120"/>
              </a:rPr>
              <a: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8293608" y="2560320"/>
            <a:ext cx="3291840" cy="2606040"/>
          </a:xfrm>
          <a:prstGeom prst="roundRect">
            <a:avLst>
              <a:gd name="adj" fmla="val 4211"/>
            </a:avLst>
          </a:prstGeom>
          <a:solidFill>
            <a:srgbClr val="F6F0E6"/>
          </a:solidFill>
          <a:ln w="19050">
            <a:solidFill>
              <a:srgbClr val="C9D8CF"/>
            </a:solidFill>
            <a:prstDash val="solid"/>
          </a:ln>
        </p:spPr>
      </p:sp>
      <p:sp>
        <p:nvSpPr>
          <p:cNvPr id="28" name="Shape 24"/>
          <p:cNvSpPr/>
          <p:nvPr/>
        </p:nvSpPr>
        <p:spPr>
          <a:xfrm>
            <a:off x="8567928" y="2816352"/>
            <a:ext cx="502920" cy="502920"/>
          </a:xfrm>
          <a:prstGeom prst="ellipse">
            <a:avLst/>
          </a:prstGeom>
          <a:solidFill>
            <a:srgbClr val="7A8F86"/>
          </a:solidFill>
          <a:ln/>
        </p:spPr>
      </p:sp>
      <p:pic>
        <p:nvPicPr>
          <p:cNvPr id="29" name="Image 2" descr="preencoded.png"/>
          <p:cNvPicPr>
            <a:picLocks noChangeAspect="1"/>
          </p:cNvPicPr>
          <p:nvPr/>
        </p:nvPicPr>
        <p:blipFill>
          <a:blip r:embed="rId5"/>
          <a:stretch>
            <a:fillRect/>
          </a:stretch>
        </p:blipFill>
        <p:spPr>
          <a:xfrm>
            <a:off x="8703716" y="2952140"/>
            <a:ext cx="231343" cy="231343"/>
          </a:xfrm>
          <a:prstGeom prst="rect">
            <a:avLst/>
          </a:prstGeom>
        </p:spPr>
      </p:pic>
      <p:sp>
        <p:nvSpPr>
          <p:cNvPr id="30" name="Text 25"/>
          <p:cNvSpPr txBox="1"/>
          <p:nvPr/>
        </p:nvSpPr>
        <p:spPr>
          <a:xfrm>
            <a:off x="9208008" y="2816352"/>
            <a:ext cx="2240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50" normalizeH="0" baseline="0" noProof="0" dirty="0">
                <a:ln>
                  <a:noFill/>
                </a:ln>
                <a:solidFill>
                  <a:srgbClr val="7A8F86"/>
                </a:solidFill>
                <a:effectLst/>
                <a:uLnTx/>
                <a:uFillTx/>
                <a:latin typeface="Malgun Gothic" pitchFamily="34" charset="0"/>
                <a:ea typeface="Malgun Gothic" pitchFamily="34" charset="-122"/>
                <a:cs typeface="Malgun Gothic" pitchFamily="34" charset="-120"/>
              </a:rPr>
              <a:t>비용 안전장치</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6"/>
          <p:cNvSpPr txBox="1"/>
          <p:nvPr/>
        </p:nvSpPr>
        <p:spPr>
          <a:xfrm>
            <a:off x="8567928" y="3456432"/>
            <a:ext cx="2743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err="1">
                <a:ln>
                  <a:noFill/>
                </a:ln>
                <a:solidFill>
                  <a:srgbClr val="123F34"/>
                </a:solidFill>
                <a:effectLst/>
                <a:uLnTx/>
                <a:uFillTx/>
                <a:latin typeface="Malgun Gothic" pitchFamily="34" charset="0"/>
                <a:ea typeface="Malgun Gothic" pitchFamily="34" charset="-122"/>
                <a:cs typeface="Malgun Gothic" pitchFamily="34" charset="-120"/>
              </a:rPr>
              <a:t>객단가</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7"/>
          <p:cNvSpPr txBox="1"/>
          <p:nvPr/>
        </p:nvSpPr>
        <p:spPr>
          <a:xfrm>
            <a:off x="8567928" y="3950208"/>
            <a:ext cx="2743200" cy="64008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할인이 객단가를 무너뜨리지 않게</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3D5A50"/>
                </a:solidFill>
                <a:effectLst/>
                <a:uLnTx/>
                <a:uFillTx/>
                <a:latin typeface="Malgun Gothic" pitchFamily="34" charset="0"/>
                <a:ea typeface="Malgun Gothic" pitchFamily="34" charset="-122"/>
                <a:cs typeface="Malgun Gothic" pitchFamily="34" charset="-120"/>
              </a:rPr>
              <a:t>상한과 정가 유지로 막습니다</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8"/>
          <p:cNvSpPr/>
          <p:nvPr/>
        </p:nvSpPr>
        <p:spPr>
          <a:xfrm>
            <a:off x="8567928" y="4645152"/>
            <a:ext cx="2743200" cy="347472"/>
          </a:xfrm>
          <a:prstGeom prst="roundRect">
            <a:avLst>
              <a:gd name="adj" fmla="val 26316"/>
            </a:avLst>
          </a:prstGeom>
          <a:solidFill>
            <a:srgbClr val="DDEAE2"/>
          </a:solidFill>
          <a:ln/>
        </p:spPr>
      </p:sp>
      <p:sp>
        <p:nvSpPr>
          <p:cNvPr id="34" name="Text 29"/>
          <p:cNvSpPr txBox="1"/>
          <p:nvPr/>
        </p:nvSpPr>
        <p:spPr>
          <a:xfrm>
            <a:off x="8659368" y="4645152"/>
            <a:ext cx="25603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23F34"/>
                </a:solidFill>
                <a:effectLst/>
                <a:uLnTx/>
                <a:uFillTx/>
                <a:latin typeface="Malgun Gothic" pitchFamily="34" charset="0"/>
                <a:ea typeface="Malgun Gothic" pitchFamily="34" charset="-122"/>
                <a:cs typeface="Malgun Gothic" pitchFamily="34" charset="-120"/>
              </a:rPr>
              <a:t>할인 상한 38% · 주말 정가 · 최소 1만 원</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0"/>
          <p:cNvSpPr/>
          <p:nvPr/>
        </p:nvSpPr>
        <p:spPr>
          <a:xfrm>
            <a:off x="612648" y="5394960"/>
            <a:ext cx="10972800" cy="658368"/>
          </a:xfrm>
          <a:prstGeom prst="roundRect">
            <a:avLst>
              <a:gd name="adj" fmla="val 16667"/>
            </a:avLst>
          </a:prstGeom>
          <a:solidFill>
            <a:srgbClr val="123F34"/>
          </a:solidFill>
          <a:ln/>
        </p:spPr>
      </p:sp>
      <p:sp>
        <p:nvSpPr>
          <p:cNvPr id="36" name="Text 31"/>
          <p:cNvSpPr txBox="1"/>
          <p:nvPr/>
        </p:nvSpPr>
        <p:spPr>
          <a:xfrm>
            <a:off x="886968" y="5394960"/>
            <a:ext cx="1042416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0A583"/>
                </a:solidFill>
                <a:effectLst/>
                <a:uLnTx/>
                <a:uFillTx/>
                <a:latin typeface="Malgun Gothic" pitchFamily="34" charset="0"/>
                <a:ea typeface="Malgun Gothic" pitchFamily="34" charset="-122"/>
                <a:cs typeface="Malgun Gothic" pitchFamily="34" charset="-120"/>
              </a:rPr>
              <a:t>검증 기준  </a:t>
            </a:r>
            <a:r>
              <a:rPr kumimoji="0" lang="en-US" sz="1400" b="1" i="0" u="none" strike="noStrike" kern="1200" cap="none" spc="0" normalizeH="0" baseline="0" noProof="0" dirty="0">
                <a:ln>
                  <a:noFill/>
                </a:ln>
                <a:solidFill>
                  <a:srgbClr val="F6F0E6"/>
                </a:solidFill>
                <a:effectLst/>
                <a:uLnTx/>
                <a:uFillTx/>
                <a:latin typeface="Malgun Gothic" pitchFamily="34" charset="0"/>
                <a:ea typeface="Malgun Gothic" pitchFamily="34" charset="-122"/>
                <a:cs typeface="Malgun Gothic" pitchFamily="34" charset="-120"/>
              </a:rPr>
              <a:t>매출 총액이 아니라, 할인·배당 비용을 뺀 고객 1인당 증분 공헌이익</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2"/>
          <p:cNvSpPr txBox="1"/>
          <p:nvPr/>
        </p:nvSpPr>
        <p:spPr>
          <a:xfrm>
            <a:off x="612648" y="621792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A8F86"/>
                </a:solidFill>
                <a:effectLst/>
                <a:uLnTx/>
                <a:uFillTx/>
                <a:latin typeface="Malgun Gothic" pitchFamily="34" charset="0"/>
                <a:ea typeface="Malgun Gothic" pitchFamily="34" charset="-122"/>
                <a:cs typeface="Malgun Gothic" pitchFamily="34" charset="-120"/>
              </a:rPr>
              <a:t>RFP의 세 요구(재방문 · 개인화 · 자발적 참여)와 실제 동작하는 MVP 요구는 모두 이 구조 안에 반영되어 있습니다.</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0E6"/>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7A8F86"/>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2926080" y="329184"/>
            <a:ext cx="1463040" cy="228600"/>
          </a:xfrm>
          <a:prstGeom prst="rect">
            <a:avLst/>
          </a:prstGeom>
          <a:noFill/>
          <a:ln/>
        </p:spPr>
        <p:txBody>
          <a:bodyPr wrap="square" lIns="0" tIns="0" rIns="0" bIns="0" rtlCol="0" anchor="t"/>
          <a:lstStyle/>
          <a:p>
            <a:pPr marL="0" indent="0">
              <a:buNone/>
            </a:pPr>
            <a:r>
              <a:rPr lang="en-US" sz="1050" b="1" dirty="0">
                <a:solidFill>
                  <a:srgbClr val="C85B35"/>
                </a:solidFill>
                <a:latin typeface="Malgun Gothic" pitchFamily="34" charset="0"/>
                <a:ea typeface="Malgun Gothic" pitchFamily="34" charset="-122"/>
                <a:cs typeface="Malgun Gothic" pitchFamily="34" charset="-120"/>
              </a:rPr>
              <a:t>로드맵</a:t>
            </a:r>
            <a:endParaRPr lang="en-US" sz="1050" dirty="0"/>
          </a:p>
        </p:txBody>
      </p:sp>
      <p:sp>
        <p:nvSpPr>
          <p:cNvPr id="4" name="Text 2"/>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7A8F86"/>
                </a:solidFill>
                <a:latin typeface="Malgun Gothic" pitchFamily="34" charset="0"/>
                <a:ea typeface="Malgun Gothic" pitchFamily="34" charset="-122"/>
                <a:cs typeface="Malgun Gothic" pitchFamily="34" charset="-120"/>
              </a:rPr>
              <a:t>15</a:t>
            </a:r>
            <a:endParaRPr lang="en-US" sz="1050" dirty="0"/>
          </a:p>
        </p:txBody>
      </p:sp>
      <p:sp>
        <p:nvSpPr>
          <p:cNvPr id="5" name="Text 3"/>
          <p:cNvSpPr txBox="1"/>
          <p:nvPr/>
        </p:nvSpPr>
        <p:spPr>
          <a:xfrm>
            <a:off x="612648" y="713232"/>
            <a:ext cx="10972800" cy="566928"/>
          </a:xfrm>
          <a:prstGeom prst="rect">
            <a:avLst/>
          </a:prstGeom>
          <a:noFill/>
          <a:ln/>
        </p:spPr>
        <p:txBody>
          <a:bodyPr wrap="square" lIns="0" tIns="0" rIns="0" bIns="0" rtlCol="0" anchor="ctr"/>
          <a:lstStyle/>
          <a:p>
            <a:pPr marL="0" indent="0">
              <a:buNone/>
            </a:pPr>
            <a:r>
              <a:rPr lang="en-US" sz="2600" b="1" kern="0" spc="-50" dirty="0">
                <a:solidFill>
                  <a:srgbClr val="123F34"/>
                </a:solidFill>
                <a:latin typeface="Malgun Gothic" pitchFamily="34" charset="0"/>
                <a:ea typeface="Malgun Gothic" pitchFamily="34" charset="-122"/>
                <a:cs typeface="Malgun Gothic" pitchFamily="34" charset="-120"/>
              </a:rPr>
              <a:t>빵시장부터 검증하고, 데이터가 쌓이는 만큼 고도화합니다</a:t>
            </a:r>
            <a:endParaRPr lang="en-US" sz="2600" dirty="0"/>
          </a:p>
        </p:txBody>
      </p:sp>
      <p:sp>
        <p:nvSpPr>
          <p:cNvPr id="6" name="Text 4"/>
          <p:cNvSpPr txBox="1"/>
          <p:nvPr/>
        </p:nvSpPr>
        <p:spPr>
          <a:xfrm>
            <a:off x="612648" y="1280160"/>
            <a:ext cx="10972800" cy="329184"/>
          </a:xfrm>
          <a:prstGeom prst="rect">
            <a:avLst/>
          </a:prstGeom>
          <a:noFill/>
          <a:ln/>
        </p:spPr>
        <p:txBody>
          <a:bodyPr wrap="square" lIns="0" tIns="0" rIns="0" bIns="0" rtlCol="0" anchor="ctr"/>
          <a:lstStyle/>
          <a:p>
            <a:pPr marL="0" indent="0">
              <a:buNone/>
            </a:pPr>
            <a:r>
              <a:rPr lang="en-US" sz="1350" dirty="0">
                <a:solidFill>
                  <a:srgbClr val="3D5A50"/>
                </a:solidFill>
                <a:latin typeface="Malgun Gothic" pitchFamily="34" charset="0"/>
                <a:ea typeface="Malgun Gothic" pitchFamily="34" charset="-122"/>
                <a:cs typeface="Malgun Gothic" pitchFamily="34" charset="-120"/>
              </a:rPr>
              <a:t>“실제로 되는 것”과 “설계해 둔 것”을 구분했습니다.</a:t>
            </a:r>
            <a:endParaRPr lang="en-US" sz="1350" dirty="0"/>
          </a:p>
        </p:txBody>
      </p:sp>
      <p:sp>
        <p:nvSpPr>
          <p:cNvPr id="7" name="Shape 5"/>
          <p:cNvSpPr/>
          <p:nvPr/>
        </p:nvSpPr>
        <p:spPr>
          <a:xfrm>
            <a:off x="612648" y="1783080"/>
            <a:ext cx="4023360" cy="3474720"/>
          </a:xfrm>
          <a:prstGeom prst="roundRect">
            <a:avLst>
              <a:gd name="adj" fmla="val 3158"/>
            </a:avLst>
          </a:prstGeom>
          <a:solidFill>
            <a:srgbClr val="123F34"/>
          </a:solidFill>
          <a:ln/>
        </p:spPr>
      </p:sp>
      <p:sp>
        <p:nvSpPr>
          <p:cNvPr id="8" name="Text 6"/>
          <p:cNvSpPr txBox="1"/>
          <p:nvPr/>
        </p:nvSpPr>
        <p:spPr>
          <a:xfrm>
            <a:off x="886968" y="2011680"/>
            <a:ext cx="1371600" cy="274320"/>
          </a:xfrm>
          <a:prstGeom prst="rect">
            <a:avLst/>
          </a:prstGeom>
          <a:noFill/>
          <a:ln/>
        </p:spPr>
        <p:txBody>
          <a:bodyPr wrap="square" lIns="0" tIns="0" rIns="0" bIns="0" rtlCol="0" anchor="t"/>
          <a:lstStyle/>
          <a:p>
            <a:pPr marL="0" indent="0">
              <a:buNone/>
            </a:pPr>
            <a:r>
              <a:rPr lang="en-US" sz="1100" b="1" kern="0" spc="100" dirty="0">
                <a:solidFill>
                  <a:srgbClr val="F0A583"/>
                </a:solidFill>
                <a:latin typeface="Malgun Gothic" pitchFamily="34" charset="0"/>
                <a:ea typeface="Malgun Gothic" pitchFamily="34" charset="-122"/>
                <a:cs typeface="Malgun Gothic" pitchFamily="34" charset="-120"/>
              </a:rPr>
              <a:t>STEP 1</a:t>
            </a:r>
            <a:endParaRPr lang="en-US" sz="1100" dirty="0"/>
          </a:p>
        </p:txBody>
      </p:sp>
      <p:sp>
        <p:nvSpPr>
          <p:cNvPr id="9" name="Text 7"/>
          <p:cNvSpPr txBox="1"/>
          <p:nvPr/>
        </p:nvSpPr>
        <p:spPr>
          <a:xfrm>
            <a:off x="886968" y="2286000"/>
            <a:ext cx="3566160" cy="384048"/>
          </a:xfrm>
          <a:prstGeom prst="rect">
            <a:avLst/>
          </a:prstGeom>
          <a:noFill/>
          <a:ln/>
        </p:spPr>
        <p:txBody>
          <a:bodyPr wrap="square" lIns="0" tIns="0" rIns="0" bIns="0" rtlCol="0" anchor="t"/>
          <a:lstStyle/>
          <a:p>
            <a:pPr marL="0" indent="0">
              <a:buNone/>
            </a:pPr>
            <a:r>
              <a:rPr lang="en-US" sz="1600" b="1" dirty="0">
                <a:solidFill>
                  <a:srgbClr val="F6F0E6"/>
                </a:solidFill>
                <a:latin typeface="Malgun Gothic" pitchFamily="34" charset="0"/>
                <a:ea typeface="Malgun Gothic" pitchFamily="34" charset="-122"/>
                <a:cs typeface="Malgun Gothic" pitchFamily="34" charset="-120"/>
              </a:rPr>
              <a:t>지금 구현 · 시연 가능</a:t>
            </a:r>
            <a:endParaRPr lang="en-US" sz="1600" dirty="0"/>
          </a:p>
        </p:txBody>
      </p:sp>
      <p:sp>
        <p:nvSpPr>
          <p:cNvPr id="10" name="Text 8"/>
          <p:cNvSpPr txBox="1"/>
          <p:nvPr/>
        </p:nvSpPr>
        <p:spPr>
          <a:xfrm>
            <a:off x="886968" y="2834640"/>
            <a:ext cx="356616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KOSPI 연동 Bread Market UI</a:t>
            </a:r>
            <a:endParaRPr lang="en-US" sz="1250" dirty="0"/>
          </a:p>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장 마감 후 할인 노출</a:t>
            </a:r>
            <a:endParaRPr lang="en-US" sz="1250" dirty="0"/>
          </a:p>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상승장·하락장 라인 구분</a:t>
            </a:r>
            <a:endParaRPr lang="en-US" sz="1250" dirty="0"/>
          </a:p>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기본 할인 엔진 (5구간)</a:t>
            </a:r>
            <a:endParaRPr lang="en-US" sz="1250" dirty="0"/>
          </a:p>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포트폴리오 화면 · 관심빵/알림 구조</a:t>
            </a:r>
            <a:endParaRPr lang="en-US" sz="1250" dirty="0"/>
          </a:p>
          <a:p>
            <a:pPr marL="177800" indent="-177800">
              <a:spcAft>
                <a:spcPts val="600"/>
              </a:spcAft>
              <a:buSzPct val="100000"/>
              <a:buChar char="•"/>
            </a:pPr>
            <a:r>
              <a:rPr lang="en-US" sz="1250" dirty="0">
                <a:solidFill>
                  <a:srgbClr val="D5E2DC"/>
                </a:solidFill>
                <a:latin typeface="Malgun Gothic" pitchFamily="34" charset="0"/>
                <a:ea typeface="Malgun Gothic" pitchFamily="34" charset="-122"/>
                <a:cs typeface="Malgun Gothic" pitchFamily="34" charset="-120"/>
              </a:rPr>
              <a:t>배당 화면 · 월간 누적 통장</a:t>
            </a:r>
            <a:endParaRPr lang="en-US" sz="1250" dirty="0"/>
          </a:p>
        </p:txBody>
      </p:sp>
      <p:sp>
        <p:nvSpPr>
          <p:cNvPr id="11" name="Shape 9"/>
          <p:cNvSpPr/>
          <p:nvPr/>
        </p:nvSpPr>
        <p:spPr>
          <a:xfrm>
            <a:off x="886968" y="4617720"/>
            <a:ext cx="3474720" cy="0"/>
          </a:xfrm>
          <a:prstGeom prst="line">
            <a:avLst/>
          </a:prstGeom>
          <a:noFill/>
          <a:ln w="12700">
            <a:solidFill>
              <a:srgbClr val="3D6B5E"/>
            </a:solidFill>
            <a:prstDash val="solid"/>
          </a:ln>
        </p:spPr>
      </p:sp>
      <p:sp>
        <p:nvSpPr>
          <p:cNvPr id="12" name="Text 10"/>
          <p:cNvSpPr txBox="1"/>
          <p:nvPr/>
        </p:nvSpPr>
        <p:spPr>
          <a:xfrm>
            <a:off x="886968" y="4709160"/>
            <a:ext cx="3566160" cy="365760"/>
          </a:xfrm>
          <a:prstGeom prst="rect">
            <a:avLst/>
          </a:prstGeom>
          <a:noFill/>
          <a:ln/>
        </p:spPr>
        <p:txBody>
          <a:bodyPr wrap="square" lIns="0" tIns="0" rIns="0" bIns="0" rtlCol="0" anchor="ctr"/>
          <a:lstStyle/>
          <a:p>
            <a:pPr marL="0" indent="0">
              <a:buNone/>
            </a:pPr>
            <a:r>
              <a:rPr lang="en-US" sz="1100" b="1" dirty="0">
                <a:solidFill>
                  <a:srgbClr val="F0A583"/>
                </a:solidFill>
                <a:latin typeface="Malgun Gothic" pitchFamily="34" charset="0"/>
                <a:ea typeface="Malgun Gothic" pitchFamily="34" charset="-122"/>
                <a:cs typeface="Malgun Gothic" pitchFamily="34" charset="-120"/>
              </a:rPr>
              <a:t>확인: 방문 · 구매 반응과 가격 정확성</a:t>
            </a:r>
            <a:endParaRPr lang="en-US" sz="1100" dirty="0"/>
          </a:p>
        </p:txBody>
      </p:sp>
      <p:sp>
        <p:nvSpPr>
          <p:cNvPr id="13" name="Text 11"/>
          <p:cNvSpPr txBox="1"/>
          <p:nvPr/>
        </p:nvSpPr>
        <p:spPr>
          <a:xfrm>
            <a:off x="4636008" y="1783080"/>
            <a:ext cx="274320" cy="3474720"/>
          </a:xfrm>
          <a:prstGeom prst="rect">
            <a:avLst/>
          </a:prstGeom>
          <a:noFill/>
          <a:ln/>
        </p:spPr>
        <p:txBody>
          <a:bodyPr wrap="square" lIns="0" tIns="0" rIns="0" bIns="0" rtlCol="0" anchor="ctr"/>
          <a:lstStyle/>
          <a:p>
            <a:pPr marL="0" indent="0" algn="ctr">
              <a:buNone/>
            </a:pPr>
            <a:r>
              <a:rPr lang="en-US" sz="1800" b="1" dirty="0">
                <a:solidFill>
                  <a:srgbClr val="C85B35"/>
                </a:solidFill>
                <a:latin typeface="Malgun Gothic" pitchFamily="34" charset="0"/>
                <a:ea typeface="Malgun Gothic" pitchFamily="34" charset="-122"/>
                <a:cs typeface="Malgun Gothic" pitchFamily="34" charset="-120"/>
              </a:rPr>
              <a:t>→</a:t>
            </a:r>
            <a:endParaRPr lang="en-US" sz="1800" dirty="0"/>
          </a:p>
        </p:txBody>
      </p:sp>
      <p:sp>
        <p:nvSpPr>
          <p:cNvPr id="14" name="Shape 12"/>
          <p:cNvSpPr/>
          <p:nvPr/>
        </p:nvSpPr>
        <p:spPr>
          <a:xfrm>
            <a:off x="4910328" y="1783080"/>
            <a:ext cx="3611880" cy="3474720"/>
          </a:xfrm>
          <a:prstGeom prst="roundRect">
            <a:avLst>
              <a:gd name="adj" fmla="val 3158"/>
            </a:avLst>
          </a:prstGeom>
          <a:solidFill>
            <a:srgbClr val="FFFFFF"/>
          </a:solidFill>
          <a:ln/>
          <a:effectLst>
            <a:outerShdw blurRad="101600" dist="25400" dir="5400000" algn="bl" rotWithShape="0">
              <a:srgbClr val="123F34">
                <a:alpha val="12000"/>
              </a:srgbClr>
            </a:outerShdw>
          </a:effectLst>
        </p:spPr>
      </p:sp>
      <p:sp>
        <p:nvSpPr>
          <p:cNvPr id="15" name="Text 13"/>
          <p:cNvSpPr txBox="1"/>
          <p:nvPr/>
        </p:nvSpPr>
        <p:spPr>
          <a:xfrm>
            <a:off x="5184648" y="2011680"/>
            <a:ext cx="1371600" cy="274320"/>
          </a:xfrm>
          <a:prstGeom prst="rect">
            <a:avLst/>
          </a:prstGeom>
          <a:noFill/>
          <a:ln/>
        </p:spPr>
        <p:txBody>
          <a:bodyPr wrap="square" lIns="0" tIns="0" rIns="0" bIns="0" rtlCol="0" anchor="t"/>
          <a:lstStyle/>
          <a:p>
            <a:pPr marL="0" indent="0">
              <a:buNone/>
            </a:pPr>
            <a:r>
              <a:rPr lang="en-US" sz="1100" b="1" kern="0" spc="100" dirty="0">
                <a:solidFill>
                  <a:srgbClr val="C85B35"/>
                </a:solidFill>
                <a:latin typeface="Malgun Gothic" pitchFamily="34" charset="0"/>
                <a:ea typeface="Malgun Gothic" pitchFamily="34" charset="-122"/>
                <a:cs typeface="Malgun Gothic" pitchFamily="34" charset="-120"/>
              </a:rPr>
              <a:t>STEP 2</a:t>
            </a:r>
            <a:endParaRPr lang="en-US" sz="1100" dirty="0"/>
          </a:p>
        </p:txBody>
      </p:sp>
      <p:sp>
        <p:nvSpPr>
          <p:cNvPr id="16" name="Text 14"/>
          <p:cNvSpPr txBox="1"/>
          <p:nvPr/>
        </p:nvSpPr>
        <p:spPr>
          <a:xfrm>
            <a:off x="5184648" y="2286000"/>
            <a:ext cx="3154680" cy="384048"/>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기업 데이터가 쌓이면</a:t>
            </a:r>
            <a:endParaRPr lang="en-US" sz="1600" dirty="0"/>
          </a:p>
        </p:txBody>
      </p:sp>
      <p:sp>
        <p:nvSpPr>
          <p:cNvPr id="17" name="Text 15"/>
          <p:cNvSpPr txBox="1"/>
          <p:nvPr/>
        </p:nvSpPr>
        <p:spPr>
          <a:xfrm>
            <a:off x="5184648" y="2834640"/>
            <a:ext cx="315468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SKU별 수요·재고 보정 운영 적용</a:t>
            </a:r>
            <a:endParaRPr lang="en-US" sz="1250" dirty="0"/>
          </a:p>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배당 쿠폰 자동 발급·회수·재적립</a:t>
            </a:r>
            <a:endParaRPr lang="en-US" sz="1250" dirty="0"/>
          </a:p>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포트폴리오 기반 추천·알림 자동화</a:t>
            </a:r>
            <a:endParaRPr lang="en-US" sz="1250" dirty="0"/>
          </a:p>
        </p:txBody>
      </p:sp>
      <p:sp>
        <p:nvSpPr>
          <p:cNvPr id="18" name="Shape 16"/>
          <p:cNvSpPr/>
          <p:nvPr/>
        </p:nvSpPr>
        <p:spPr>
          <a:xfrm>
            <a:off x="5184648" y="4617720"/>
            <a:ext cx="3063240" cy="0"/>
          </a:xfrm>
          <a:prstGeom prst="line">
            <a:avLst/>
          </a:prstGeom>
          <a:noFill/>
          <a:ln w="12700">
            <a:solidFill>
              <a:srgbClr val="C9D8CF"/>
            </a:solidFill>
            <a:prstDash val="solid"/>
          </a:ln>
        </p:spPr>
      </p:sp>
      <p:sp>
        <p:nvSpPr>
          <p:cNvPr id="19" name="Text 17"/>
          <p:cNvSpPr txBox="1"/>
          <p:nvPr/>
        </p:nvSpPr>
        <p:spPr>
          <a:xfrm>
            <a:off x="5184648" y="4709160"/>
            <a:ext cx="3154680" cy="365760"/>
          </a:xfrm>
          <a:prstGeom prst="rect">
            <a:avLst/>
          </a:prstGeom>
          <a:noFill/>
          <a:ln/>
        </p:spPr>
        <p:txBody>
          <a:bodyPr wrap="square" lIns="0" tIns="0" rIns="0" bIns="0" rtlCol="0" anchor="ctr"/>
          <a:lstStyle/>
          <a:p>
            <a:pPr marL="0" indent="0">
              <a:buNone/>
            </a:pPr>
            <a:r>
              <a:rPr lang="en-US" sz="1100" b="1" dirty="0">
                <a:solidFill>
                  <a:srgbClr val="C85B35"/>
                </a:solidFill>
                <a:latin typeface="Malgun Gothic" pitchFamily="34" charset="0"/>
                <a:ea typeface="Malgun Gothic" pitchFamily="34" charset="-122"/>
                <a:cs typeface="Malgun Gothic" pitchFamily="34" charset="-120"/>
              </a:rPr>
              <a:t>조건: 관심 표본 · SKU 원가 · 예산 승인</a:t>
            </a:r>
            <a:endParaRPr lang="en-US" sz="1100" dirty="0"/>
          </a:p>
        </p:txBody>
      </p:sp>
      <p:sp>
        <p:nvSpPr>
          <p:cNvPr id="20" name="Text 18"/>
          <p:cNvSpPr txBox="1"/>
          <p:nvPr/>
        </p:nvSpPr>
        <p:spPr>
          <a:xfrm>
            <a:off x="8522208" y="1783080"/>
            <a:ext cx="274320" cy="3474720"/>
          </a:xfrm>
          <a:prstGeom prst="rect">
            <a:avLst/>
          </a:prstGeom>
          <a:noFill/>
          <a:ln/>
        </p:spPr>
        <p:txBody>
          <a:bodyPr wrap="square" lIns="0" tIns="0" rIns="0" bIns="0" rtlCol="0" anchor="ctr"/>
          <a:lstStyle/>
          <a:p>
            <a:pPr marL="0" indent="0" algn="ctr">
              <a:buNone/>
            </a:pPr>
            <a:r>
              <a:rPr lang="en-US" sz="1800" b="1" dirty="0">
                <a:solidFill>
                  <a:srgbClr val="C85B35"/>
                </a:solidFill>
                <a:latin typeface="Malgun Gothic" pitchFamily="34" charset="0"/>
                <a:ea typeface="Malgun Gothic" pitchFamily="34" charset="-122"/>
                <a:cs typeface="Malgun Gothic" pitchFamily="34" charset="-120"/>
              </a:rPr>
              <a:t>→</a:t>
            </a:r>
            <a:endParaRPr lang="en-US" sz="1800" dirty="0"/>
          </a:p>
        </p:txBody>
      </p:sp>
      <p:sp>
        <p:nvSpPr>
          <p:cNvPr id="21" name="Shape 19"/>
          <p:cNvSpPr/>
          <p:nvPr/>
        </p:nvSpPr>
        <p:spPr>
          <a:xfrm>
            <a:off x="8796528" y="1783080"/>
            <a:ext cx="2788920" cy="3474720"/>
          </a:xfrm>
          <a:prstGeom prst="roundRect">
            <a:avLst>
              <a:gd name="adj" fmla="val 3934"/>
            </a:avLst>
          </a:prstGeom>
          <a:solidFill>
            <a:srgbClr val="F6F0E6"/>
          </a:solidFill>
          <a:ln w="19050">
            <a:solidFill>
              <a:srgbClr val="C9D8CF"/>
            </a:solidFill>
            <a:prstDash val="solid"/>
          </a:ln>
        </p:spPr>
      </p:sp>
      <p:sp>
        <p:nvSpPr>
          <p:cNvPr id="22" name="Text 20"/>
          <p:cNvSpPr txBox="1"/>
          <p:nvPr/>
        </p:nvSpPr>
        <p:spPr>
          <a:xfrm>
            <a:off x="9070848" y="2011680"/>
            <a:ext cx="1371600" cy="274320"/>
          </a:xfrm>
          <a:prstGeom prst="rect">
            <a:avLst/>
          </a:prstGeom>
          <a:noFill/>
          <a:ln/>
        </p:spPr>
        <p:txBody>
          <a:bodyPr wrap="square" lIns="0" tIns="0" rIns="0" bIns="0" rtlCol="0" anchor="t"/>
          <a:lstStyle/>
          <a:p>
            <a:pPr marL="0" indent="0">
              <a:buNone/>
            </a:pPr>
            <a:r>
              <a:rPr lang="en-US" sz="1100" b="1" kern="0" spc="100" dirty="0">
                <a:solidFill>
                  <a:srgbClr val="C85B35"/>
                </a:solidFill>
                <a:latin typeface="Malgun Gothic" pitchFamily="34" charset="0"/>
                <a:ea typeface="Malgun Gothic" pitchFamily="34" charset="-122"/>
                <a:cs typeface="Malgun Gothic" pitchFamily="34" charset="-120"/>
              </a:rPr>
              <a:t>STEP 3</a:t>
            </a:r>
            <a:endParaRPr lang="en-US" sz="1100" dirty="0"/>
          </a:p>
        </p:txBody>
      </p:sp>
      <p:sp>
        <p:nvSpPr>
          <p:cNvPr id="23" name="Text 21"/>
          <p:cNvSpPr txBox="1"/>
          <p:nvPr/>
        </p:nvSpPr>
        <p:spPr>
          <a:xfrm>
            <a:off x="9070848" y="2286000"/>
            <a:ext cx="2331720" cy="384048"/>
          </a:xfrm>
          <a:prstGeom prst="rect">
            <a:avLst/>
          </a:prstGeom>
          <a:noFill/>
          <a:ln/>
        </p:spPr>
        <p:txBody>
          <a:bodyPr wrap="square" lIns="0" tIns="0" rIns="0" bIns="0" rtlCol="0" anchor="t"/>
          <a:lstStyle/>
          <a:p>
            <a:pPr marL="0" indent="0">
              <a:buNone/>
            </a:pPr>
            <a:r>
              <a:rPr lang="en-US" sz="1600" b="1" dirty="0">
                <a:solidFill>
                  <a:srgbClr val="123F34"/>
                </a:solidFill>
                <a:latin typeface="Malgun Gothic" pitchFamily="34" charset="0"/>
                <a:ea typeface="Malgun Gothic" pitchFamily="34" charset="-122"/>
                <a:cs typeface="Malgun Gothic" pitchFamily="34" charset="-120"/>
              </a:rPr>
              <a:t>확장</a:t>
            </a:r>
            <a:endParaRPr lang="en-US" sz="1600" dirty="0"/>
          </a:p>
        </p:txBody>
      </p:sp>
      <p:sp>
        <p:nvSpPr>
          <p:cNvPr id="24" name="Text 22"/>
          <p:cNvSpPr txBox="1"/>
          <p:nvPr/>
        </p:nvSpPr>
        <p:spPr>
          <a:xfrm>
            <a:off x="9070848" y="2834640"/>
            <a:ext cx="2331720" cy="18288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Bakery ETF</a:t>
            </a:r>
            <a:endParaRPr lang="en-US" sz="1250" dirty="0"/>
          </a:p>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FX Bakery</a:t>
            </a:r>
            <a:endParaRPr lang="en-US" sz="1250" dirty="0"/>
          </a:p>
          <a:p>
            <a:pPr marL="177800" indent="-177800">
              <a:spcAft>
                <a:spcPts val="600"/>
              </a:spcAft>
              <a:buSzPct val="100000"/>
              <a:buChar char="•"/>
            </a:pPr>
            <a:r>
              <a:rPr lang="en-US" sz="1250" dirty="0">
                <a:solidFill>
                  <a:srgbClr val="3D5A50"/>
                </a:solidFill>
                <a:latin typeface="Malgun Gothic" pitchFamily="34" charset="0"/>
                <a:ea typeface="Malgun Gothic" pitchFamily="34" charset="-122"/>
                <a:cs typeface="Malgun Gothic" pitchFamily="34" charset="-120"/>
              </a:rPr>
              <a:t>확장 설계 문서화</a:t>
            </a:r>
            <a:endParaRPr lang="en-US" sz="1250" dirty="0"/>
          </a:p>
        </p:txBody>
      </p:sp>
      <p:sp>
        <p:nvSpPr>
          <p:cNvPr id="25" name="Shape 23"/>
          <p:cNvSpPr/>
          <p:nvPr/>
        </p:nvSpPr>
        <p:spPr>
          <a:xfrm>
            <a:off x="9070848" y="4617720"/>
            <a:ext cx="2240280" cy="0"/>
          </a:xfrm>
          <a:prstGeom prst="line">
            <a:avLst/>
          </a:prstGeom>
          <a:noFill/>
          <a:ln w="12700">
            <a:solidFill>
              <a:srgbClr val="C9D8CF"/>
            </a:solidFill>
            <a:prstDash val="solid"/>
          </a:ln>
        </p:spPr>
      </p:sp>
      <p:sp>
        <p:nvSpPr>
          <p:cNvPr id="26" name="Text 24"/>
          <p:cNvSpPr txBox="1"/>
          <p:nvPr/>
        </p:nvSpPr>
        <p:spPr>
          <a:xfrm>
            <a:off x="9070848" y="4709160"/>
            <a:ext cx="2331720" cy="365760"/>
          </a:xfrm>
          <a:prstGeom prst="rect">
            <a:avLst/>
          </a:prstGeom>
          <a:noFill/>
          <a:ln/>
        </p:spPr>
        <p:txBody>
          <a:bodyPr wrap="square" lIns="0" tIns="0" rIns="0" bIns="0" rtlCol="0" anchor="ctr"/>
          <a:lstStyle/>
          <a:p>
            <a:pPr marL="0" indent="0">
              <a:buNone/>
            </a:pPr>
            <a:r>
              <a:rPr lang="en-US" sz="1100" b="1" dirty="0">
                <a:solidFill>
                  <a:srgbClr val="C85B35"/>
                </a:solidFill>
                <a:latin typeface="Malgun Gothic" pitchFamily="34" charset="0"/>
                <a:ea typeface="Malgun Gothic" pitchFamily="34" charset="-122"/>
                <a:cs typeface="Malgun Gothic" pitchFamily="34" charset="-120"/>
              </a:rPr>
              <a:t>조건: 1·2단계 KPI 검증</a:t>
            </a:r>
            <a:endParaRPr lang="en-US" sz="1100" dirty="0"/>
          </a:p>
        </p:txBody>
      </p:sp>
      <p:sp>
        <p:nvSpPr>
          <p:cNvPr id="27" name="Shape 25"/>
          <p:cNvSpPr/>
          <p:nvPr/>
        </p:nvSpPr>
        <p:spPr>
          <a:xfrm>
            <a:off x="612648" y="5486400"/>
            <a:ext cx="10972800" cy="658368"/>
          </a:xfrm>
          <a:prstGeom prst="roundRect">
            <a:avLst>
              <a:gd name="adj" fmla="val 16667"/>
            </a:avLst>
          </a:prstGeom>
          <a:solidFill>
            <a:srgbClr val="123F34"/>
          </a:solidFill>
          <a:ln/>
        </p:spPr>
      </p:sp>
      <p:sp>
        <p:nvSpPr>
          <p:cNvPr id="28" name="Text 26"/>
          <p:cNvSpPr txBox="1"/>
          <p:nvPr/>
        </p:nvSpPr>
        <p:spPr>
          <a:xfrm>
            <a:off x="886968" y="5486400"/>
            <a:ext cx="10424160" cy="658368"/>
          </a:xfrm>
          <a:prstGeom prst="rect">
            <a:avLst/>
          </a:prstGeom>
          <a:noFill/>
          <a:ln/>
        </p:spPr>
        <p:txBody>
          <a:bodyPr wrap="square" lIns="0" tIns="0" rIns="0" bIns="0" rtlCol="0" anchor="ctr"/>
          <a:lstStyle/>
          <a:p>
            <a:pPr marL="0" indent="0" algn="l">
              <a:buNone/>
            </a:pPr>
            <a:r>
              <a:rPr lang="en-US" sz="1400" b="1" dirty="0">
                <a:solidFill>
                  <a:srgbClr val="F0A583"/>
                </a:solidFill>
                <a:latin typeface="Malgun Gothic" pitchFamily="34" charset="0"/>
                <a:ea typeface="Malgun Gothic" pitchFamily="34" charset="-122"/>
                <a:cs typeface="Malgun Gothic" pitchFamily="34" charset="-120"/>
              </a:rPr>
              <a:t>함께 정할 것  </a:t>
            </a:r>
            <a:r>
              <a:rPr lang="en-US" sz="1400" b="1" dirty="0">
                <a:solidFill>
                  <a:srgbClr val="F6F0E6"/>
                </a:solidFill>
                <a:latin typeface="Malgun Gothic" pitchFamily="34" charset="0"/>
                <a:ea typeface="Malgun Gothic" pitchFamily="34" charset="-122"/>
                <a:cs typeface="Malgun Gothic" pitchFamily="34" charset="-120"/>
              </a:rPr>
              <a:t>SKU별 마진 상한  ·  주간 배당 예산  ·  자사몰 가격·쿠폰 연동 권한</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F34"/>
        </a:solidFill>
        <a:effectLst/>
      </p:bgPr>
    </p:bg>
    <p:spTree>
      <p:nvGrpSpPr>
        <p:cNvPr id="1" name=""/>
        <p:cNvGrpSpPr/>
        <p:nvPr/>
      </p:nvGrpSpPr>
      <p:grpSpPr>
        <a:xfrm>
          <a:off x="0" y="0"/>
          <a:ext cx="0" cy="0"/>
          <a:chOff x="0" y="0"/>
          <a:chExt cx="0" cy="0"/>
        </a:xfrm>
      </p:grpSpPr>
      <p:sp>
        <p:nvSpPr>
          <p:cNvPr id="2" name="Text 0"/>
          <p:cNvSpPr txBox="1"/>
          <p:nvPr/>
        </p:nvSpPr>
        <p:spPr>
          <a:xfrm>
            <a:off x="612648" y="329184"/>
            <a:ext cx="2377440" cy="228600"/>
          </a:xfrm>
          <a:prstGeom prst="rect">
            <a:avLst/>
          </a:prstGeom>
          <a:noFill/>
          <a:ln/>
        </p:spPr>
        <p:txBody>
          <a:bodyPr wrap="square" lIns="0" tIns="0" rIns="0" bIns="0" rtlCol="0" anchor="t"/>
          <a:lstStyle/>
          <a:p>
            <a:pPr marL="0" indent="0">
              <a:buNone/>
            </a:pPr>
            <a:r>
              <a:rPr lang="en-US" sz="1000" kern="0" spc="200" dirty="0">
                <a:solidFill>
                  <a:srgbClr val="9DB5AB"/>
                </a:solidFill>
                <a:latin typeface="Malgun Gothic" pitchFamily="34" charset="0"/>
                <a:ea typeface="Malgun Gothic" pitchFamily="34" charset="-122"/>
                <a:cs typeface="Malgun Gothic" pitchFamily="34" charset="-120"/>
              </a:rPr>
              <a:t>MAKJI  /  BREAD MARKET</a:t>
            </a:r>
            <a:endParaRPr lang="en-US" sz="1000" dirty="0"/>
          </a:p>
        </p:txBody>
      </p:sp>
      <p:sp>
        <p:nvSpPr>
          <p:cNvPr id="3" name="Text 1"/>
          <p:cNvSpPr txBox="1"/>
          <p:nvPr/>
        </p:nvSpPr>
        <p:spPr>
          <a:xfrm>
            <a:off x="11036808" y="329184"/>
            <a:ext cx="548640" cy="228600"/>
          </a:xfrm>
          <a:prstGeom prst="rect">
            <a:avLst/>
          </a:prstGeom>
          <a:noFill/>
          <a:ln/>
        </p:spPr>
        <p:txBody>
          <a:bodyPr wrap="square" lIns="0" tIns="0" rIns="0" bIns="0" rtlCol="0" anchor="t"/>
          <a:lstStyle/>
          <a:p>
            <a:pPr marL="0" indent="0" algn="r">
              <a:buNone/>
            </a:pPr>
            <a:r>
              <a:rPr lang="en-US" sz="1050" b="1" dirty="0">
                <a:solidFill>
                  <a:srgbClr val="9DB5AB"/>
                </a:solidFill>
                <a:latin typeface="Malgun Gothic" pitchFamily="34" charset="0"/>
                <a:ea typeface="Malgun Gothic" pitchFamily="34" charset="-122"/>
                <a:cs typeface="Malgun Gothic" pitchFamily="34" charset="-120"/>
              </a:rPr>
              <a:t>16</a:t>
            </a:r>
            <a:endParaRPr lang="en-US" sz="1050" dirty="0"/>
          </a:p>
        </p:txBody>
      </p:sp>
      <p:sp>
        <p:nvSpPr>
          <p:cNvPr id="4" name="Text 2"/>
          <p:cNvSpPr txBox="1"/>
          <p:nvPr/>
        </p:nvSpPr>
        <p:spPr>
          <a:xfrm>
            <a:off x="612648" y="1188720"/>
            <a:ext cx="10972800" cy="1737360"/>
          </a:xfrm>
          <a:prstGeom prst="rect">
            <a:avLst/>
          </a:prstGeom>
          <a:noFill/>
          <a:ln/>
        </p:spPr>
        <p:txBody>
          <a:bodyPr wrap="square" lIns="0" tIns="0" rIns="0" bIns="0" rtlCol="0" anchor="ctr"/>
          <a:lstStyle/>
          <a:p>
            <a:pPr marL="0" indent="0">
              <a:lnSpc>
                <a:spcPct val="110000"/>
              </a:lnSpc>
              <a:buNone/>
            </a:pPr>
            <a:r>
              <a:rPr lang="en-US" sz="4400" b="1" kern="0" spc="-100" dirty="0">
                <a:solidFill>
                  <a:srgbClr val="F6F0E6"/>
                </a:solidFill>
                <a:latin typeface="Malgun Gothic" pitchFamily="34" charset="0"/>
                <a:ea typeface="Malgun Gothic" pitchFamily="34" charset="-122"/>
                <a:cs typeface="Malgun Gothic" pitchFamily="34" charset="-120"/>
              </a:rPr>
              <a:t>할인 이벤트가 아니라,</a:t>
            </a:r>
            <a:endParaRPr lang="en-US" sz="4400" dirty="0"/>
          </a:p>
          <a:p>
            <a:pPr marL="0" indent="0">
              <a:lnSpc>
                <a:spcPct val="110000"/>
              </a:lnSpc>
              <a:buNone/>
            </a:pPr>
            <a:r>
              <a:rPr lang="en-US" sz="4400" b="1" kern="0" spc="-100" dirty="0">
                <a:solidFill>
                  <a:srgbClr val="F6F0E6"/>
                </a:solidFill>
                <a:latin typeface="Malgun Gothic" pitchFamily="34" charset="0"/>
                <a:ea typeface="Malgun Gothic" pitchFamily="34" charset="-122"/>
                <a:cs typeface="Malgun Gothic" pitchFamily="34" charset="-120"/>
              </a:rPr>
              <a:t>자사몰의 </a:t>
            </a:r>
            <a:r>
              <a:rPr lang="en-US" sz="4400" b="1" kern="0" spc="-100" dirty="0">
                <a:solidFill>
                  <a:srgbClr val="E58A62"/>
                </a:solidFill>
                <a:latin typeface="Malgun Gothic" pitchFamily="34" charset="0"/>
                <a:ea typeface="Malgun Gothic" pitchFamily="34" charset="-122"/>
                <a:cs typeface="Malgun Gothic" pitchFamily="34" charset="-120"/>
              </a:rPr>
              <a:t>방문 루프</a:t>
            </a:r>
            <a:r>
              <a:rPr lang="en-US" sz="4400" b="1" kern="0" spc="-100" dirty="0">
                <a:solidFill>
                  <a:srgbClr val="F6F0E6"/>
                </a:solidFill>
                <a:latin typeface="Malgun Gothic" pitchFamily="34" charset="0"/>
                <a:ea typeface="Malgun Gothic" pitchFamily="34" charset="-122"/>
                <a:cs typeface="Malgun Gothic" pitchFamily="34" charset="-120"/>
              </a:rPr>
              <a:t>를 만듭니다</a:t>
            </a:r>
            <a:endParaRPr lang="en-US" sz="4400" dirty="0"/>
          </a:p>
        </p:txBody>
      </p:sp>
      <p:sp>
        <p:nvSpPr>
          <p:cNvPr id="5" name="Text 3"/>
          <p:cNvSpPr txBox="1"/>
          <p:nvPr/>
        </p:nvSpPr>
        <p:spPr>
          <a:xfrm>
            <a:off x="612648" y="3017520"/>
            <a:ext cx="10972800" cy="411480"/>
          </a:xfrm>
          <a:prstGeom prst="rect">
            <a:avLst/>
          </a:prstGeom>
          <a:noFill/>
          <a:ln/>
        </p:spPr>
        <p:txBody>
          <a:bodyPr wrap="square" lIns="0" tIns="0" rIns="0" bIns="0" rtlCol="0" anchor="t"/>
          <a:lstStyle/>
          <a:p>
            <a:pPr marL="0" indent="0">
              <a:buNone/>
            </a:pPr>
            <a:r>
              <a:rPr lang="en-US" sz="1600" dirty="0">
                <a:solidFill>
                  <a:srgbClr val="D5E2DC"/>
                </a:solidFill>
                <a:latin typeface="Malgun Gothic" pitchFamily="34" charset="0"/>
                <a:ea typeface="Malgun Gothic" pitchFamily="34" charset="-122"/>
                <a:cs typeface="Malgun Gothic" pitchFamily="34" charset="-120"/>
              </a:rPr>
              <a:t>고객이 평일엔 매일 들어오고, 주말에도 다시 사는 루틴을 MAKJI 자사몰에 만듭니다.</a:t>
            </a:r>
            <a:endParaRPr lang="en-US" sz="1600" dirty="0"/>
          </a:p>
        </p:txBody>
      </p:sp>
      <p:sp>
        <p:nvSpPr>
          <p:cNvPr id="6" name="Shape 4"/>
          <p:cNvSpPr/>
          <p:nvPr/>
        </p:nvSpPr>
        <p:spPr>
          <a:xfrm>
            <a:off x="612648" y="3931920"/>
            <a:ext cx="10972800" cy="0"/>
          </a:xfrm>
          <a:prstGeom prst="line">
            <a:avLst/>
          </a:prstGeom>
          <a:noFill/>
          <a:ln w="12700">
            <a:solidFill>
              <a:srgbClr val="3D6B5E"/>
            </a:solidFill>
            <a:prstDash val="solid"/>
          </a:ln>
        </p:spPr>
      </p:sp>
      <p:sp>
        <p:nvSpPr>
          <p:cNvPr id="7" name="Text 5"/>
          <p:cNvSpPr txBox="1"/>
          <p:nvPr/>
        </p:nvSpPr>
        <p:spPr>
          <a:xfrm>
            <a:off x="612648" y="4160520"/>
            <a:ext cx="3383280" cy="457200"/>
          </a:xfrm>
          <a:prstGeom prst="rect">
            <a:avLst/>
          </a:prstGeom>
          <a:noFill/>
          <a:ln/>
        </p:spPr>
        <p:txBody>
          <a:bodyPr wrap="square" lIns="0" tIns="0" rIns="0" bIns="0" rtlCol="0" anchor="t"/>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오늘 살 이유</a:t>
            </a:r>
            <a:endParaRPr lang="en-US" sz="2200" dirty="0"/>
          </a:p>
        </p:txBody>
      </p:sp>
      <p:sp>
        <p:nvSpPr>
          <p:cNvPr id="8" name="Text 6"/>
          <p:cNvSpPr txBox="1"/>
          <p:nvPr/>
        </p:nvSpPr>
        <p:spPr>
          <a:xfrm>
            <a:off x="612648" y="4645152"/>
            <a:ext cx="3383280" cy="320040"/>
          </a:xfrm>
          <a:prstGeom prst="rect">
            <a:avLst/>
          </a:prstGeom>
          <a:noFill/>
          <a:ln/>
        </p:spPr>
        <p:txBody>
          <a:bodyPr wrap="square" lIns="0" tIns="0" rIns="0" bIns="0" rtlCol="0" anchor="t"/>
          <a:lstStyle/>
          <a:p>
            <a:pPr marL="0" indent="0">
              <a:buNone/>
            </a:pPr>
            <a:r>
              <a:rPr lang="en-US" sz="1200" b="1" kern="0" spc="100" dirty="0">
                <a:solidFill>
                  <a:srgbClr val="F0A583"/>
                </a:solidFill>
                <a:latin typeface="Malgun Gothic" pitchFamily="34" charset="0"/>
                <a:ea typeface="Malgun Gothic" pitchFamily="34" charset="-122"/>
                <a:cs typeface="Malgun Gothic" pitchFamily="34" charset="-120"/>
              </a:rPr>
              <a:t>KOSPI 연동 BREAD MARKET</a:t>
            </a:r>
            <a:endParaRPr lang="en-US" sz="1200" dirty="0"/>
          </a:p>
        </p:txBody>
      </p:sp>
      <p:sp>
        <p:nvSpPr>
          <p:cNvPr id="9" name="Shape 7"/>
          <p:cNvSpPr/>
          <p:nvPr/>
        </p:nvSpPr>
        <p:spPr>
          <a:xfrm>
            <a:off x="4087368" y="4160520"/>
            <a:ext cx="0" cy="914400"/>
          </a:xfrm>
          <a:prstGeom prst="line">
            <a:avLst/>
          </a:prstGeom>
          <a:noFill/>
          <a:ln w="12700">
            <a:solidFill>
              <a:srgbClr val="3D6B5E"/>
            </a:solidFill>
            <a:prstDash val="solid"/>
          </a:ln>
        </p:spPr>
      </p:sp>
      <p:sp>
        <p:nvSpPr>
          <p:cNvPr id="10" name="Text 8"/>
          <p:cNvSpPr txBox="1"/>
          <p:nvPr/>
        </p:nvSpPr>
        <p:spPr>
          <a:xfrm>
            <a:off x="4270248" y="4160520"/>
            <a:ext cx="3383280" cy="457200"/>
          </a:xfrm>
          <a:prstGeom prst="rect">
            <a:avLst/>
          </a:prstGeom>
          <a:noFill/>
          <a:ln/>
        </p:spPr>
        <p:txBody>
          <a:bodyPr wrap="square" lIns="0" tIns="0" rIns="0" bIns="0" rtlCol="0" anchor="t"/>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다시 찾을 이유</a:t>
            </a:r>
            <a:endParaRPr lang="en-US" sz="2200" dirty="0"/>
          </a:p>
        </p:txBody>
      </p:sp>
      <p:sp>
        <p:nvSpPr>
          <p:cNvPr id="11" name="Text 9"/>
          <p:cNvSpPr txBox="1"/>
          <p:nvPr/>
        </p:nvSpPr>
        <p:spPr>
          <a:xfrm>
            <a:off x="4270248" y="4645152"/>
            <a:ext cx="3383280" cy="320040"/>
          </a:xfrm>
          <a:prstGeom prst="rect">
            <a:avLst/>
          </a:prstGeom>
          <a:noFill/>
          <a:ln/>
        </p:spPr>
        <p:txBody>
          <a:bodyPr wrap="square" lIns="0" tIns="0" rIns="0" bIns="0" rtlCol="0" anchor="t"/>
          <a:lstStyle/>
          <a:p>
            <a:pPr marL="0" indent="0">
              <a:buNone/>
            </a:pPr>
            <a:r>
              <a:rPr lang="en-US" sz="1200" b="1" kern="0" spc="100" dirty="0">
                <a:solidFill>
                  <a:srgbClr val="F0A583"/>
                </a:solidFill>
                <a:latin typeface="Malgun Gothic" pitchFamily="34" charset="0"/>
                <a:ea typeface="Malgun Gothic" pitchFamily="34" charset="-122"/>
                <a:cs typeface="Malgun Gothic" pitchFamily="34" charset="-120"/>
              </a:rPr>
              <a:t>MY BREAD PORTFOLIO</a:t>
            </a:r>
            <a:endParaRPr lang="en-US" sz="1200" dirty="0"/>
          </a:p>
        </p:txBody>
      </p:sp>
      <p:sp>
        <p:nvSpPr>
          <p:cNvPr id="12" name="Shape 10"/>
          <p:cNvSpPr/>
          <p:nvPr/>
        </p:nvSpPr>
        <p:spPr>
          <a:xfrm>
            <a:off x="7744968" y="4160520"/>
            <a:ext cx="0" cy="914400"/>
          </a:xfrm>
          <a:prstGeom prst="line">
            <a:avLst/>
          </a:prstGeom>
          <a:noFill/>
          <a:ln w="12700">
            <a:solidFill>
              <a:srgbClr val="3D6B5E"/>
            </a:solidFill>
            <a:prstDash val="solid"/>
          </a:ln>
        </p:spPr>
      </p:sp>
      <p:sp>
        <p:nvSpPr>
          <p:cNvPr id="13" name="Text 11"/>
          <p:cNvSpPr txBox="1"/>
          <p:nvPr/>
        </p:nvSpPr>
        <p:spPr>
          <a:xfrm>
            <a:off x="7927848" y="4160520"/>
            <a:ext cx="3383280" cy="457200"/>
          </a:xfrm>
          <a:prstGeom prst="rect">
            <a:avLst/>
          </a:prstGeom>
          <a:noFill/>
          <a:ln/>
        </p:spPr>
        <p:txBody>
          <a:bodyPr wrap="square" lIns="0" tIns="0" rIns="0" bIns="0" rtlCol="0" anchor="t"/>
          <a:lstStyle/>
          <a:p>
            <a:pPr marL="0" indent="0">
              <a:buNone/>
            </a:pPr>
            <a:r>
              <a:rPr lang="en-US" sz="2200" b="1" dirty="0">
                <a:solidFill>
                  <a:srgbClr val="F6F0E6"/>
                </a:solidFill>
                <a:latin typeface="Malgun Gothic" pitchFamily="34" charset="0"/>
                <a:ea typeface="Malgun Gothic" pitchFamily="34" charset="-122"/>
                <a:cs typeface="Malgun Gothic" pitchFamily="34" charset="-120"/>
              </a:rPr>
              <a:t>주말에도 올 이유</a:t>
            </a:r>
            <a:endParaRPr lang="en-US" sz="2200" dirty="0"/>
          </a:p>
        </p:txBody>
      </p:sp>
      <p:sp>
        <p:nvSpPr>
          <p:cNvPr id="14" name="Text 12"/>
          <p:cNvSpPr txBox="1"/>
          <p:nvPr/>
        </p:nvSpPr>
        <p:spPr>
          <a:xfrm>
            <a:off x="7927848" y="4645152"/>
            <a:ext cx="3383280" cy="320040"/>
          </a:xfrm>
          <a:prstGeom prst="rect">
            <a:avLst/>
          </a:prstGeom>
          <a:noFill/>
          <a:ln/>
        </p:spPr>
        <p:txBody>
          <a:bodyPr wrap="square" lIns="0" tIns="0" rIns="0" bIns="0" rtlCol="0" anchor="t"/>
          <a:lstStyle/>
          <a:p>
            <a:pPr marL="0" indent="0">
              <a:buNone/>
            </a:pPr>
            <a:r>
              <a:rPr lang="en-US" sz="1200" b="1" kern="0" spc="100" dirty="0">
                <a:solidFill>
                  <a:srgbClr val="F0A583"/>
                </a:solidFill>
                <a:latin typeface="Malgun Gothic" pitchFamily="34" charset="0"/>
                <a:ea typeface="Malgun Gothic" pitchFamily="34" charset="-122"/>
                <a:cs typeface="Malgun Gothic" pitchFamily="34" charset="-120"/>
              </a:rPr>
              <a:t>WEEKEND DIVIDEND</a:t>
            </a:r>
            <a:endParaRPr lang="en-US" sz="1200" dirty="0"/>
          </a:p>
        </p:txBody>
      </p:sp>
      <p:sp>
        <p:nvSpPr>
          <p:cNvPr id="15" name="Shape 13"/>
          <p:cNvSpPr/>
          <p:nvPr/>
        </p:nvSpPr>
        <p:spPr>
          <a:xfrm>
            <a:off x="612648" y="5486400"/>
            <a:ext cx="10972800" cy="640080"/>
          </a:xfrm>
          <a:prstGeom prst="roundRect">
            <a:avLst>
              <a:gd name="adj" fmla="val 17143"/>
            </a:avLst>
          </a:prstGeom>
          <a:solidFill>
            <a:srgbClr val="1B4F42"/>
          </a:solidFill>
          <a:ln/>
        </p:spPr>
      </p:sp>
      <p:sp>
        <p:nvSpPr>
          <p:cNvPr id="16" name="Text 14"/>
          <p:cNvSpPr txBox="1"/>
          <p:nvPr/>
        </p:nvSpPr>
        <p:spPr>
          <a:xfrm>
            <a:off x="886968" y="5486400"/>
            <a:ext cx="10424160" cy="640080"/>
          </a:xfrm>
          <a:prstGeom prst="rect">
            <a:avLst/>
          </a:prstGeom>
          <a:noFill/>
          <a:ln/>
        </p:spPr>
        <p:txBody>
          <a:bodyPr wrap="square" lIns="0" tIns="0" rIns="0" bIns="0" rtlCol="0" anchor="ctr"/>
          <a:lstStyle/>
          <a:p>
            <a:pPr marL="0" indent="0">
              <a:buNone/>
            </a:pPr>
            <a:r>
              <a:rPr lang="en-US" sz="1400" b="1" dirty="0">
                <a:solidFill>
                  <a:srgbClr val="F6F0E6"/>
                </a:solidFill>
                <a:latin typeface="Malgun Gothic" pitchFamily="34" charset="0"/>
                <a:ea typeface="Malgun Gothic" pitchFamily="34" charset="-122"/>
                <a:cs typeface="Malgun Gothic" pitchFamily="34" charset="-120"/>
              </a:rPr>
              <a:t>“시장 데이터로 시작해, 고객이 다시 오고 다시 사는 자사몰 루프를 만들었습니다.”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3693</Words>
  <Application>Microsoft Office PowerPoint</Application>
  <PresentationFormat>와이드스크린</PresentationFormat>
  <Paragraphs>485</Paragraphs>
  <Slides>16</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16</vt:i4>
      </vt:variant>
    </vt:vector>
  </HeadingPairs>
  <TitlesOfParts>
    <vt:vector size="21" baseType="lpstr">
      <vt:lpstr>Malgun Gothic</vt: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MAKJI Bread Market 최종 발표</dc:title>
  <dc:subject>PptxGenJS Presentation</dc:subject>
  <dc:creator>PptxGenJS</dc:creator>
  <cp:lastModifiedBy>수빈 박</cp:lastModifiedBy>
  <cp:revision>14</cp:revision>
  <dcterms:created xsi:type="dcterms:W3CDTF">2026-09-29T00:52:55Z</dcterms:created>
  <dcterms:modified xsi:type="dcterms:W3CDTF">2026-09-29T05:07:57Z</dcterms:modified>
</cp:coreProperties>
</file>